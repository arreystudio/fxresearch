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7"/>
  </p:notesMasterIdLst>
  <p:handoutMasterIdLst>
    <p:handoutMasterId r:id="rId18"/>
  </p:handoutMasterIdLst>
  <p:sldIdLst>
    <p:sldId id="366" r:id="rId5"/>
    <p:sldId id="367" r:id="rId6"/>
    <p:sldId id="330" r:id="rId7"/>
    <p:sldId id="372" r:id="rId8"/>
    <p:sldId id="373" r:id="rId9"/>
    <p:sldId id="382" r:id="rId10"/>
    <p:sldId id="376" r:id="rId11"/>
    <p:sldId id="380" r:id="rId12"/>
    <p:sldId id="377" r:id="rId13"/>
    <p:sldId id="381" r:id="rId14"/>
    <p:sldId id="379" r:id="rId15"/>
    <p:sldId id="383" r:id="rId16"/>
  </p:sldIdLst>
  <p:sldSz cx="9906000" cy="6858000" type="A4"/>
  <p:notesSz cx="6807200"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120" userDrawn="1">
          <p15:clr>
            <a:srgbClr val="A4A3A4"/>
          </p15:clr>
        </p15:guide>
        <p15:guide id="3"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B9E8F1"/>
    <a:srgbClr val="B2C5FC"/>
    <a:srgbClr val="A3BAFB"/>
    <a:srgbClr val="DEEBFE"/>
    <a:srgbClr val="E8DDD8"/>
    <a:srgbClr val="D2E1FE"/>
    <a:srgbClr val="A7FFFB"/>
    <a:srgbClr val="FFD9D9"/>
    <a:srgbClr val="FFD9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43" autoAdjust="0"/>
    <p:restoredTop sz="96391" autoAdjust="0"/>
  </p:normalViewPr>
  <p:slideViewPr>
    <p:cSldViewPr showGuides="1">
      <p:cViewPr varScale="1">
        <p:scale>
          <a:sx n="115" d="100"/>
          <a:sy n="115" d="100"/>
        </p:scale>
        <p:origin x="3006" y="102"/>
      </p:cViewPr>
      <p:guideLst>
        <p:guide pos="312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2" y="0"/>
            <a:ext cx="2949575" cy="498475"/>
          </a:xfrm>
          <a:prstGeom prst="rect">
            <a:avLst/>
          </a:prstGeom>
        </p:spPr>
        <p:txBody>
          <a:bodyPr vert="horz" lIns="91424" tIns="45712" rIns="91424" bIns="45712" rtlCol="0"/>
          <a:lstStyle>
            <a:lvl1pPr algn="l">
              <a:defRPr sz="1200"/>
            </a:lvl1pPr>
          </a:lstStyle>
          <a:p>
            <a:endParaRPr lang="ko-KR" altLang="en-US"/>
          </a:p>
        </p:txBody>
      </p:sp>
      <p:sp>
        <p:nvSpPr>
          <p:cNvPr id="3" name="날짜 개체 틀 2"/>
          <p:cNvSpPr>
            <a:spLocks noGrp="1"/>
          </p:cNvSpPr>
          <p:nvPr>
            <p:ph type="dt" sz="quarter" idx="1"/>
          </p:nvPr>
        </p:nvSpPr>
        <p:spPr>
          <a:xfrm>
            <a:off x="3856040" y="0"/>
            <a:ext cx="2949575" cy="498475"/>
          </a:xfrm>
          <a:prstGeom prst="rect">
            <a:avLst/>
          </a:prstGeom>
        </p:spPr>
        <p:txBody>
          <a:bodyPr vert="horz" lIns="91424" tIns="45712" rIns="91424" bIns="45712" rtlCol="0"/>
          <a:lstStyle>
            <a:lvl1pPr algn="r">
              <a:defRPr sz="1200"/>
            </a:lvl1pPr>
          </a:lstStyle>
          <a:p>
            <a:fld id="{688D353F-EF79-4748-BB33-04C6DD86BF19}" type="datetimeFigureOut">
              <a:rPr lang="ko-KR" altLang="en-US" smtClean="0"/>
              <a:t>2025-08-17</a:t>
            </a:fld>
            <a:endParaRPr lang="ko-KR" altLang="en-US"/>
          </a:p>
        </p:txBody>
      </p:sp>
      <p:sp>
        <p:nvSpPr>
          <p:cNvPr id="4" name="바닥글 개체 틀 3"/>
          <p:cNvSpPr>
            <a:spLocks noGrp="1"/>
          </p:cNvSpPr>
          <p:nvPr>
            <p:ph type="ftr" sz="quarter" idx="2"/>
          </p:nvPr>
        </p:nvSpPr>
        <p:spPr>
          <a:xfrm>
            <a:off x="2" y="9440865"/>
            <a:ext cx="2949575" cy="498475"/>
          </a:xfrm>
          <a:prstGeom prst="rect">
            <a:avLst/>
          </a:prstGeom>
        </p:spPr>
        <p:txBody>
          <a:bodyPr vert="horz" lIns="91424" tIns="45712" rIns="91424" bIns="45712"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6040" y="9440865"/>
            <a:ext cx="2949575" cy="498475"/>
          </a:xfrm>
          <a:prstGeom prst="rect">
            <a:avLst/>
          </a:prstGeom>
        </p:spPr>
        <p:txBody>
          <a:bodyPr vert="horz" lIns="91424" tIns="45712" rIns="91424" bIns="45712" rtlCol="0" anchor="b"/>
          <a:lstStyle>
            <a:lvl1pPr algn="r">
              <a:defRPr sz="1200"/>
            </a:lvl1pPr>
          </a:lstStyle>
          <a:p>
            <a:fld id="{8FBF6F94-25B7-4FC8-AB72-6C9CD5879201}" type="slidenum">
              <a:rPr lang="ko-KR" altLang="en-US" smtClean="0"/>
              <a:t>‹#›</a:t>
            </a:fld>
            <a:endParaRPr lang="ko-KR" altLang="en-US"/>
          </a:p>
        </p:txBody>
      </p:sp>
    </p:spTree>
    <p:extLst>
      <p:ext uri="{BB962C8B-B14F-4D97-AF65-F5344CB8AC3E}">
        <p14:creationId xmlns:p14="http://schemas.microsoft.com/office/powerpoint/2010/main" val="396995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2"/>
            <a:ext cx="2949787" cy="496967"/>
          </a:xfrm>
          <a:prstGeom prst="rect">
            <a:avLst/>
          </a:prstGeom>
        </p:spPr>
        <p:txBody>
          <a:bodyPr vert="horz" lIns="91424" tIns="45712" rIns="91424" bIns="45712" rtlCol="0"/>
          <a:lstStyle>
            <a:lvl1pPr algn="l">
              <a:defRPr sz="1200"/>
            </a:lvl1pPr>
          </a:lstStyle>
          <a:p>
            <a:endParaRPr lang="ko-KR" altLang="en-US"/>
          </a:p>
        </p:txBody>
      </p:sp>
      <p:sp>
        <p:nvSpPr>
          <p:cNvPr id="3" name="날짜 개체 틀 2"/>
          <p:cNvSpPr>
            <a:spLocks noGrp="1"/>
          </p:cNvSpPr>
          <p:nvPr>
            <p:ph type="dt" idx="1"/>
          </p:nvPr>
        </p:nvSpPr>
        <p:spPr>
          <a:xfrm>
            <a:off x="3855838" y="2"/>
            <a:ext cx="2949787" cy="496967"/>
          </a:xfrm>
          <a:prstGeom prst="rect">
            <a:avLst/>
          </a:prstGeom>
        </p:spPr>
        <p:txBody>
          <a:bodyPr vert="horz" lIns="91424" tIns="45712" rIns="91424" bIns="45712" rtlCol="0"/>
          <a:lstStyle>
            <a:lvl1pPr algn="r">
              <a:defRPr sz="1200"/>
            </a:lvl1pPr>
          </a:lstStyle>
          <a:p>
            <a:fld id="{3090AFE4-8252-4C11-9C8A-AF761830C2A8}" type="datetimeFigureOut">
              <a:rPr lang="ko-KR" altLang="en-US" smtClean="0"/>
              <a:t>2025-08-17</a:t>
            </a:fld>
            <a:endParaRPr lang="ko-KR" altLang="en-US"/>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24" tIns="45712" rIns="91424" bIns="45712" rtlCol="0" anchor="ctr"/>
          <a:lstStyle/>
          <a:p>
            <a:endParaRPr lang="ko-KR" altLang="en-US"/>
          </a:p>
        </p:txBody>
      </p:sp>
      <p:sp>
        <p:nvSpPr>
          <p:cNvPr id="5" name="슬라이드 노트 개체 틀 4"/>
          <p:cNvSpPr>
            <a:spLocks noGrp="1"/>
          </p:cNvSpPr>
          <p:nvPr>
            <p:ph type="body" sz="quarter" idx="3"/>
          </p:nvPr>
        </p:nvSpPr>
        <p:spPr>
          <a:xfrm>
            <a:off x="680720" y="4721186"/>
            <a:ext cx="5445760" cy="4472702"/>
          </a:xfrm>
          <a:prstGeom prst="rect">
            <a:avLst/>
          </a:prstGeom>
        </p:spPr>
        <p:txBody>
          <a:bodyPr vert="horz" lIns="91424" tIns="45712" rIns="91424" bIns="45712"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8"/>
            <a:ext cx="2949787" cy="496967"/>
          </a:xfrm>
          <a:prstGeom prst="rect">
            <a:avLst/>
          </a:prstGeom>
        </p:spPr>
        <p:txBody>
          <a:bodyPr vert="horz" lIns="91424" tIns="45712" rIns="91424" bIns="45712"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5838" y="9440648"/>
            <a:ext cx="2949787" cy="496967"/>
          </a:xfrm>
          <a:prstGeom prst="rect">
            <a:avLst/>
          </a:prstGeom>
        </p:spPr>
        <p:txBody>
          <a:bodyPr vert="horz" lIns="91424" tIns="45712" rIns="91424" bIns="45712" rtlCol="0" anchor="b"/>
          <a:lstStyle>
            <a:lvl1pPr algn="r">
              <a:defRPr sz="1200"/>
            </a:lvl1pPr>
          </a:lstStyle>
          <a:p>
            <a:fld id="{6D68C937-777B-4A86-A509-248968D5352C}" type="slidenum">
              <a:rPr lang="ko-KR" altLang="en-US" smtClean="0"/>
              <a:t>‹#›</a:t>
            </a:fld>
            <a:endParaRPr lang="ko-KR" altLang="en-US"/>
          </a:p>
        </p:txBody>
      </p:sp>
    </p:spTree>
    <p:extLst>
      <p:ext uri="{BB962C8B-B14F-4D97-AF65-F5344CB8AC3E}">
        <p14:creationId xmlns:p14="http://schemas.microsoft.com/office/powerpoint/2010/main" val="378919028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228600" indent="-228600">
              <a:buAutoNum type="arabicParenR"/>
            </a:pPr>
            <a:r>
              <a:rPr lang="ko-KR" altLang="en-US" baseline="0" dirty="0"/>
              <a:t>확정이 아닐 때는 계획</a:t>
            </a:r>
            <a:r>
              <a:rPr lang="en-US" altLang="ko-KR" baseline="0" dirty="0"/>
              <a:t>”</a:t>
            </a:r>
            <a:r>
              <a:rPr lang="ko-KR" altLang="en-US" baseline="0" dirty="0"/>
              <a:t>안</a:t>
            </a:r>
            <a:r>
              <a:rPr lang="en-US" altLang="ko-KR" baseline="0" dirty="0"/>
              <a:t>“</a:t>
            </a:r>
          </a:p>
          <a:p>
            <a:pPr marL="228600" indent="-228600">
              <a:buAutoNum type="arabicParenR"/>
            </a:pPr>
            <a:r>
              <a:rPr lang="ko-KR" altLang="ko-KR" sz="1200" kern="1200" dirty="0">
                <a:solidFill>
                  <a:schemeClr val="tx1"/>
                </a:solidFill>
                <a:effectLst/>
                <a:latin typeface="+mn-lt"/>
                <a:ea typeface="+mn-ea"/>
                <a:cs typeface="+mn-cs"/>
              </a:rPr>
              <a:t>리더님께</a:t>
            </a:r>
            <a:r>
              <a:rPr lang="en-US" altLang="ko-KR" sz="1200" kern="1200" dirty="0">
                <a:solidFill>
                  <a:schemeClr val="tx1"/>
                </a:solidFill>
                <a:effectLst/>
                <a:latin typeface="+mn-lt"/>
                <a:ea typeface="+mn-ea"/>
                <a:cs typeface="+mn-cs"/>
              </a:rPr>
              <a:t>,</a:t>
            </a:r>
            <a:endParaRPr lang="ko-KR" altLang="ko-KR" sz="1200" kern="1200" dirty="0">
              <a:solidFill>
                <a:schemeClr val="tx1"/>
              </a:solidFill>
              <a:effectLst/>
              <a:latin typeface="+mn-lt"/>
              <a:ea typeface="+mn-ea"/>
              <a:cs typeface="+mn-cs"/>
            </a:endParaRPr>
          </a:p>
          <a:p>
            <a:r>
              <a:rPr lang="ko-KR" altLang="ko-KR" sz="1200" kern="1200" dirty="0">
                <a:solidFill>
                  <a:schemeClr val="tx1"/>
                </a:solidFill>
                <a:effectLst/>
                <a:latin typeface="+mn-lt"/>
                <a:ea typeface="+mn-ea"/>
                <a:cs typeface="+mn-cs"/>
              </a:rPr>
              <a:t>주요 의제는</a:t>
            </a:r>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a:t>
            </a:r>
            <a:r>
              <a:rPr lang="ko-KR" altLang="ko-KR" sz="1200" kern="1200" dirty="0" err="1">
                <a:solidFill>
                  <a:schemeClr val="tx1"/>
                </a:solidFill>
                <a:effectLst/>
                <a:latin typeface="+mn-lt"/>
                <a:ea typeface="+mn-ea"/>
                <a:cs typeface="+mn-cs"/>
              </a:rPr>
              <a:t>캡스톤</a:t>
            </a:r>
            <a:r>
              <a:rPr lang="ko-KR" altLang="ko-KR" sz="1200" kern="1200" dirty="0">
                <a:solidFill>
                  <a:schemeClr val="tx1"/>
                </a:solidFill>
                <a:effectLst/>
                <a:latin typeface="+mn-lt"/>
                <a:ea typeface="+mn-ea"/>
                <a:cs typeface="+mn-cs"/>
              </a:rPr>
              <a:t> 워크숍 추진계획</a:t>
            </a:r>
            <a:r>
              <a:rPr lang="en-US" altLang="ko-KR" sz="1200" kern="1200" dirty="0">
                <a:solidFill>
                  <a:schemeClr val="tx1"/>
                </a:solidFill>
                <a:effectLst/>
                <a:latin typeface="+mn-lt"/>
                <a:ea typeface="+mn-ea"/>
                <a:cs typeface="+mn-cs"/>
              </a:rPr>
              <a:t>(</a:t>
            </a:r>
            <a:r>
              <a:rPr lang="ko-KR" altLang="ko-KR" sz="1200" kern="1200" dirty="0">
                <a:solidFill>
                  <a:schemeClr val="tx1"/>
                </a:solidFill>
                <a:effectLst/>
                <a:latin typeface="+mn-lt"/>
                <a:ea typeface="+mn-ea"/>
                <a:cs typeface="+mn-cs"/>
              </a:rPr>
              <a:t>안</a:t>
            </a:r>
            <a:r>
              <a:rPr lang="en-US" altLang="ko-KR" sz="1200" kern="1200" dirty="0">
                <a:solidFill>
                  <a:schemeClr val="tx1"/>
                </a:solidFill>
                <a:effectLst/>
                <a:latin typeface="+mn-lt"/>
                <a:ea typeface="+mn-ea"/>
                <a:cs typeface="+mn-cs"/>
              </a:rPr>
              <a:t>) </a:t>
            </a:r>
            <a:r>
              <a:rPr lang="ko-KR" altLang="ko-KR" sz="1200" kern="1200" dirty="0">
                <a:solidFill>
                  <a:schemeClr val="tx1"/>
                </a:solidFill>
                <a:effectLst/>
                <a:latin typeface="+mn-lt"/>
                <a:ea typeface="+mn-ea"/>
                <a:cs typeface="+mn-cs"/>
              </a:rPr>
              <a:t>협의</a:t>
            </a:r>
          </a:p>
          <a:p>
            <a:r>
              <a:rPr lang="en-US" altLang="ko-KR" sz="1200" kern="1200" dirty="0">
                <a:solidFill>
                  <a:schemeClr val="tx1"/>
                </a:solidFill>
                <a:effectLst/>
                <a:latin typeface="+mn-lt"/>
                <a:ea typeface="+mn-ea"/>
                <a:cs typeface="+mn-cs"/>
              </a:rPr>
              <a:t>-POSRI </a:t>
            </a:r>
            <a:r>
              <a:rPr lang="ko-KR" altLang="ko-KR" sz="1200" kern="1200" dirty="0">
                <a:solidFill>
                  <a:schemeClr val="tx1"/>
                </a:solidFill>
                <a:effectLst/>
                <a:latin typeface="+mn-lt"/>
                <a:ea typeface="+mn-ea"/>
                <a:cs typeface="+mn-cs"/>
              </a:rPr>
              <a:t>여름학기 </a:t>
            </a:r>
            <a:r>
              <a:rPr lang="ko-KR" altLang="ko-KR" sz="1200" kern="1200" dirty="0" err="1">
                <a:solidFill>
                  <a:schemeClr val="tx1"/>
                </a:solidFill>
                <a:effectLst/>
                <a:latin typeface="+mn-lt"/>
                <a:ea typeface="+mn-ea"/>
                <a:cs typeface="+mn-cs"/>
              </a:rPr>
              <a:t>강의과목</a:t>
            </a:r>
            <a:r>
              <a:rPr lang="ko-KR" altLang="ko-KR" sz="1200" kern="1200" dirty="0">
                <a:solidFill>
                  <a:schemeClr val="tx1"/>
                </a:solidFill>
                <a:effectLst/>
                <a:latin typeface="+mn-lt"/>
                <a:ea typeface="+mn-ea"/>
                <a:cs typeface="+mn-cs"/>
              </a:rPr>
              <a:t> 개설 방안</a:t>
            </a:r>
          </a:p>
          <a:p>
            <a:r>
              <a:rPr lang="en-US" altLang="ko-KR" sz="1200" kern="1200" dirty="0">
                <a:solidFill>
                  <a:schemeClr val="tx1"/>
                </a:solidFill>
                <a:effectLst/>
                <a:latin typeface="+mn-lt"/>
                <a:ea typeface="+mn-ea"/>
                <a:cs typeface="+mn-cs"/>
              </a:rPr>
              <a:t>-2023</a:t>
            </a:r>
            <a:r>
              <a:rPr lang="ko-KR" altLang="ko-KR" sz="1200" kern="1200" dirty="0">
                <a:solidFill>
                  <a:schemeClr val="tx1"/>
                </a:solidFill>
                <a:effectLst/>
                <a:latin typeface="+mn-lt"/>
                <a:ea typeface="+mn-ea"/>
                <a:cs typeface="+mn-cs"/>
              </a:rPr>
              <a:t>년</a:t>
            </a:r>
            <a:r>
              <a:rPr lang="en-US" altLang="ko-KR" sz="1200" kern="1200" dirty="0">
                <a:solidFill>
                  <a:schemeClr val="tx1"/>
                </a:solidFill>
                <a:effectLst/>
                <a:latin typeface="+mn-lt"/>
                <a:ea typeface="+mn-ea"/>
                <a:cs typeface="+mn-cs"/>
              </a:rPr>
              <a:t> 1</a:t>
            </a:r>
            <a:r>
              <a:rPr lang="ko-KR" altLang="ko-KR" sz="1200" kern="1200" dirty="0">
                <a:solidFill>
                  <a:schemeClr val="tx1"/>
                </a:solidFill>
                <a:effectLst/>
                <a:latin typeface="+mn-lt"/>
                <a:ea typeface="+mn-ea"/>
                <a:cs typeface="+mn-cs"/>
              </a:rPr>
              <a:t>학기 등록금 납부 현황 공유</a:t>
            </a:r>
          </a:p>
          <a:p>
            <a:r>
              <a:rPr lang="en-US" altLang="ko-KR" sz="1200" kern="1200" dirty="0">
                <a:solidFill>
                  <a:schemeClr val="tx1"/>
                </a:solidFill>
                <a:effectLst/>
                <a:latin typeface="+mn-lt"/>
                <a:ea typeface="+mn-ea"/>
                <a:cs typeface="+mn-cs"/>
              </a:rPr>
              <a:t>-</a:t>
            </a:r>
            <a:r>
              <a:rPr lang="ko-KR" altLang="ko-KR" sz="1200" kern="1200" dirty="0">
                <a:solidFill>
                  <a:schemeClr val="tx1"/>
                </a:solidFill>
                <a:effectLst/>
                <a:latin typeface="+mn-lt"/>
                <a:ea typeface="+mn-ea"/>
                <a:cs typeface="+mn-cs"/>
              </a:rPr>
              <a:t>기타 철강경영전공 운영관련 사항</a:t>
            </a:r>
          </a:p>
          <a:p>
            <a:r>
              <a:rPr lang="ko-KR" altLang="ko-KR" sz="1200" kern="1200" dirty="0">
                <a:solidFill>
                  <a:schemeClr val="tx1"/>
                </a:solidFill>
                <a:effectLst/>
                <a:latin typeface="+mn-lt"/>
                <a:ea typeface="+mn-ea"/>
                <a:cs typeface="+mn-cs"/>
              </a:rPr>
              <a:t>이며</a:t>
            </a:r>
            <a:r>
              <a:rPr lang="en-US" altLang="ko-KR" sz="1200" kern="1200" dirty="0">
                <a:solidFill>
                  <a:schemeClr val="tx1"/>
                </a:solidFill>
                <a:effectLst/>
                <a:latin typeface="+mn-lt"/>
                <a:ea typeface="+mn-ea"/>
                <a:cs typeface="+mn-cs"/>
              </a:rPr>
              <a:t>,</a:t>
            </a:r>
            <a:endParaRPr lang="ko-KR"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r>
              <a:rPr lang="ko-KR" altLang="ko-KR" sz="1200" kern="1200" dirty="0">
                <a:solidFill>
                  <a:schemeClr val="tx1"/>
                </a:solidFill>
                <a:effectLst/>
                <a:latin typeface="+mn-lt"/>
                <a:ea typeface="+mn-ea"/>
                <a:cs typeface="+mn-cs"/>
              </a:rPr>
              <a:t>참석자는 장봉규 교수</a:t>
            </a:r>
            <a:r>
              <a:rPr lang="en-US" altLang="ko-KR" sz="1200" kern="1200" dirty="0">
                <a:solidFill>
                  <a:schemeClr val="tx1"/>
                </a:solidFill>
                <a:effectLst/>
                <a:latin typeface="+mn-lt"/>
                <a:ea typeface="+mn-ea"/>
                <a:cs typeface="+mn-cs"/>
              </a:rPr>
              <a:t>, </a:t>
            </a:r>
            <a:r>
              <a:rPr lang="ko-KR" altLang="ko-KR" sz="1200" kern="1200" dirty="0" err="1">
                <a:solidFill>
                  <a:schemeClr val="tx1"/>
                </a:solidFill>
                <a:effectLst/>
                <a:latin typeface="+mn-lt"/>
                <a:ea typeface="+mn-ea"/>
                <a:cs typeface="+mn-cs"/>
              </a:rPr>
              <a:t>정광민</a:t>
            </a:r>
            <a:r>
              <a:rPr lang="ko-KR" altLang="ko-KR" sz="1200" kern="1200" dirty="0">
                <a:solidFill>
                  <a:schemeClr val="tx1"/>
                </a:solidFill>
                <a:effectLst/>
                <a:latin typeface="+mn-lt"/>
                <a:ea typeface="+mn-ea"/>
                <a:cs typeface="+mn-cs"/>
              </a:rPr>
              <a:t> 교수</a:t>
            </a:r>
            <a:r>
              <a:rPr lang="en-US" altLang="ko-KR" sz="1200" kern="1200" dirty="0">
                <a:solidFill>
                  <a:schemeClr val="tx1"/>
                </a:solidFill>
                <a:effectLst/>
                <a:latin typeface="+mn-lt"/>
                <a:ea typeface="+mn-ea"/>
                <a:cs typeface="+mn-cs"/>
              </a:rPr>
              <a:t>, </a:t>
            </a:r>
            <a:r>
              <a:rPr lang="ko-KR" altLang="ko-KR" sz="1200" kern="1200" dirty="0">
                <a:solidFill>
                  <a:schemeClr val="tx1"/>
                </a:solidFill>
                <a:effectLst/>
                <a:latin typeface="+mn-lt"/>
                <a:ea typeface="+mn-ea"/>
                <a:cs typeface="+mn-cs"/>
              </a:rPr>
              <a:t>최동순 </a:t>
            </a:r>
            <a:r>
              <a:rPr lang="ko-KR" altLang="ko-KR" sz="1200" kern="1200" dirty="0" err="1">
                <a:solidFill>
                  <a:schemeClr val="tx1"/>
                </a:solidFill>
                <a:effectLst/>
                <a:latin typeface="+mn-lt"/>
                <a:ea typeface="+mn-ea"/>
                <a:cs typeface="+mn-cs"/>
              </a:rPr>
              <a:t>행정팀장</a:t>
            </a:r>
            <a:r>
              <a:rPr lang="en-US" altLang="ko-KR" sz="1200" kern="1200" dirty="0">
                <a:solidFill>
                  <a:schemeClr val="tx1"/>
                </a:solidFill>
                <a:effectLst/>
                <a:latin typeface="+mn-lt"/>
                <a:ea typeface="+mn-ea"/>
                <a:cs typeface="+mn-cs"/>
              </a:rPr>
              <a:t>, </a:t>
            </a:r>
            <a:r>
              <a:rPr lang="ko-KR" altLang="ko-KR" sz="1200" kern="1200" dirty="0">
                <a:solidFill>
                  <a:schemeClr val="tx1"/>
                </a:solidFill>
                <a:effectLst/>
                <a:latin typeface="+mn-lt"/>
                <a:ea typeface="+mn-ea"/>
                <a:cs typeface="+mn-cs"/>
              </a:rPr>
              <a:t>오지현</a:t>
            </a:r>
            <a:r>
              <a:rPr lang="en-US" altLang="ko-KR" sz="1200" kern="1200" dirty="0">
                <a:solidFill>
                  <a:schemeClr val="tx1"/>
                </a:solidFill>
                <a:effectLst/>
                <a:latin typeface="+mn-lt"/>
                <a:ea typeface="+mn-ea"/>
                <a:cs typeface="+mn-cs"/>
              </a:rPr>
              <a:t>, </a:t>
            </a:r>
            <a:r>
              <a:rPr lang="ko-KR" altLang="ko-KR" sz="1200" kern="1200" dirty="0">
                <a:solidFill>
                  <a:schemeClr val="tx1"/>
                </a:solidFill>
                <a:effectLst/>
                <a:latin typeface="+mn-lt"/>
                <a:ea typeface="+mn-ea"/>
                <a:cs typeface="+mn-cs"/>
              </a:rPr>
              <a:t>김해진</a:t>
            </a:r>
            <a:r>
              <a:rPr lang="en-US" altLang="ko-KR" sz="1200" kern="1200" dirty="0">
                <a:solidFill>
                  <a:schemeClr val="tx1"/>
                </a:solidFill>
                <a:effectLst/>
                <a:latin typeface="+mn-lt"/>
                <a:ea typeface="+mn-ea"/>
                <a:cs typeface="+mn-cs"/>
              </a:rPr>
              <a:t>, </a:t>
            </a:r>
            <a:r>
              <a:rPr lang="ko-KR" altLang="ko-KR" sz="1200" kern="1200" dirty="0">
                <a:solidFill>
                  <a:schemeClr val="tx1"/>
                </a:solidFill>
                <a:effectLst/>
                <a:latin typeface="+mn-lt"/>
                <a:ea typeface="+mn-ea"/>
                <a:cs typeface="+mn-cs"/>
              </a:rPr>
              <a:t>김동기 </a:t>
            </a:r>
            <a:r>
              <a:rPr lang="ko-KR" altLang="ko-KR" sz="1200" kern="1200" dirty="0" err="1">
                <a:solidFill>
                  <a:schemeClr val="tx1"/>
                </a:solidFill>
                <a:effectLst/>
                <a:latin typeface="+mn-lt"/>
                <a:ea typeface="+mn-ea"/>
                <a:cs typeface="+mn-cs"/>
              </a:rPr>
              <a:t>리더님입니다</a:t>
            </a:r>
            <a:r>
              <a:rPr lang="en-US" altLang="ko-KR" sz="1200" kern="1200" dirty="0">
                <a:solidFill>
                  <a:schemeClr val="tx1"/>
                </a:solidFill>
                <a:effectLst/>
                <a:latin typeface="+mn-lt"/>
                <a:ea typeface="+mn-ea"/>
                <a:cs typeface="+mn-cs"/>
              </a:rPr>
              <a:t>.</a:t>
            </a:r>
            <a:endParaRPr lang="ko-KR"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r>
              <a:rPr lang="ko-KR" altLang="ko-KR" sz="1200" kern="1200" dirty="0">
                <a:solidFill>
                  <a:schemeClr val="tx1"/>
                </a:solidFill>
                <a:effectLst/>
                <a:latin typeface="+mn-lt"/>
                <a:ea typeface="+mn-ea"/>
                <a:cs typeface="+mn-cs"/>
              </a:rPr>
              <a:t>오지현 드림</a:t>
            </a:r>
          </a:p>
          <a:p>
            <a:pPr marL="228600" indent="-228600">
              <a:buAutoNum type="arabicParenR"/>
            </a:pPr>
            <a:endParaRPr lang="ko-KR" altLang="en-US" dirty="0"/>
          </a:p>
        </p:txBody>
      </p:sp>
      <p:sp>
        <p:nvSpPr>
          <p:cNvPr id="4" name="슬라이드 번호 개체 틀 3"/>
          <p:cNvSpPr>
            <a:spLocks noGrp="1"/>
          </p:cNvSpPr>
          <p:nvPr>
            <p:ph type="sldNum" sz="quarter" idx="10"/>
          </p:nvPr>
        </p:nvSpPr>
        <p:spPr/>
        <p:txBody>
          <a:bodyPr/>
          <a:lstStyle/>
          <a:p>
            <a:fld id="{6D68C937-777B-4A86-A509-248968D5352C}" type="slidenum">
              <a:rPr lang="ko-KR" altLang="en-US" smtClean="0"/>
              <a:t>1</a:t>
            </a:fld>
            <a:endParaRPr lang="ko-KR" altLang="en-US"/>
          </a:p>
        </p:txBody>
      </p:sp>
    </p:spTree>
    <p:extLst>
      <p:ext uri="{BB962C8B-B14F-4D97-AF65-F5344CB8AC3E}">
        <p14:creationId xmlns:p14="http://schemas.microsoft.com/office/powerpoint/2010/main" val="426534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21F47991-1352-45B3-B70E-2E38984C81C0}" type="slidenum">
              <a:rPr lang="ko-KR" altLang="en-US" smtClean="0"/>
              <a:pPr/>
              <a:t>3</a:t>
            </a:fld>
            <a:endParaRPr lang="ko-KR" altLang="en-US"/>
          </a:p>
        </p:txBody>
      </p:sp>
    </p:spTree>
    <p:extLst>
      <p:ext uri="{BB962C8B-B14F-4D97-AF65-F5344CB8AC3E}">
        <p14:creationId xmlns:p14="http://schemas.microsoft.com/office/powerpoint/2010/main" val="2280422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21F47991-1352-45B3-B70E-2E38984C81C0}" type="slidenum">
              <a:rPr lang="ko-KR" altLang="en-US" smtClean="0"/>
              <a:pPr/>
              <a:t>4</a:t>
            </a:fld>
            <a:endParaRPr lang="ko-KR" altLang="en-US"/>
          </a:p>
        </p:txBody>
      </p:sp>
    </p:spTree>
    <p:extLst>
      <p:ext uri="{BB962C8B-B14F-4D97-AF65-F5344CB8AC3E}">
        <p14:creationId xmlns:p14="http://schemas.microsoft.com/office/powerpoint/2010/main" val="1826808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21F47991-1352-45B3-B70E-2E38984C81C0}" type="slidenum">
              <a:rPr lang="ko-KR" altLang="en-US" smtClean="0"/>
              <a:pPr/>
              <a:t>5</a:t>
            </a:fld>
            <a:endParaRPr lang="ko-KR" altLang="en-US"/>
          </a:p>
        </p:txBody>
      </p:sp>
    </p:spTree>
    <p:extLst>
      <p:ext uri="{BB962C8B-B14F-4D97-AF65-F5344CB8AC3E}">
        <p14:creationId xmlns:p14="http://schemas.microsoft.com/office/powerpoint/2010/main" val="3490109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28D5E-9521-7795-12E9-859BE9228C2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C4D76CC-7F2A-9166-EDCE-5D5BB2FA210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DE46EAE-709A-F2BB-7BE5-D9CBD7A0E1D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2971FC4-021C-AB1E-9C9E-E47512423587}"/>
              </a:ext>
            </a:extLst>
          </p:cNvPr>
          <p:cNvSpPr>
            <a:spLocks noGrp="1"/>
          </p:cNvSpPr>
          <p:nvPr>
            <p:ph type="sldNum" sz="quarter" idx="10"/>
          </p:nvPr>
        </p:nvSpPr>
        <p:spPr/>
        <p:txBody>
          <a:bodyPr/>
          <a:lstStyle/>
          <a:p>
            <a:fld id="{21F47991-1352-45B3-B70E-2E38984C81C0}" type="slidenum">
              <a:rPr lang="ko-KR" altLang="en-US" smtClean="0"/>
              <a:pPr/>
              <a:t>6</a:t>
            </a:fld>
            <a:endParaRPr lang="ko-KR" altLang="en-US"/>
          </a:p>
        </p:txBody>
      </p:sp>
    </p:spTree>
    <p:extLst>
      <p:ext uri="{BB962C8B-B14F-4D97-AF65-F5344CB8AC3E}">
        <p14:creationId xmlns:p14="http://schemas.microsoft.com/office/powerpoint/2010/main" val="128989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21F47991-1352-45B3-B70E-2E38984C81C0}" type="slidenum">
              <a:rPr lang="ko-KR" altLang="en-US" smtClean="0"/>
              <a:pPr/>
              <a:t>7</a:t>
            </a:fld>
            <a:endParaRPr lang="ko-KR" altLang="en-US"/>
          </a:p>
        </p:txBody>
      </p:sp>
    </p:spTree>
    <p:extLst>
      <p:ext uri="{BB962C8B-B14F-4D97-AF65-F5344CB8AC3E}">
        <p14:creationId xmlns:p14="http://schemas.microsoft.com/office/powerpoint/2010/main" val="1313933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21F47991-1352-45B3-B70E-2E38984C81C0}" type="slidenum">
              <a:rPr lang="ko-KR" altLang="en-US" smtClean="0"/>
              <a:pPr/>
              <a:t>8</a:t>
            </a:fld>
            <a:endParaRPr lang="ko-KR" altLang="en-US"/>
          </a:p>
        </p:txBody>
      </p:sp>
    </p:spTree>
    <p:extLst>
      <p:ext uri="{BB962C8B-B14F-4D97-AF65-F5344CB8AC3E}">
        <p14:creationId xmlns:p14="http://schemas.microsoft.com/office/powerpoint/2010/main" val="865099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21F47991-1352-45B3-B70E-2E38984C81C0}" type="slidenum">
              <a:rPr lang="ko-KR" altLang="en-US" smtClean="0"/>
              <a:pPr/>
              <a:t>9</a:t>
            </a:fld>
            <a:endParaRPr lang="ko-KR" altLang="en-US"/>
          </a:p>
        </p:txBody>
      </p:sp>
    </p:spTree>
    <p:extLst>
      <p:ext uri="{BB962C8B-B14F-4D97-AF65-F5344CB8AC3E}">
        <p14:creationId xmlns:p14="http://schemas.microsoft.com/office/powerpoint/2010/main" val="3843028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B50F5-359E-AC2C-4442-7390A6D54A2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B48A84D-F13B-0034-253D-937D1B759AB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636286A-B3E1-5143-251F-BADCAAC6099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B8C64B8-5868-464D-C953-E31F446A5D7F}"/>
              </a:ext>
            </a:extLst>
          </p:cNvPr>
          <p:cNvSpPr>
            <a:spLocks noGrp="1"/>
          </p:cNvSpPr>
          <p:nvPr>
            <p:ph type="sldNum" sz="quarter" idx="10"/>
          </p:nvPr>
        </p:nvSpPr>
        <p:spPr/>
        <p:txBody>
          <a:bodyPr/>
          <a:lstStyle/>
          <a:p>
            <a:fld id="{21F47991-1352-45B3-B70E-2E38984C81C0}" type="slidenum">
              <a:rPr lang="ko-KR" altLang="en-US" smtClean="0"/>
              <a:pPr/>
              <a:t>10</a:t>
            </a:fld>
            <a:endParaRPr lang="ko-KR" altLang="en-US"/>
          </a:p>
        </p:txBody>
      </p:sp>
    </p:spTree>
    <p:extLst>
      <p:ext uri="{BB962C8B-B14F-4D97-AF65-F5344CB8AC3E}">
        <p14:creationId xmlns:p14="http://schemas.microsoft.com/office/powerpoint/2010/main" val="4028261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21F47991-1352-45B3-B70E-2E38984C81C0}" type="slidenum">
              <a:rPr lang="ko-KR" altLang="en-US" smtClean="0"/>
              <a:pPr/>
              <a:t>11</a:t>
            </a:fld>
            <a:endParaRPr lang="ko-KR" altLang="en-US"/>
          </a:p>
        </p:txBody>
      </p:sp>
    </p:spTree>
    <p:extLst>
      <p:ext uri="{BB962C8B-B14F-4D97-AF65-F5344CB8AC3E}">
        <p14:creationId xmlns:p14="http://schemas.microsoft.com/office/powerpoint/2010/main" val="1209610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타이틀">
    <p:spTree>
      <p:nvGrpSpPr>
        <p:cNvPr id="1" name=""/>
        <p:cNvGrpSpPr/>
        <p:nvPr/>
      </p:nvGrpSpPr>
      <p:grpSpPr>
        <a:xfrm>
          <a:off x="0" y="0"/>
          <a:ext cx="0" cy="0"/>
          <a:chOff x="0" y="0"/>
          <a:chExt cx="0" cy="0"/>
        </a:xfrm>
      </p:grpSpPr>
      <p:sp>
        <p:nvSpPr>
          <p:cNvPr id="5" name="Rectangle 12"/>
          <p:cNvSpPr>
            <a:spLocks noChangeArrowheads="1"/>
          </p:cNvSpPr>
          <p:nvPr userDrawn="1"/>
        </p:nvSpPr>
        <p:spPr bwMode="auto">
          <a:xfrm>
            <a:off x="8778876" y="3336927"/>
            <a:ext cx="1127125" cy="2428875"/>
          </a:xfrm>
          <a:prstGeom prst="rect">
            <a:avLst/>
          </a:prstGeom>
          <a:solidFill>
            <a:srgbClr val="969696">
              <a:alpha val="52156"/>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pPr fontAlgn="base">
              <a:spcBef>
                <a:spcPct val="0"/>
              </a:spcBef>
              <a:spcAft>
                <a:spcPct val="0"/>
              </a:spcAft>
            </a:pPr>
            <a:endParaRPr kumimoji="1" lang="ko-KR" altLang="en-US" sz="1400" b="1">
              <a:solidFill>
                <a:srgbClr val="000000"/>
              </a:solidFill>
              <a:latin typeface="굴림" charset="-127"/>
              <a:ea typeface="굴림" charset="-127"/>
            </a:endParaRPr>
          </a:p>
        </p:txBody>
      </p:sp>
      <p:sp>
        <p:nvSpPr>
          <p:cNvPr id="6" name="Line 13"/>
          <p:cNvSpPr>
            <a:spLocks noChangeShapeType="1"/>
          </p:cNvSpPr>
          <p:nvPr userDrawn="1"/>
        </p:nvSpPr>
        <p:spPr bwMode="auto">
          <a:xfrm>
            <a:off x="842963" y="3322638"/>
            <a:ext cx="90630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1400" b="1">
              <a:solidFill>
                <a:srgbClr val="000000"/>
              </a:solidFill>
              <a:latin typeface="굴림" charset="-127"/>
              <a:ea typeface="굴림" charset="-127"/>
            </a:endParaRPr>
          </a:p>
        </p:txBody>
      </p:sp>
      <p:pic>
        <p:nvPicPr>
          <p:cNvPr id="9" name="Picture 22" descr="postech ui_0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66113" y="6569077"/>
            <a:ext cx="1592262"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3"/>
          <p:cNvSpPr txBox="1">
            <a:spLocks noChangeArrowheads="1"/>
          </p:cNvSpPr>
          <p:nvPr userDrawn="1"/>
        </p:nvSpPr>
        <p:spPr bwMode="auto">
          <a:xfrm>
            <a:off x="774700" y="4152900"/>
            <a:ext cx="6934200" cy="877888"/>
          </a:xfrm>
          <a:prstGeom prst="rect">
            <a:avLst/>
          </a:prstGeom>
          <a:noFill/>
          <a:ln>
            <a:noFill/>
          </a:ln>
        </p:spPr>
        <p:txBody>
          <a:bodyPr>
            <a:spAutoFit/>
          </a:bodyPr>
          <a:lstStyle>
            <a:lvl1pPr eaLnBrk="0" hangingPunct="0">
              <a:tabLst>
                <a:tab pos="5715000" algn="l"/>
              </a:tabLst>
              <a:defRPr kumimoji="1" sz="1400" b="1">
                <a:solidFill>
                  <a:srgbClr val="000000"/>
                </a:solidFill>
                <a:latin typeface="굴림" charset="-127"/>
                <a:ea typeface="굴림" charset="-127"/>
              </a:defRPr>
            </a:lvl1pPr>
            <a:lvl2pPr marL="742950" indent="-285750" eaLnBrk="0" hangingPunct="0">
              <a:tabLst>
                <a:tab pos="5715000" algn="l"/>
              </a:tabLst>
              <a:defRPr kumimoji="1" sz="1400" b="1">
                <a:solidFill>
                  <a:srgbClr val="000000"/>
                </a:solidFill>
                <a:latin typeface="굴림" charset="-127"/>
                <a:ea typeface="굴림" charset="-127"/>
              </a:defRPr>
            </a:lvl2pPr>
            <a:lvl3pPr marL="1143000" indent="-228600" eaLnBrk="0" hangingPunct="0">
              <a:tabLst>
                <a:tab pos="5715000" algn="l"/>
              </a:tabLst>
              <a:defRPr kumimoji="1" sz="1400" b="1">
                <a:solidFill>
                  <a:srgbClr val="000000"/>
                </a:solidFill>
                <a:latin typeface="굴림" charset="-127"/>
                <a:ea typeface="굴림" charset="-127"/>
              </a:defRPr>
            </a:lvl3pPr>
            <a:lvl4pPr marL="1600200" indent="-228600" eaLnBrk="0" hangingPunct="0">
              <a:tabLst>
                <a:tab pos="5715000" algn="l"/>
              </a:tabLst>
              <a:defRPr kumimoji="1" sz="1400" b="1">
                <a:solidFill>
                  <a:srgbClr val="000000"/>
                </a:solidFill>
                <a:latin typeface="굴림" charset="-127"/>
                <a:ea typeface="굴림" charset="-127"/>
              </a:defRPr>
            </a:lvl4pPr>
            <a:lvl5pPr marL="2057400" indent="-228600" eaLnBrk="0" hangingPunct="0">
              <a:tabLst>
                <a:tab pos="5715000" algn="l"/>
              </a:tabLst>
              <a:defRPr kumimoji="1" sz="1400" b="1">
                <a:solidFill>
                  <a:srgbClr val="000000"/>
                </a:solidFill>
                <a:latin typeface="굴림" charset="-127"/>
                <a:ea typeface="굴림" charset="-127"/>
              </a:defRPr>
            </a:lvl5pPr>
            <a:lvl6pPr marL="2514600" indent="-228600" eaLnBrk="0" fontAlgn="base" hangingPunct="0">
              <a:spcBef>
                <a:spcPct val="0"/>
              </a:spcBef>
              <a:spcAft>
                <a:spcPct val="0"/>
              </a:spcAft>
              <a:tabLst>
                <a:tab pos="5715000" algn="l"/>
              </a:tabLst>
              <a:defRPr kumimoji="1" sz="1400" b="1">
                <a:solidFill>
                  <a:srgbClr val="000000"/>
                </a:solidFill>
                <a:latin typeface="굴림" charset="-127"/>
                <a:ea typeface="굴림" charset="-127"/>
              </a:defRPr>
            </a:lvl6pPr>
            <a:lvl7pPr marL="2971800" indent="-228600" eaLnBrk="0" fontAlgn="base" hangingPunct="0">
              <a:spcBef>
                <a:spcPct val="0"/>
              </a:spcBef>
              <a:spcAft>
                <a:spcPct val="0"/>
              </a:spcAft>
              <a:tabLst>
                <a:tab pos="5715000" algn="l"/>
              </a:tabLst>
              <a:defRPr kumimoji="1" sz="1400" b="1">
                <a:solidFill>
                  <a:srgbClr val="000000"/>
                </a:solidFill>
                <a:latin typeface="굴림" charset="-127"/>
                <a:ea typeface="굴림" charset="-127"/>
              </a:defRPr>
            </a:lvl7pPr>
            <a:lvl8pPr marL="3429000" indent="-228600" eaLnBrk="0" fontAlgn="base" hangingPunct="0">
              <a:spcBef>
                <a:spcPct val="0"/>
              </a:spcBef>
              <a:spcAft>
                <a:spcPct val="0"/>
              </a:spcAft>
              <a:tabLst>
                <a:tab pos="5715000" algn="l"/>
              </a:tabLst>
              <a:defRPr kumimoji="1" sz="1400" b="1">
                <a:solidFill>
                  <a:srgbClr val="000000"/>
                </a:solidFill>
                <a:latin typeface="굴림" charset="-127"/>
                <a:ea typeface="굴림" charset="-127"/>
              </a:defRPr>
            </a:lvl8pPr>
            <a:lvl9pPr marL="3886200" indent="-228600" eaLnBrk="0" fontAlgn="base" hangingPunct="0">
              <a:spcBef>
                <a:spcPct val="0"/>
              </a:spcBef>
              <a:spcAft>
                <a:spcPct val="0"/>
              </a:spcAft>
              <a:tabLst>
                <a:tab pos="5715000" algn="l"/>
              </a:tabLst>
              <a:defRPr kumimoji="1" sz="1400" b="1">
                <a:solidFill>
                  <a:srgbClr val="000000"/>
                </a:solidFill>
                <a:latin typeface="굴림" charset="-127"/>
                <a:ea typeface="굴림" charset="-127"/>
              </a:defRPr>
            </a:lvl9pPr>
          </a:lstStyle>
          <a:p>
            <a:pPr eaLnBrk="1" fontAlgn="base" hangingPunct="1">
              <a:lnSpc>
                <a:spcPct val="107000"/>
              </a:lnSpc>
              <a:spcBef>
                <a:spcPct val="0"/>
              </a:spcBef>
              <a:spcAft>
                <a:spcPct val="0"/>
              </a:spcAft>
              <a:defRPr/>
            </a:pPr>
            <a:endParaRPr lang="en-US" altLang="ko-KR" sz="1600"/>
          </a:p>
          <a:p>
            <a:pPr eaLnBrk="1" fontAlgn="base" hangingPunct="1">
              <a:lnSpc>
                <a:spcPct val="107000"/>
              </a:lnSpc>
              <a:spcBef>
                <a:spcPct val="0"/>
              </a:spcBef>
              <a:spcAft>
                <a:spcPct val="0"/>
              </a:spcAft>
              <a:defRPr/>
            </a:pPr>
            <a:endParaRPr lang="en-US" altLang="ko-KR" sz="1600"/>
          </a:p>
          <a:p>
            <a:pPr eaLnBrk="1" fontAlgn="base" hangingPunct="1">
              <a:lnSpc>
                <a:spcPct val="107000"/>
              </a:lnSpc>
              <a:spcBef>
                <a:spcPct val="0"/>
              </a:spcBef>
              <a:spcAft>
                <a:spcPct val="0"/>
              </a:spcAft>
              <a:defRPr/>
            </a:pPr>
            <a:endParaRPr lang="ko-KR" altLang="en-US" sz="1600"/>
          </a:p>
        </p:txBody>
      </p:sp>
      <p:sp>
        <p:nvSpPr>
          <p:cNvPr id="11" name="Rectangle 3" hidden="1"/>
          <p:cNvSpPr txBox="1">
            <a:spLocks noChangeArrowheads="1"/>
          </p:cNvSpPr>
          <p:nvPr userDrawn="1"/>
        </p:nvSpPr>
        <p:spPr bwMode="auto">
          <a:xfrm>
            <a:off x="927100" y="4305300"/>
            <a:ext cx="6934200" cy="877888"/>
          </a:xfrm>
          <a:prstGeom prst="rect">
            <a:avLst/>
          </a:prstGeom>
          <a:noFill/>
          <a:ln>
            <a:noFill/>
          </a:ln>
        </p:spPr>
        <p:txBody>
          <a:bodyPr>
            <a:spAutoFit/>
          </a:bodyPr>
          <a:lstStyle>
            <a:lvl1pPr eaLnBrk="0" hangingPunct="0">
              <a:tabLst>
                <a:tab pos="5715000" algn="l"/>
              </a:tabLst>
              <a:defRPr kumimoji="1" sz="1400" b="1">
                <a:solidFill>
                  <a:srgbClr val="000000"/>
                </a:solidFill>
                <a:latin typeface="굴림" charset="-127"/>
                <a:ea typeface="굴림" charset="-127"/>
              </a:defRPr>
            </a:lvl1pPr>
            <a:lvl2pPr marL="742950" indent="-285750" eaLnBrk="0" hangingPunct="0">
              <a:tabLst>
                <a:tab pos="5715000" algn="l"/>
              </a:tabLst>
              <a:defRPr kumimoji="1" sz="1400" b="1">
                <a:solidFill>
                  <a:srgbClr val="000000"/>
                </a:solidFill>
                <a:latin typeface="굴림" charset="-127"/>
                <a:ea typeface="굴림" charset="-127"/>
              </a:defRPr>
            </a:lvl2pPr>
            <a:lvl3pPr marL="1143000" indent="-228600" eaLnBrk="0" hangingPunct="0">
              <a:tabLst>
                <a:tab pos="5715000" algn="l"/>
              </a:tabLst>
              <a:defRPr kumimoji="1" sz="1400" b="1">
                <a:solidFill>
                  <a:srgbClr val="000000"/>
                </a:solidFill>
                <a:latin typeface="굴림" charset="-127"/>
                <a:ea typeface="굴림" charset="-127"/>
              </a:defRPr>
            </a:lvl3pPr>
            <a:lvl4pPr marL="1600200" indent="-228600" eaLnBrk="0" hangingPunct="0">
              <a:tabLst>
                <a:tab pos="5715000" algn="l"/>
              </a:tabLst>
              <a:defRPr kumimoji="1" sz="1400" b="1">
                <a:solidFill>
                  <a:srgbClr val="000000"/>
                </a:solidFill>
                <a:latin typeface="굴림" charset="-127"/>
                <a:ea typeface="굴림" charset="-127"/>
              </a:defRPr>
            </a:lvl4pPr>
            <a:lvl5pPr marL="2057400" indent="-228600" eaLnBrk="0" hangingPunct="0">
              <a:tabLst>
                <a:tab pos="5715000" algn="l"/>
              </a:tabLst>
              <a:defRPr kumimoji="1" sz="1400" b="1">
                <a:solidFill>
                  <a:srgbClr val="000000"/>
                </a:solidFill>
                <a:latin typeface="굴림" charset="-127"/>
                <a:ea typeface="굴림" charset="-127"/>
              </a:defRPr>
            </a:lvl5pPr>
            <a:lvl6pPr marL="2514600" indent="-228600" eaLnBrk="0" fontAlgn="base" hangingPunct="0">
              <a:spcBef>
                <a:spcPct val="0"/>
              </a:spcBef>
              <a:spcAft>
                <a:spcPct val="0"/>
              </a:spcAft>
              <a:tabLst>
                <a:tab pos="5715000" algn="l"/>
              </a:tabLst>
              <a:defRPr kumimoji="1" sz="1400" b="1">
                <a:solidFill>
                  <a:srgbClr val="000000"/>
                </a:solidFill>
                <a:latin typeface="굴림" charset="-127"/>
                <a:ea typeface="굴림" charset="-127"/>
              </a:defRPr>
            </a:lvl6pPr>
            <a:lvl7pPr marL="2971800" indent="-228600" eaLnBrk="0" fontAlgn="base" hangingPunct="0">
              <a:spcBef>
                <a:spcPct val="0"/>
              </a:spcBef>
              <a:spcAft>
                <a:spcPct val="0"/>
              </a:spcAft>
              <a:tabLst>
                <a:tab pos="5715000" algn="l"/>
              </a:tabLst>
              <a:defRPr kumimoji="1" sz="1400" b="1">
                <a:solidFill>
                  <a:srgbClr val="000000"/>
                </a:solidFill>
                <a:latin typeface="굴림" charset="-127"/>
                <a:ea typeface="굴림" charset="-127"/>
              </a:defRPr>
            </a:lvl7pPr>
            <a:lvl8pPr marL="3429000" indent="-228600" eaLnBrk="0" fontAlgn="base" hangingPunct="0">
              <a:spcBef>
                <a:spcPct val="0"/>
              </a:spcBef>
              <a:spcAft>
                <a:spcPct val="0"/>
              </a:spcAft>
              <a:tabLst>
                <a:tab pos="5715000" algn="l"/>
              </a:tabLst>
              <a:defRPr kumimoji="1" sz="1400" b="1">
                <a:solidFill>
                  <a:srgbClr val="000000"/>
                </a:solidFill>
                <a:latin typeface="굴림" charset="-127"/>
                <a:ea typeface="굴림" charset="-127"/>
              </a:defRPr>
            </a:lvl8pPr>
            <a:lvl9pPr marL="3886200" indent="-228600" eaLnBrk="0" fontAlgn="base" hangingPunct="0">
              <a:spcBef>
                <a:spcPct val="0"/>
              </a:spcBef>
              <a:spcAft>
                <a:spcPct val="0"/>
              </a:spcAft>
              <a:tabLst>
                <a:tab pos="5715000" algn="l"/>
              </a:tabLst>
              <a:defRPr kumimoji="1" sz="1400" b="1">
                <a:solidFill>
                  <a:srgbClr val="000000"/>
                </a:solidFill>
                <a:latin typeface="굴림" charset="-127"/>
                <a:ea typeface="굴림" charset="-127"/>
              </a:defRPr>
            </a:lvl9pPr>
          </a:lstStyle>
          <a:p>
            <a:pPr eaLnBrk="1" fontAlgn="base" hangingPunct="1">
              <a:lnSpc>
                <a:spcPct val="107000"/>
              </a:lnSpc>
              <a:spcBef>
                <a:spcPct val="0"/>
              </a:spcBef>
              <a:spcAft>
                <a:spcPct val="0"/>
              </a:spcAft>
              <a:defRPr/>
            </a:pPr>
            <a:r>
              <a:rPr lang="en-US" altLang="ko-KR" sz="1600"/>
              <a:t>2009.  4. 7</a:t>
            </a:r>
          </a:p>
          <a:p>
            <a:pPr eaLnBrk="1" fontAlgn="base" hangingPunct="1">
              <a:lnSpc>
                <a:spcPct val="107000"/>
              </a:lnSpc>
              <a:spcBef>
                <a:spcPct val="0"/>
              </a:spcBef>
              <a:spcAft>
                <a:spcPct val="0"/>
              </a:spcAft>
              <a:defRPr/>
            </a:pPr>
            <a:endParaRPr lang="en-US" altLang="ko-KR" sz="1600"/>
          </a:p>
          <a:p>
            <a:pPr eaLnBrk="1" fontAlgn="base" hangingPunct="1">
              <a:lnSpc>
                <a:spcPct val="107000"/>
              </a:lnSpc>
              <a:spcBef>
                <a:spcPct val="0"/>
              </a:spcBef>
              <a:spcAft>
                <a:spcPct val="0"/>
              </a:spcAft>
              <a:defRPr/>
            </a:pPr>
            <a:r>
              <a:rPr lang="ko-KR" altLang="en-US" sz="1600"/>
              <a:t>기획처 발전협력팀</a:t>
            </a:r>
          </a:p>
        </p:txBody>
      </p:sp>
      <p:sp>
        <p:nvSpPr>
          <p:cNvPr id="7" name="Rectangle 4"/>
          <p:cNvSpPr>
            <a:spLocks noGrp="1" noChangeArrowheads="1"/>
          </p:cNvSpPr>
          <p:nvPr>
            <p:ph type="ctrTitle" idx="4294967295"/>
          </p:nvPr>
        </p:nvSpPr>
        <p:spPr>
          <a:xfrm>
            <a:off x="781073" y="2724152"/>
            <a:ext cx="7386638" cy="633413"/>
          </a:xfrm>
        </p:spPr>
        <p:txBody>
          <a:bodyPr/>
          <a:lstStyle/>
          <a:p>
            <a:endParaRPr lang="ko-KR" altLang="en-US" dirty="0"/>
          </a:p>
        </p:txBody>
      </p:sp>
      <p:sp>
        <p:nvSpPr>
          <p:cNvPr id="13" name="내용 개체 틀 2"/>
          <p:cNvSpPr>
            <a:spLocks noGrp="1"/>
          </p:cNvSpPr>
          <p:nvPr>
            <p:ph idx="1"/>
          </p:nvPr>
        </p:nvSpPr>
        <p:spPr>
          <a:xfrm>
            <a:off x="738159" y="4384538"/>
            <a:ext cx="4429156" cy="363176"/>
          </a:xfrm>
        </p:spPr>
        <p:txBody>
          <a:bodyPr/>
          <a:lstStyle>
            <a:lvl1pPr marL="266700" indent="-266700">
              <a:buFont typeface="Wingdings" pitchFamily="2" charset="2"/>
              <a:buNone/>
              <a:defRPr sz="1600" b="0" baseline="0">
                <a:latin typeface="HY견고딕" pitchFamily="18" charset="-127"/>
                <a:ea typeface="HY견고딕" pitchFamily="18" charset="-127"/>
              </a:defRPr>
            </a:lvl1pPr>
            <a:lvl2pPr>
              <a:defRPr sz="1400">
                <a:latin typeface="HY견고딕" pitchFamily="18" charset="-127"/>
                <a:ea typeface="HY견고딕" pitchFamily="18" charset="-127"/>
              </a:defRPr>
            </a:lvl2pPr>
            <a:lvl3pPr marL="714375" indent="-190500">
              <a:tabLst>
                <a:tab pos="5715000" algn="l"/>
              </a:tabLst>
              <a:defRPr sz="1400">
                <a:latin typeface="HY견고딕" pitchFamily="18" charset="-127"/>
                <a:ea typeface="HY견고딕" pitchFamily="18" charset="-127"/>
              </a:defRPr>
            </a:lvl3pPr>
            <a:lvl4pPr marL="931863" indent="-195263">
              <a:defRPr sz="1400">
                <a:latin typeface="HY견고딕" pitchFamily="18" charset="-127"/>
                <a:ea typeface="HY견고딕" pitchFamily="18" charset="-127"/>
              </a:defRPr>
            </a:lvl4pPr>
            <a:lvl5pPr marL="1130300" indent="-187325">
              <a:defRPr sz="1400">
                <a:latin typeface="HY견고딕" pitchFamily="18" charset="-127"/>
                <a:ea typeface="HY견고딕" pitchFamily="18" charset="-127"/>
              </a:defRPr>
            </a:lvl5pPr>
          </a:lstStyle>
          <a:p>
            <a:pPr lvl="0"/>
            <a:r>
              <a:rPr lang="ko-KR" altLang="en-US"/>
              <a:t>마스터 텍스트 스타일을 편집합니다</a:t>
            </a:r>
          </a:p>
        </p:txBody>
      </p:sp>
      <p:sp>
        <p:nvSpPr>
          <p:cNvPr id="14" name="내용 개체 틀 2"/>
          <p:cNvSpPr>
            <a:spLocks noGrp="1"/>
          </p:cNvSpPr>
          <p:nvPr>
            <p:ph idx="10"/>
          </p:nvPr>
        </p:nvSpPr>
        <p:spPr>
          <a:xfrm>
            <a:off x="738159" y="5027480"/>
            <a:ext cx="4429156" cy="363176"/>
          </a:xfrm>
        </p:spPr>
        <p:txBody>
          <a:bodyPr/>
          <a:lstStyle>
            <a:lvl1pPr marL="266700" indent="-266700">
              <a:buFont typeface="Wingdings" pitchFamily="2" charset="2"/>
              <a:buNone/>
              <a:defRPr sz="1600" b="0" baseline="0">
                <a:latin typeface="HY견고딕" pitchFamily="18" charset="-127"/>
                <a:ea typeface="HY견고딕" pitchFamily="18" charset="-127"/>
              </a:defRPr>
            </a:lvl1pPr>
            <a:lvl2pPr>
              <a:defRPr sz="1400">
                <a:latin typeface="HY견고딕" pitchFamily="18" charset="-127"/>
                <a:ea typeface="HY견고딕" pitchFamily="18" charset="-127"/>
              </a:defRPr>
            </a:lvl2pPr>
            <a:lvl3pPr marL="714375" indent="-190500">
              <a:tabLst>
                <a:tab pos="5715000" algn="l"/>
              </a:tabLst>
              <a:defRPr sz="1400">
                <a:latin typeface="HY견고딕" pitchFamily="18" charset="-127"/>
                <a:ea typeface="HY견고딕" pitchFamily="18" charset="-127"/>
              </a:defRPr>
            </a:lvl3pPr>
            <a:lvl4pPr marL="931863" indent="-195263">
              <a:defRPr sz="1400">
                <a:latin typeface="HY견고딕" pitchFamily="18" charset="-127"/>
                <a:ea typeface="HY견고딕" pitchFamily="18" charset="-127"/>
              </a:defRPr>
            </a:lvl4pPr>
            <a:lvl5pPr marL="1130300" indent="-187325">
              <a:defRPr sz="1400">
                <a:latin typeface="HY견고딕" pitchFamily="18" charset="-127"/>
                <a:ea typeface="HY견고딕" pitchFamily="18" charset="-127"/>
              </a:defRPr>
            </a:lvl5pPr>
          </a:lstStyle>
          <a:p>
            <a:pPr lvl="0"/>
            <a:r>
              <a:rPr lang="ko-KR" altLang="en-US"/>
              <a:t>마스터 텍스트 스타일을 편집합니다</a:t>
            </a:r>
          </a:p>
        </p:txBody>
      </p:sp>
      <p:pic>
        <p:nvPicPr>
          <p:cNvPr id="1026" name="Picture 2" descr="C:\Users\user\Desktop\DID_hero_imgV2.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893023" y="3336927"/>
            <a:ext cx="3886201"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338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목 차">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279400" y="249240"/>
            <a:ext cx="8915400" cy="485775"/>
          </a:xfrm>
        </p:spPr>
        <p:txBody>
          <a:bodyPr/>
          <a:lstStyle>
            <a:lvl1pPr>
              <a:defRPr baseline="0"/>
            </a:lvl1pPr>
          </a:lstStyle>
          <a:p>
            <a:r>
              <a:rPr lang="ko-KR" altLang="en-US" dirty="0"/>
              <a:t>마스터 제목 스타일 편집</a:t>
            </a:r>
            <a:endParaRPr lang="en-US" altLang="ko-KR" dirty="0"/>
          </a:p>
        </p:txBody>
      </p:sp>
      <p:sp>
        <p:nvSpPr>
          <p:cNvPr id="8" name="내용 개체 틀 2"/>
          <p:cNvSpPr>
            <a:spLocks noGrp="1"/>
          </p:cNvSpPr>
          <p:nvPr>
            <p:ph idx="11"/>
          </p:nvPr>
        </p:nvSpPr>
        <p:spPr>
          <a:xfrm>
            <a:off x="2166919" y="1417157"/>
            <a:ext cx="5519760" cy="794064"/>
          </a:xfrm>
        </p:spPr>
        <p:txBody>
          <a:bodyPr/>
          <a:lstStyle>
            <a:lvl1pPr marL="266700" indent="-266700">
              <a:buFont typeface="Wingdings" pitchFamily="2" charset="2"/>
              <a:buNone/>
              <a:defRPr sz="2400" b="0">
                <a:latin typeface="HY견고딕" pitchFamily="18" charset="-127"/>
                <a:ea typeface="HY견고딕" pitchFamily="18" charset="-127"/>
              </a:defRPr>
            </a:lvl1pPr>
            <a:lvl2pPr>
              <a:defRPr sz="1600" b="1">
                <a:latin typeface="맑은 고딕" pitchFamily="50" charset="-127"/>
                <a:ea typeface="맑은 고딕" pitchFamily="50" charset="-127"/>
              </a:defRPr>
            </a:lvl2pPr>
            <a:lvl3pPr marL="714375" indent="-190500">
              <a:tabLst>
                <a:tab pos="5715000" algn="l"/>
              </a:tabLst>
              <a:defRPr sz="1600" b="1">
                <a:latin typeface="맑은 고딕" pitchFamily="50" charset="-127"/>
                <a:ea typeface="맑은 고딕" pitchFamily="50" charset="-127"/>
              </a:defRPr>
            </a:lvl3pPr>
            <a:lvl4pPr marL="931863" indent="-195263">
              <a:buFont typeface="Wingdings" pitchFamily="2" charset="2"/>
              <a:buChar char="§"/>
              <a:defRPr sz="1600" b="1">
                <a:latin typeface="맑은 고딕" pitchFamily="50" charset="-127"/>
                <a:ea typeface="맑은 고딕" pitchFamily="50" charset="-127"/>
              </a:defRPr>
            </a:lvl4pPr>
            <a:lvl5pPr marL="1130300" indent="-187325">
              <a:defRPr sz="1600" b="1">
                <a:latin typeface="맑은 고딕" pitchFamily="50" charset="-127"/>
                <a:ea typeface="맑은 고딕" pitchFamily="50" charset="-127"/>
              </a:defRPr>
            </a:lvl5pPr>
          </a:lstStyle>
          <a:p>
            <a:pPr lvl="0"/>
            <a:r>
              <a:rPr lang="ko-KR" altLang="en-US"/>
              <a:t>마스터 텍스트 스타일을 편집합니다</a:t>
            </a:r>
          </a:p>
          <a:p>
            <a:pPr lvl="1"/>
            <a:r>
              <a:rPr lang="ko-KR" altLang="en-US"/>
              <a:t>둘째 수준</a:t>
            </a:r>
          </a:p>
        </p:txBody>
      </p:sp>
      <p:sp>
        <p:nvSpPr>
          <p:cNvPr id="9" name="내용 개체 틀 2"/>
          <p:cNvSpPr>
            <a:spLocks noGrp="1"/>
          </p:cNvSpPr>
          <p:nvPr>
            <p:ph idx="12"/>
          </p:nvPr>
        </p:nvSpPr>
        <p:spPr>
          <a:xfrm>
            <a:off x="2166919" y="4786323"/>
            <a:ext cx="5519760" cy="987963"/>
          </a:xfrm>
        </p:spPr>
        <p:txBody>
          <a:bodyPr/>
          <a:lstStyle>
            <a:lvl1pPr marL="266700" indent="-266700">
              <a:buFont typeface="Wingdings" pitchFamily="2" charset="2"/>
              <a:buNone/>
              <a:defRPr sz="1800" b="0">
                <a:latin typeface="HY견고딕" pitchFamily="18" charset="-127"/>
                <a:ea typeface="HY견고딕" pitchFamily="18" charset="-127"/>
              </a:defRPr>
            </a:lvl1pPr>
            <a:lvl2pPr>
              <a:defRPr sz="1600" b="1">
                <a:latin typeface="맑은 고딕" pitchFamily="50" charset="-127"/>
                <a:ea typeface="맑은 고딕" pitchFamily="50" charset="-127"/>
              </a:defRPr>
            </a:lvl2pPr>
            <a:lvl3pPr marL="714375" indent="-190500">
              <a:tabLst>
                <a:tab pos="5715000" algn="l"/>
              </a:tabLst>
              <a:defRPr sz="1600" b="1">
                <a:latin typeface="맑은 고딕" pitchFamily="50" charset="-127"/>
                <a:ea typeface="맑은 고딕" pitchFamily="50" charset="-127"/>
              </a:defRPr>
            </a:lvl3pPr>
            <a:lvl4pPr marL="931863" indent="-195263">
              <a:buFont typeface="Wingdings" pitchFamily="2" charset="2"/>
              <a:buChar char="§"/>
              <a:defRPr sz="1600" b="1">
                <a:latin typeface="맑은 고딕" pitchFamily="50" charset="-127"/>
                <a:ea typeface="맑은 고딕" pitchFamily="50" charset="-127"/>
              </a:defRPr>
            </a:lvl4pPr>
            <a:lvl5pPr marL="1130300" indent="-187325">
              <a:defRPr sz="1600" b="1">
                <a:latin typeface="맑은 고딕" pitchFamily="50" charset="-127"/>
                <a:ea typeface="맑은 고딕" pitchFamily="50" charset="-127"/>
              </a:defRPr>
            </a:lvl5pPr>
          </a:lstStyle>
          <a:p>
            <a:pPr lvl="0"/>
            <a:r>
              <a:rPr lang="ko-KR" altLang="en-US"/>
              <a:t>마스터 텍스트 스타일을 편집합니다</a:t>
            </a:r>
          </a:p>
          <a:p>
            <a:pPr lvl="1"/>
            <a:r>
              <a:rPr lang="ko-KR" altLang="en-US"/>
              <a:t>둘째 수준</a:t>
            </a:r>
          </a:p>
          <a:p>
            <a:pPr lvl="2"/>
            <a:r>
              <a:rPr lang="ko-KR" altLang="en-US"/>
              <a:t>셋째 수준</a:t>
            </a:r>
          </a:p>
        </p:txBody>
      </p:sp>
      <p:sp>
        <p:nvSpPr>
          <p:cNvPr id="5" name="Rectangle 18"/>
          <p:cNvSpPr>
            <a:spLocks noGrp="1" noChangeArrowheads="1"/>
          </p:cNvSpPr>
          <p:nvPr>
            <p:ph type="sldNum" sz="quarter" idx="13"/>
          </p:nvPr>
        </p:nvSpPr>
        <p:spPr>
          <a:ln/>
        </p:spPr>
        <p:txBody>
          <a:bodyPr/>
          <a:lstStyle>
            <a:lvl1pPr>
              <a:defRPr/>
            </a:lvl1pPr>
          </a:lstStyle>
          <a:p>
            <a:pPr>
              <a:defRPr/>
            </a:pPr>
            <a:fld id="{3CDF3C30-FF8E-4746-8EF6-407704BC6B7A}" type="slidenum">
              <a:rPr lang="en-US" altLang="ko-KR"/>
              <a:pPr>
                <a:defRPr/>
              </a:pPr>
              <a:t>‹#›</a:t>
            </a:fld>
            <a:endParaRPr lang="en-US" altLang="ko-KR"/>
          </a:p>
        </p:txBody>
      </p:sp>
      <p:cxnSp>
        <p:nvCxnSpPr>
          <p:cNvPr id="7" name="직선 연결선 6"/>
          <p:cNvCxnSpPr/>
          <p:nvPr userDrawn="1"/>
        </p:nvCxnSpPr>
        <p:spPr>
          <a:xfrm>
            <a:off x="0" y="548680"/>
            <a:ext cx="9906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4775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목 차">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279400" y="249240"/>
            <a:ext cx="8915400" cy="485775"/>
          </a:xfrm>
        </p:spPr>
        <p:txBody>
          <a:bodyPr/>
          <a:lstStyle>
            <a:lvl1pPr>
              <a:defRPr baseline="0"/>
            </a:lvl1pPr>
          </a:lstStyle>
          <a:p>
            <a:r>
              <a:rPr lang="ko-KR" altLang="en-US" dirty="0"/>
              <a:t>마스터 제목 스타일 편집</a:t>
            </a:r>
            <a:endParaRPr lang="en-US" altLang="ko-KR" dirty="0"/>
          </a:p>
        </p:txBody>
      </p:sp>
      <p:sp>
        <p:nvSpPr>
          <p:cNvPr id="8" name="내용 개체 틀 2"/>
          <p:cNvSpPr>
            <a:spLocks noGrp="1"/>
          </p:cNvSpPr>
          <p:nvPr>
            <p:ph idx="11"/>
          </p:nvPr>
        </p:nvSpPr>
        <p:spPr>
          <a:xfrm>
            <a:off x="2166919" y="1417157"/>
            <a:ext cx="5519760" cy="794064"/>
          </a:xfrm>
        </p:spPr>
        <p:txBody>
          <a:bodyPr/>
          <a:lstStyle>
            <a:lvl1pPr marL="266700" indent="-266700">
              <a:buFont typeface="Wingdings" pitchFamily="2" charset="2"/>
              <a:buNone/>
              <a:defRPr sz="2400" b="0">
                <a:latin typeface="HY견고딕" pitchFamily="18" charset="-127"/>
                <a:ea typeface="HY견고딕" pitchFamily="18" charset="-127"/>
              </a:defRPr>
            </a:lvl1pPr>
            <a:lvl2pPr>
              <a:defRPr sz="1600" b="1">
                <a:latin typeface="맑은 고딕" pitchFamily="50" charset="-127"/>
                <a:ea typeface="맑은 고딕" pitchFamily="50" charset="-127"/>
              </a:defRPr>
            </a:lvl2pPr>
            <a:lvl3pPr marL="714375" indent="-190500">
              <a:tabLst>
                <a:tab pos="5715000" algn="l"/>
              </a:tabLst>
              <a:defRPr sz="1600" b="1">
                <a:latin typeface="맑은 고딕" pitchFamily="50" charset="-127"/>
                <a:ea typeface="맑은 고딕" pitchFamily="50" charset="-127"/>
              </a:defRPr>
            </a:lvl3pPr>
            <a:lvl4pPr marL="931863" indent="-195263">
              <a:buFont typeface="Wingdings" pitchFamily="2" charset="2"/>
              <a:buChar char="§"/>
              <a:defRPr sz="1600" b="1">
                <a:latin typeface="맑은 고딕" pitchFamily="50" charset="-127"/>
                <a:ea typeface="맑은 고딕" pitchFamily="50" charset="-127"/>
              </a:defRPr>
            </a:lvl4pPr>
            <a:lvl5pPr marL="1130300" indent="-187325">
              <a:defRPr sz="1600" b="1">
                <a:latin typeface="맑은 고딕" pitchFamily="50" charset="-127"/>
                <a:ea typeface="맑은 고딕" pitchFamily="50" charset="-127"/>
              </a:defRPr>
            </a:lvl5pPr>
          </a:lstStyle>
          <a:p>
            <a:pPr lvl="0"/>
            <a:r>
              <a:rPr lang="ko-KR" altLang="en-US"/>
              <a:t>마스터 텍스트 스타일을 편집합니다</a:t>
            </a:r>
          </a:p>
          <a:p>
            <a:pPr lvl="1"/>
            <a:r>
              <a:rPr lang="ko-KR" altLang="en-US"/>
              <a:t>둘째 수준</a:t>
            </a:r>
          </a:p>
        </p:txBody>
      </p:sp>
      <p:sp>
        <p:nvSpPr>
          <p:cNvPr id="9" name="내용 개체 틀 2"/>
          <p:cNvSpPr>
            <a:spLocks noGrp="1"/>
          </p:cNvSpPr>
          <p:nvPr>
            <p:ph idx="12"/>
          </p:nvPr>
        </p:nvSpPr>
        <p:spPr>
          <a:xfrm>
            <a:off x="2166919" y="4786323"/>
            <a:ext cx="5519760" cy="987963"/>
          </a:xfrm>
        </p:spPr>
        <p:txBody>
          <a:bodyPr/>
          <a:lstStyle>
            <a:lvl1pPr marL="266700" indent="-266700">
              <a:buFont typeface="Wingdings" pitchFamily="2" charset="2"/>
              <a:buNone/>
              <a:defRPr sz="1800" b="0">
                <a:latin typeface="HY견고딕" pitchFamily="18" charset="-127"/>
                <a:ea typeface="HY견고딕" pitchFamily="18" charset="-127"/>
              </a:defRPr>
            </a:lvl1pPr>
            <a:lvl2pPr>
              <a:defRPr sz="1600" b="1">
                <a:latin typeface="맑은 고딕" pitchFamily="50" charset="-127"/>
                <a:ea typeface="맑은 고딕" pitchFamily="50" charset="-127"/>
              </a:defRPr>
            </a:lvl2pPr>
            <a:lvl3pPr marL="714375" indent="-190500">
              <a:tabLst>
                <a:tab pos="5715000" algn="l"/>
              </a:tabLst>
              <a:defRPr sz="1600" b="1">
                <a:latin typeface="맑은 고딕" pitchFamily="50" charset="-127"/>
                <a:ea typeface="맑은 고딕" pitchFamily="50" charset="-127"/>
              </a:defRPr>
            </a:lvl3pPr>
            <a:lvl4pPr marL="931863" indent="-195263">
              <a:buFont typeface="Wingdings" pitchFamily="2" charset="2"/>
              <a:buChar char="§"/>
              <a:defRPr sz="1600" b="1">
                <a:latin typeface="맑은 고딕" pitchFamily="50" charset="-127"/>
                <a:ea typeface="맑은 고딕" pitchFamily="50" charset="-127"/>
              </a:defRPr>
            </a:lvl4pPr>
            <a:lvl5pPr marL="1130300" indent="-187325">
              <a:defRPr sz="1600" b="1">
                <a:latin typeface="맑은 고딕" pitchFamily="50" charset="-127"/>
                <a:ea typeface="맑은 고딕" pitchFamily="50" charset="-127"/>
              </a:defRPr>
            </a:lvl5pPr>
          </a:lstStyle>
          <a:p>
            <a:pPr lvl="0"/>
            <a:r>
              <a:rPr lang="ko-KR" altLang="en-US"/>
              <a:t>마스터 텍스트 스타일을 편집합니다</a:t>
            </a:r>
          </a:p>
          <a:p>
            <a:pPr lvl="1"/>
            <a:r>
              <a:rPr lang="ko-KR" altLang="en-US"/>
              <a:t>둘째 수준</a:t>
            </a:r>
          </a:p>
          <a:p>
            <a:pPr lvl="2"/>
            <a:r>
              <a:rPr lang="ko-KR" altLang="en-US"/>
              <a:t>셋째 수준</a:t>
            </a:r>
          </a:p>
        </p:txBody>
      </p:sp>
      <p:sp>
        <p:nvSpPr>
          <p:cNvPr id="5" name="Rectangle 18"/>
          <p:cNvSpPr>
            <a:spLocks noGrp="1" noChangeArrowheads="1"/>
          </p:cNvSpPr>
          <p:nvPr>
            <p:ph type="sldNum" sz="quarter" idx="13"/>
          </p:nvPr>
        </p:nvSpPr>
        <p:spPr>
          <a:ln/>
        </p:spPr>
        <p:txBody>
          <a:bodyPr/>
          <a:lstStyle>
            <a:lvl1pPr>
              <a:defRPr/>
            </a:lvl1pPr>
          </a:lstStyle>
          <a:p>
            <a:pPr>
              <a:defRPr/>
            </a:pPr>
            <a:fld id="{3CDF3C30-FF8E-4746-8EF6-407704BC6B7A}" type="slidenum">
              <a:rPr lang="en-US" altLang="ko-KR"/>
              <a:pPr>
                <a:defRPr/>
              </a:pPr>
              <a:t>‹#›</a:t>
            </a:fld>
            <a:endParaRPr lang="en-US" altLang="ko-KR"/>
          </a:p>
        </p:txBody>
      </p:sp>
      <p:cxnSp>
        <p:nvCxnSpPr>
          <p:cNvPr id="7" name="직선 연결선 6"/>
          <p:cNvCxnSpPr/>
          <p:nvPr userDrawn="1"/>
        </p:nvCxnSpPr>
        <p:spPr>
          <a:xfrm>
            <a:off x="0" y="735015"/>
            <a:ext cx="9906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3383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제목 슬라이드">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2" name="제목 1"/>
          <p:cNvSpPr>
            <a:spLocks noGrp="1"/>
          </p:cNvSpPr>
          <p:nvPr>
            <p:ph type="ctrTitle"/>
          </p:nvPr>
        </p:nvSpPr>
        <p:spPr>
          <a:xfrm>
            <a:off x="662523" y="1268762"/>
            <a:ext cx="8420100" cy="1470025"/>
          </a:xfrm>
        </p:spPr>
        <p:txBody>
          <a:bodyPr/>
          <a:lstStyle>
            <a:lvl1pPr>
              <a:defRPr>
                <a:solidFill>
                  <a:srgbClr val="C80150"/>
                </a:solidFill>
              </a:defRPr>
            </a:lvl1pPr>
          </a:lstStyle>
          <a:p>
            <a:r>
              <a:rPr lang="ko-KR" altLang="en-US"/>
              <a:t>마스터 제목 스타일 편집</a:t>
            </a:r>
          </a:p>
        </p:txBody>
      </p:sp>
      <p:sp>
        <p:nvSpPr>
          <p:cNvPr id="3" name="부제목 2"/>
          <p:cNvSpPr>
            <a:spLocks noGrp="1"/>
          </p:cNvSpPr>
          <p:nvPr>
            <p:ph type="subTitle" idx="1"/>
          </p:nvPr>
        </p:nvSpPr>
        <p:spPr>
          <a:xfrm>
            <a:off x="662523" y="2852936"/>
            <a:ext cx="6934200" cy="1752600"/>
          </a:xfrm>
        </p:spPr>
        <p:txBody>
          <a:bodyPr>
            <a:normAutofit/>
          </a:bodyPr>
          <a:lstStyle>
            <a:lvl1pPr marL="0" indent="0" algn="l">
              <a:buNone/>
              <a:defRPr sz="1463">
                <a:solidFill>
                  <a:srgbClr val="C80150"/>
                </a:solidFill>
              </a:defRPr>
            </a:lvl1pPr>
            <a:lvl2pPr marL="371475" indent="0" algn="ctr">
              <a:buNone/>
              <a:defRPr>
                <a:solidFill>
                  <a:schemeClr val="tx1">
                    <a:tint val="75000"/>
                  </a:schemeClr>
                </a:solidFill>
              </a:defRPr>
            </a:lvl2pPr>
            <a:lvl3pPr marL="742950" indent="0" algn="ctr">
              <a:buNone/>
              <a:defRPr>
                <a:solidFill>
                  <a:schemeClr val="tx1">
                    <a:tint val="75000"/>
                  </a:schemeClr>
                </a:solidFill>
              </a:defRPr>
            </a:lvl3pPr>
            <a:lvl4pPr marL="1114425" indent="0" algn="ctr">
              <a:buNone/>
              <a:defRPr>
                <a:solidFill>
                  <a:schemeClr val="tx1">
                    <a:tint val="75000"/>
                  </a:schemeClr>
                </a:solidFill>
              </a:defRPr>
            </a:lvl4pPr>
            <a:lvl5pPr marL="1485900" indent="0" algn="ctr">
              <a:buNone/>
              <a:defRPr>
                <a:solidFill>
                  <a:schemeClr val="tx1">
                    <a:tint val="75000"/>
                  </a:schemeClr>
                </a:solidFill>
              </a:defRPr>
            </a:lvl5pPr>
            <a:lvl6pPr marL="1857375" indent="0" algn="ctr">
              <a:buNone/>
              <a:defRPr>
                <a:solidFill>
                  <a:schemeClr val="tx1">
                    <a:tint val="75000"/>
                  </a:schemeClr>
                </a:solidFill>
              </a:defRPr>
            </a:lvl6pPr>
            <a:lvl7pPr marL="2228850" indent="0" algn="ctr">
              <a:buNone/>
              <a:defRPr>
                <a:solidFill>
                  <a:schemeClr val="tx1">
                    <a:tint val="75000"/>
                  </a:schemeClr>
                </a:solidFill>
              </a:defRPr>
            </a:lvl7pPr>
            <a:lvl8pPr marL="2600325" indent="0" algn="ctr">
              <a:buNone/>
              <a:defRPr>
                <a:solidFill>
                  <a:schemeClr val="tx1">
                    <a:tint val="75000"/>
                  </a:schemeClr>
                </a:solidFill>
              </a:defRPr>
            </a:lvl8pPr>
            <a:lvl9pPr marL="2971800" indent="0" algn="ctr">
              <a:buNone/>
              <a:defRPr>
                <a:solidFill>
                  <a:schemeClr val="tx1">
                    <a:tint val="75000"/>
                  </a:schemeClr>
                </a:solidFill>
              </a:defRPr>
            </a:lvl9pPr>
          </a:lstStyle>
          <a:p>
            <a:r>
              <a:rPr lang="ko-KR" altLang="en-US"/>
              <a:t>마스터 부제목 스타일 편집</a:t>
            </a:r>
          </a:p>
        </p:txBody>
      </p:sp>
      <p:sp>
        <p:nvSpPr>
          <p:cNvPr id="4" name="직사각형 3"/>
          <p:cNvSpPr/>
          <p:nvPr userDrawn="1"/>
        </p:nvSpPr>
        <p:spPr>
          <a:xfrm>
            <a:off x="6825208" y="476671"/>
            <a:ext cx="2880320" cy="677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63"/>
          </a:p>
        </p:txBody>
      </p:sp>
    </p:spTree>
    <p:extLst>
      <p:ext uri="{BB962C8B-B14F-4D97-AF65-F5344CB8AC3E}">
        <p14:creationId xmlns:p14="http://schemas.microsoft.com/office/powerpoint/2010/main" val="39294568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Grp="1" noChangeArrowheads="1"/>
          </p:cNvSpPr>
          <p:nvPr>
            <p:ph type="title"/>
          </p:nvPr>
        </p:nvSpPr>
        <p:spPr bwMode="auto">
          <a:xfrm>
            <a:off x="279400" y="249240"/>
            <a:ext cx="89154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7" name="Rectangle 9"/>
          <p:cNvSpPr>
            <a:spLocks noGrp="1" noChangeArrowheads="1"/>
          </p:cNvSpPr>
          <p:nvPr>
            <p:ph type="body" idx="1"/>
          </p:nvPr>
        </p:nvSpPr>
        <p:spPr bwMode="auto">
          <a:xfrm>
            <a:off x="279400" y="905225"/>
            <a:ext cx="931386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ko-KR" altLang="en-US" dirty="0"/>
              <a:t>마스터 텍스트 스타일을 편집합니다</a:t>
            </a:r>
          </a:p>
        </p:txBody>
      </p:sp>
      <p:sp>
        <p:nvSpPr>
          <p:cNvPr id="1042" name="Rectangle 18"/>
          <p:cNvSpPr>
            <a:spLocks noGrp="1" noChangeArrowheads="1"/>
          </p:cNvSpPr>
          <p:nvPr>
            <p:ph type="sldNum" sz="quarter" idx="4"/>
          </p:nvPr>
        </p:nvSpPr>
        <p:spPr bwMode="auto">
          <a:xfrm>
            <a:off x="4706698" y="6511926"/>
            <a:ext cx="484427" cy="276999"/>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algn="r" latinLnBrk="0">
              <a:defRPr kumimoji="0" sz="1200" b="1">
                <a:solidFill>
                  <a:srgbClr val="0C2678"/>
                </a:solidFill>
                <a:latin typeface="Verdana" pitchFamily="34" charset="0"/>
                <a:ea typeface="굴림" pitchFamily="50" charset="-127"/>
              </a:defRPr>
            </a:lvl1pPr>
          </a:lstStyle>
          <a:p>
            <a:pPr fontAlgn="base">
              <a:spcBef>
                <a:spcPct val="0"/>
              </a:spcBef>
              <a:spcAft>
                <a:spcPct val="0"/>
              </a:spcAft>
              <a:defRPr/>
            </a:pPr>
            <a:fld id="{26205B4B-C653-40FC-92E6-46EB48D516D1}" type="slidenum">
              <a:rPr lang="en-US" altLang="ko-KR"/>
              <a:pPr fontAlgn="base">
                <a:spcBef>
                  <a:spcPct val="0"/>
                </a:spcBef>
                <a:spcAft>
                  <a:spcPct val="0"/>
                </a:spcAft>
                <a:defRPr/>
              </a:pPr>
              <a:t>‹#›</a:t>
            </a:fld>
            <a:endParaRPr lang="en-US" altLang="ko-KR"/>
          </a:p>
        </p:txBody>
      </p:sp>
      <p:pic>
        <p:nvPicPr>
          <p:cNvPr id="2" name="그림 1"/>
          <p:cNvPicPr>
            <a:picLocks noChangeAspect="1"/>
          </p:cNvPicPr>
          <p:nvPr userDrawn="1"/>
        </p:nvPicPr>
        <p:blipFill rotWithShape="1">
          <a:blip r:embed="rId6">
            <a:extLst>
              <a:ext uri="{28A0092B-C50C-407E-A947-70E740481C1C}">
                <a14:useLocalDpi xmlns:a14="http://schemas.microsoft.com/office/drawing/2010/main" val="0"/>
              </a:ext>
            </a:extLst>
          </a:blip>
          <a:srcRect t="32362"/>
          <a:stretch/>
        </p:blipFill>
        <p:spPr>
          <a:xfrm>
            <a:off x="8121352" y="6525344"/>
            <a:ext cx="1656184" cy="263581"/>
          </a:xfrm>
          <a:prstGeom prst="rect">
            <a:avLst/>
          </a:prstGeom>
        </p:spPr>
      </p:pic>
    </p:spTree>
    <p:extLst>
      <p:ext uri="{BB962C8B-B14F-4D97-AF65-F5344CB8AC3E}">
        <p14:creationId xmlns:p14="http://schemas.microsoft.com/office/powerpoint/2010/main" val="26318091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l" rtl="0" eaLnBrk="0" fontAlgn="base" latinLnBrk="1" hangingPunct="0">
        <a:spcBef>
          <a:spcPct val="0"/>
        </a:spcBef>
        <a:spcAft>
          <a:spcPct val="0"/>
        </a:spcAft>
        <a:defRPr kumimoji="1" sz="2000">
          <a:solidFill>
            <a:srgbClr val="000066"/>
          </a:solidFill>
          <a:latin typeface="+mj-lt"/>
          <a:ea typeface="+mj-ea"/>
          <a:cs typeface="+mj-cs"/>
        </a:defRPr>
      </a:lvl1pPr>
      <a:lvl2pPr algn="l" rtl="0" eaLnBrk="0" fontAlgn="base" latinLnBrk="1" hangingPunct="0">
        <a:spcBef>
          <a:spcPct val="0"/>
        </a:spcBef>
        <a:spcAft>
          <a:spcPct val="0"/>
        </a:spcAft>
        <a:defRPr kumimoji="1" sz="2000">
          <a:solidFill>
            <a:srgbClr val="000066"/>
          </a:solidFill>
          <a:latin typeface="HY헤드라인M" pitchFamily="18" charset="-127"/>
          <a:ea typeface="HY헤드라인M" pitchFamily="18" charset="-127"/>
        </a:defRPr>
      </a:lvl2pPr>
      <a:lvl3pPr algn="l" rtl="0" eaLnBrk="0" fontAlgn="base" latinLnBrk="1" hangingPunct="0">
        <a:spcBef>
          <a:spcPct val="0"/>
        </a:spcBef>
        <a:spcAft>
          <a:spcPct val="0"/>
        </a:spcAft>
        <a:defRPr kumimoji="1" sz="2000">
          <a:solidFill>
            <a:srgbClr val="000066"/>
          </a:solidFill>
          <a:latin typeface="HY헤드라인M" pitchFamily="18" charset="-127"/>
          <a:ea typeface="HY헤드라인M" pitchFamily="18" charset="-127"/>
        </a:defRPr>
      </a:lvl3pPr>
      <a:lvl4pPr algn="l" rtl="0" eaLnBrk="0" fontAlgn="base" latinLnBrk="1" hangingPunct="0">
        <a:spcBef>
          <a:spcPct val="0"/>
        </a:spcBef>
        <a:spcAft>
          <a:spcPct val="0"/>
        </a:spcAft>
        <a:defRPr kumimoji="1" sz="2000">
          <a:solidFill>
            <a:srgbClr val="000066"/>
          </a:solidFill>
          <a:latin typeface="HY헤드라인M" pitchFamily="18" charset="-127"/>
          <a:ea typeface="HY헤드라인M" pitchFamily="18" charset="-127"/>
        </a:defRPr>
      </a:lvl4pPr>
      <a:lvl5pPr algn="l" rtl="0" eaLnBrk="0" fontAlgn="base" latinLnBrk="1" hangingPunct="0">
        <a:spcBef>
          <a:spcPct val="0"/>
        </a:spcBef>
        <a:spcAft>
          <a:spcPct val="0"/>
        </a:spcAft>
        <a:defRPr kumimoji="1" sz="2000">
          <a:solidFill>
            <a:srgbClr val="000066"/>
          </a:solidFill>
          <a:latin typeface="HY헤드라인M" pitchFamily="18" charset="-127"/>
          <a:ea typeface="HY헤드라인M" pitchFamily="18" charset="-127"/>
        </a:defRPr>
      </a:lvl5pPr>
      <a:lvl6pPr marL="457200" algn="l" rtl="0" fontAlgn="base" latinLnBrk="1">
        <a:spcBef>
          <a:spcPct val="0"/>
        </a:spcBef>
        <a:spcAft>
          <a:spcPct val="0"/>
        </a:spcAft>
        <a:defRPr kumimoji="1" sz="2000">
          <a:solidFill>
            <a:srgbClr val="000066"/>
          </a:solidFill>
          <a:latin typeface="HY헤드라인M" pitchFamily="18" charset="-127"/>
          <a:ea typeface="HY헤드라인M" pitchFamily="18" charset="-127"/>
        </a:defRPr>
      </a:lvl6pPr>
      <a:lvl7pPr marL="914400" algn="l" rtl="0" fontAlgn="base" latinLnBrk="1">
        <a:spcBef>
          <a:spcPct val="0"/>
        </a:spcBef>
        <a:spcAft>
          <a:spcPct val="0"/>
        </a:spcAft>
        <a:defRPr kumimoji="1" sz="2000">
          <a:solidFill>
            <a:srgbClr val="000066"/>
          </a:solidFill>
          <a:latin typeface="HY헤드라인M" pitchFamily="18" charset="-127"/>
          <a:ea typeface="HY헤드라인M" pitchFamily="18" charset="-127"/>
        </a:defRPr>
      </a:lvl7pPr>
      <a:lvl8pPr marL="1371600" algn="l" rtl="0" fontAlgn="base" latinLnBrk="1">
        <a:spcBef>
          <a:spcPct val="0"/>
        </a:spcBef>
        <a:spcAft>
          <a:spcPct val="0"/>
        </a:spcAft>
        <a:defRPr kumimoji="1" sz="2000">
          <a:solidFill>
            <a:srgbClr val="000066"/>
          </a:solidFill>
          <a:latin typeface="HY헤드라인M" pitchFamily="18" charset="-127"/>
          <a:ea typeface="HY헤드라인M" pitchFamily="18" charset="-127"/>
        </a:defRPr>
      </a:lvl8pPr>
      <a:lvl9pPr marL="1828800" algn="l" rtl="0" fontAlgn="base" latinLnBrk="1">
        <a:spcBef>
          <a:spcPct val="0"/>
        </a:spcBef>
        <a:spcAft>
          <a:spcPct val="0"/>
        </a:spcAft>
        <a:defRPr kumimoji="1" sz="2000">
          <a:solidFill>
            <a:srgbClr val="000066"/>
          </a:solidFill>
          <a:latin typeface="HY헤드라인M" pitchFamily="18" charset="-127"/>
          <a:ea typeface="HY헤드라인M" pitchFamily="18" charset="-127"/>
        </a:defRPr>
      </a:lvl9pPr>
    </p:titleStyle>
    <p:bodyStyle>
      <a:lvl1pPr marL="342900" indent="-342900" algn="l" rtl="0" eaLnBrk="0" fontAlgn="base" hangingPunct="0">
        <a:lnSpc>
          <a:spcPct val="110000"/>
        </a:lnSpc>
        <a:spcBef>
          <a:spcPct val="0"/>
        </a:spcBef>
        <a:spcAft>
          <a:spcPct val="0"/>
        </a:spcAft>
        <a:buChar char="•"/>
        <a:tabLst>
          <a:tab pos="5715000" algn="l"/>
        </a:tabLst>
        <a:defRPr sz="1600">
          <a:solidFill>
            <a:srgbClr val="000000"/>
          </a:solidFill>
          <a:latin typeface="HY견고딕" pitchFamily="18" charset="-127"/>
          <a:ea typeface="HY견고딕" pitchFamily="18" charset="-127"/>
          <a:cs typeface="+mn-cs"/>
        </a:defRPr>
      </a:lvl1pPr>
      <a:lvl2pPr marL="460375" indent="-190500" algn="l" rtl="0" eaLnBrk="0" fontAlgn="base" latinLnBrk="1" hangingPunct="0">
        <a:spcBef>
          <a:spcPct val="20000"/>
        </a:spcBef>
        <a:spcAft>
          <a:spcPct val="0"/>
        </a:spcAft>
        <a:buChar char="–"/>
        <a:tabLst>
          <a:tab pos="5715000" algn="l"/>
        </a:tabLst>
        <a:defRPr kumimoji="1" sz="2800">
          <a:solidFill>
            <a:schemeClr val="tx1"/>
          </a:solidFill>
          <a:latin typeface="+mn-lt"/>
          <a:ea typeface="+mn-ea"/>
        </a:defRPr>
      </a:lvl2pPr>
      <a:lvl3pPr marL="830263" indent="-190500" algn="l" rtl="0" eaLnBrk="0" fontAlgn="base" latinLnBrk="1" hangingPunct="0">
        <a:spcBef>
          <a:spcPct val="20000"/>
        </a:spcBef>
        <a:spcAft>
          <a:spcPct val="0"/>
        </a:spcAft>
        <a:buChar char="•"/>
        <a:tabLst>
          <a:tab pos="5715000" algn="l"/>
        </a:tabLst>
        <a:defRPr kumimoji="1" sz="2400">
          <a:solidFill>
            <a:schemeClr val="tx1"/>
          </a:solidFill>
          <a:latin typeface="+mn-lt"/>
          <a:ea typeface="+mn-ea"/>
        </a:defRPr>
      </a:lvl3pPr>
      <a:lvl4pPr marL="1204913" indent="-195263" algn="l" rtl="0" eaLnBrk="0" fontAlgn="base" latinLnBrk="1" hangingPunct="0">
        <a:spcBef>
          <a:spcPct val="20000"/>
        </a:spcBef>
        <a:spcAft>
          <a:spcPct val="0"/>
        </a:spcAft>
        <a:buChar char="–"/>
        <a:tabLst>
          <a:tab pos="5715000" algn="l"/>
        </a:tabLst>
        <a:defRPr kumimoji="1" sz="2000">
          <a:solidFill>
            <a:schemeClr val="tx1"/>
          </a:solidFill>
          <a:latin typeface="+mn-lt"/>
          <a:ea typeface="+mn-ea"/>
        </a:defRPr>
      </a:lvl4pPr>
      <a:lvl5pPr marL="1571625" indent="-187325" algn="l" rtl="0" eaLnBrk="0" fontAlgn="base" latinLnBrk="1" hangingPunct="0">
        <a:spcBef>
          <a:spcPct val="20000"/>
        </a:spcBef>
        <a:spcAft>
          <a:spcPct val="0"/>
        </a:spcAft>
        <a:buChar char="»"/>
        <a:tabLst>
          <a:tab pos="5715000" algn="l"/>
        </a:tabLst>
        <a:defRPr kumimoji="1" sz="2000">
          <a:solidFill>
            <a:schemeClr val="tx1"/>
          </a:solidFill>
          <a:latin typeface="+mn-lt"/>
          <a:ea typeface="+mn-ea"/>
        </a:defRPr>
      </a:lvl5pPr>
      <a:lvl6pPr marL="2028825" indent="-187325" algn="l" rtl="0" fontAlgn="base" latinLnBrk="1">
        <a:spcBef>
          <a:spcPct val="20000"/>
        </a:spcBef>
        <a:spcAft>
          <a:spcPct val="0"/>
        </a:spcAft>
        <a:buChar char="»"/>
        <a:tabLst>
          <a:tab pos="5715000" algn="l"/>
        </a:tabLst>
        <a:defRPr kumimoji="1" sz="2000">
          <a:solidFill>
            <a:schemeClr val="tx1"/>
          </a:solidFill>
          <a:latin typeface="+mn-lt"/>
          <a:ea typeface="+mn-ea"/>
        </a:defRPr>
      </a:lvl6pPr>
      <a:lvl7pPr marL="2486025" indent="-187325" algn="l" rtl="0" fontAlgn="base" latinLnBrk="1">
        <a:spcBef>
          <a:spcPct val="20000"/>
        </a:spcBef>
        <a:spcAft>
          <a:spcPct val="0"/>
        </a:spcAft>
        <a:buChar char="»"/>
        <a:tabLst>
          <a:tab pos="5715000" algn="l"/>
        </a:tabLst>
        <a:defRPr kumimoji="1" sz="2000">
          <a:solidFill>
            <a:schemeClr val="tx1"/>
          </a:solidFill>
          <a:latin typeface="+mn-lt"/>
          <a:ea typeface="+mn-ea"/>
        </a:defRPr>
      </a:lvl7pPr>
      <a:lvl8pPr marL="2943225" indent="-187325" algn="l" rtl="0" fontAlgn="base" latinLnBrk="1">
        <a:spcBef>
          <a:spcPct val="20000"/>
        </a:spcBef>
        <a:spcAft>
          <a:spcPct val="0"/>
        </a:spcAft>
        <a:buChar char="»"/>
        <a:tabLst>
          <a:tab pos="5715000" algn="l"/>
        </a:tabLst>
        <a:defRPr kumimoji="1" sz="2000">
          <a:solidFill>
            <a:schemeClr val="tx1"/>
          </a:solidFill>
          <a:latin typeface="+mn-lt"/>
          <a:ea typeface="+mn-ea"/>
        </a:defRPr>
      </a:lvl8pPr>
      <a:lvl9pPr marL="3400425" indent="-187325" algn="l" rtl="0" fontAlgn="base" latinLnBrk="1">
        <a:spcBef>
          <a:spcPct val="20000"/>
        </a:spcBef>
        <a:spcAft>
          <a:spcPct val="0"/>
        </a:spcAft>
        <a:buChar char="»"/>
        <a:tabLst>
          <a:tab pos="5715000" algn="l"/>
        </a:tabLst>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idx.co.id/StaticData/NewsAndAnnouncement/ANNOUNCEMENTSTOCK/From_EREP/201904/20190430212600-14251-0/Krakatau_Steel_Bilingual-US%20Dollar_31_Mar_2019_Released.pdf" TargetMode="External"/><Relationship Id="rId3" Type="http://schemas.openxmlformats.org/officeDocument/2006/relationships/hyperlink" Target="https://www.bauer.uh.edu/rsusmel/7386/ln8.pdf" TargetMode="External"/><Relationship Id="rId7" Type="http://schemas.openxmlformats.org/officeDocument/2006/relationships/hyperlink" Target="https://www.abnrlaw.com/en/news/bi-regulation-on-hedging-transactions" TargetMode="External"/><Relationship Id="rId12" Type="http://schemas.openxmlformats.org/officeDocument/2006/relationships/hyperlink" Target="https://doi.org/10.61194/ijat.v2i3.638"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doi.org/10.1016/0261-5606(93)90008-Y" TargetMode="External"/><Relationship Id="rId11" Type="http://schemas.openxmlformats.org/officeDocument/2006/relationships/hyperlink" Target="https://ejournal.uin-malang.ac.id/index.php/mec/article/view/5017" TargetMode="External"/><Relationship Id="rId5" Type="http://schemas.openxmlformats.org/officeDocument/2006/relationships/hyperlink" Target="https://doi.org/10.2139/ssrn.1292406" TargetMode="External"/><Relationship Id="rId10" Type="http://schemas.openxmlformats.org/officeDocument/2006/relationships/hyperlink" Target="https://www.beritasatu.com/ekonomi/208561/pt-krakatau-steel-lindungi-nilai-tukar-lewat-transaksi-lindung-nilai-hedging" TargetMode="External"/><Relationship Id="rId4" Type="http://schemas.openxmlformats.org/officeDocument/2006/relationships/hyperlink" Target="https://doi.org/10.30574/wjarr.2025.25.2.0482" TargetMode="External"/><Relationship Id="rId9" Type="http://schemas.openxmlformats.org/officeDocument/2006/relationships/hyperlink" Target="https://www.elibrary.imf.org/view/journals/002/2024/272/article-A001-en.xml"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부제목 4"/>
          <p:cNvSpPr>
            <a:spLocks noGrp="1"/>
          </p:cNvSpPr>
          <p:nvPr>
            <p:ph type="subTitle" idx="1"/>
          </p:nvPr>
        </p:nvSpPr>
        <p:spPr>
          <a:xfrm>
            <a:off x="2270698" y="3933056"/>
            <a:ext cx="5364596" cy="1296144"/>
          </a:xfrm>
        </p:spPr>
        <p:txBody>
          <a:bodyPr>
            <a:noAutofit/>
          </a:bodyPr>
          <a:lstStyle/>
          <a:p>
            <a:pPr algn="ctr">
              <a:lnSpc>
                <a:spcPct val="150000"/>
              </a:lnSpc>
            </a:pPr>
            <a:r>
              <a:rPr lang="en-US" altLang="ko-KR" sz="2000" dirty="0">
                <a:solidFill>
                  <a:schemeClr val="tx1"/>
                </a:solidFill>
                <a:latin typeface="Arial" panose="020B0604020202020204" pitchFamily="34" charset="0"/>
                <a:ea typeface="맑은 고딕" panose="020B0503020000020004" pitchFamily="50" charset="-127"/>
                <a:cs typeface="Arial" panose="020B0604020202020204" pitchFamily="34" charset="0"/>
              </a:rPr>
              <a:t>M.S. in Management in the Steel Industry</a:t>
            </a:r>
          </a:p>
          <a:p>
            <a:pPr algn="ctr">
              <a:lnSpc>
                <a:spcPct val="150000"/>
              </a:lnSpc>
            </a:pPr>
            <a:r>
              <a:rPr lang="en-US" altLang="ko-KR" sz="2000" b="1" dirty="0">
                <a:solidFill>
                  <a:schemeClr val="tx1"/>
                </a:solidFill>
                <a:latin typeface="Arial" panose="020B0604020202020204" pitchFamily="34" charset="0"/>
                <a:ea typeface="맑은 고딕" panose="020B0503020000020004" pitchFamily="50" charset="-127"/>
                <a:cs typeface="Arial" panose="020B0604020202020204" pitchFamily="34" charset="0"/>
              </a:rPr>
              <a:t>Name: </a:t>
            </a:r>
            <a:r>
              <a:rPr lang="en-US" altLang="ko-KR" sz="2000" b="1" dirty="0" err="1">
                <a:solidFill>
                  <a:schemeClr val="tx1"/>
                </a:solidFill>
                <a:latin typeface="Arial" panose="020B0604020202020204" pitchFamily="34" charset="0"/>
                <a:ea typeface="맑은 고딕" panose="020B0503020000020004" pitchFamily="50" charset="-127"/>
                <a:cs typeface="Arial" panose="020B0604020202020204" pitchFamily="34" charset="0"/>
              </a:rPr>
              <a:t>Kalapie</a:t>
            </a:r>
            <a:r>
              <a:rPr lang="en-US" altLang="ko-KR" sz="2000" b="1" dirty="0">
                <a:solidFill>
                  <a:schemeClr val="tx1"/>
                </a:solidFill>
                <a:latin typeface="Arial" panose="020B0604020202020204" pitchFamily="34" charset="0"/>
                <a:ea typeface="맑은 고딕" panose="020B0503020000020004" pitchFamily="50" charset="-127"/>
                <a:cs typeface="Arial" panose="020B0604020202020204" pitchFamily="34" charset="0"/>
              </a:rPr>
              <a:t> </a:t>
            </a:r>
            <a:r>
              <a:rPr lang="en-US" altLang="ko-KR" sz="2000" b="1" dirty="0" err="1">
                <a:solidFill>
                  <a:schemeClr val="tx1"/>
                </a:solidFill>
                <a:latin typeface="Arial" panose="020B0604020202020204" pitchFamily="34" charset="0"/>
                <a:ea typeface="맑은 고딕" panose="020B0503020000020004" pitchFamily="50" charset="-127"/>
                <a:cs typeface="Arial" panose="020B0604020202020204" pitchFamily="34" charset="0"/>
              </a:rPr>
              <a:t>Astragina</a:t>
            </a:r>
            <a:r>
              <a:rPr lang="en-US" altLang="ko-KR" sz="2000" b="1" dirty="0">
                <a:solidFill>
                  <a:schemeClr val="tx1"/>
                </a:solidFill>
                <a:latin typeface="Arial" panose="020B0604020202020204" pitchFamily="34" charset="0"/>
                <a:ea typeface="맑은 고딕" panose="020B0503020000020004" pitchFamily="50" charset="-127"/>
                <a:cs typeface="Arial" panose="020B0604020202020204" pitchFamily="34" charset="0"/>
              </a:rPr>
              <a:t> (20252185)</a:t>
            </a:r>
          </a:p>
        </p:txBody>
      </p:sp>
      <p:sp>
        <p:nvSpPr>
          <p:cNvPr id="7" name="TextBox 6"/>
          <p:cNvSpPr txBox="1"/>
          <p:nvPr/>
        </p:nvSpPr>
        <p:spPr>
          <a:xfrm>
            <a:off x="348335" y="1628800"/>
            <a:ext cx="9141170" cy="1754326"/>
          </a:xfrm>
          <a:prstGeom prst="rect">
            <a:avLst/>
          </a:prstGeom>
          <a:noFill/>
        </p:spPr>
        <p:txBody>
          <a:bodyPr wrap="square" rtlCol="0">
            <a:spAutoFit/>
          </a:bodyPr>
          <a:lstStyle/>
          <a:p>
            <a:pPr algn="ctr">
              <a:lnSpc>
                <a:spcPct val="150000"/>
              </a:lnSpc>
            </a:pPr>
            <a:r>
              <a:rPr lang="en-US" sz="2400" b="1" dirty="0" smtClean="0">
                <a:latin typeface="Arial" panose="020B0604020202020204" pitchFamily="34" charset="0"/>
                <a:cs typeface="Arial" panose="020B0604020202020204" pitchFamily="34" charset="0"/>
              </a:rPr>
              <a:t>Foreign </a:t>
            </a:r>
            <a:r>
              <a:rPr lang="en-US" sz="2400" b="1" dirty="0">
                <a:latin typeface="Arial" panose="020B0604020202020204" pitchFamily="34" charset="0"/>
                <a:cs typeface="Arial" panose="020B0604020202020204" pitchFamily="34" charset="0"/>
              </a:rPr>
              <a:t>Exchange Risk Management and Its Impact on </a:t>
            </a:r>
          </a:p>
          <a:p>
            <a:pPr algn="ctr">
              <a:lnSpc>
                <a:spcPct val="150000"/>
              </a:lnSpc>
            </a:pPr>
            <a:r>
              <a:rPr lang="en-US" sz="2400" b="1" dirty="0">
                <a:latin typeface="Arial" panose="020B0604020202020204" pitchFamily="34" charset="0"/>
                <a:cs typeface="Arial" panose="020B0604020202020204" pitchFamily="34" charset="0"/>
              </a:rPr>
              <a:t>Financial Performance in Indonesia Steel </a:t>
            </a:r>
            <a:r>
              <a:rPr lang="en-US" sz="2400" b="1" dirty="0" smtClean="0">
                <a:latin typeface="Arial" panose="020B0604020202020204" pitchFamily="34" charset="0"/>
                <a:cs typeface="Arial" panose="020B0604020202020204" pitchFamily="34" charset="0"/>
              </a:rPr>
              <a:t>Industry: </a:t>
            </a:r>
          </a:p>
          <a:p>
            <a:pPr algn="ctr">
              <a:lnSpc>
                <a:spcPct val="150000"/>
              </a:lnSpc>
            </a:pPr>
            <a:r>
              <a:rPr lang="en-US" sz="2400" b="1" dirty="0" smtClean="0">
                <a:latin typeface="Arial" panose="020B0604020202020204" pitchFamily="34" charset="0"/>
                <a:cs typeface="Arial" panose="020B0604020202020204" pitchFamily="34" charset="0"/>
              </a:rPr>
              <a:t>A </a:t>
            </a:r>
            <a:r>
              <a:rPr lang="en-US" sz="2400" b="1" dirty="0">
                <a:latin typeface="Arial" panose="020B0604020202020204" pitchFamily="34" charset="0"/>
                <a:cs typeface="Arial" panose="020B0604020202020204" pitchFamily="34" charset="0"/>
              </a:rPr>
              <a:t>Case </a:t>
            </a:r>
            <a:r>
              <a:rPr lang="en-US" sz="2400" b="1" dirty="0" smtClean="0">
                <a:latin typeface="Arial" panose="020B0604020202020204" pitchFamily="34" charset="0"/>
                <a:cs typeface="Arial" panose="020B0604020202020204" pitchFamily="34" charset="0"/>
              </a:rPr>
              <a:t>Study </a:t>
            </a:r>
            <a:r>
              <a:rPr lang="en-US" sz="2400" b="1" dirty="0">
                <a:latin typeface="Arial" panose="020B0604020202020204" pitchFamily="34" charset="0"/>
                <a:cs typeface="Arial" panose="020B0604020202020204" pitchFamily="34" charset="0"/>
              </a:rPr>
              <a:t>of PT Krakatau Steel (Persero) </a:t>
            </a:r>
            <a:r>
              <a:rPr lang="en-US" sz="2400" b="1" dirty="0" err="1" smtClean="0">
                <a:latin typeface="Arial" panose="020B0604020202020204" pitchFamily="34" charset="0"/>
                <a:cs typeface="Arial" panose="020B0604020202020204" pitchFamily="34" charset="0"/>
              </a:rPr>
              <a:t>Tbk</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3953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116632"/>
            <a:ext cx="8915400" cy="485775"/>
          </a:xfrm>
        </p:spPr>
        <p:txBody>
          <a:bodyPr/>
          <a:lstStyle/>
          <a:p>
            <a:pPr eaLnBrk="1" hangingPunct="1"/>
            <a:r>
              <a:rPr lang="en-US" altLang="ko-KR" sz="2400" kern="1200" dirty="0">
                <a:solidFill>
                  <a:schemeClr val="tx1">
                    <a:lumMod val="75000"/>
                    <a:lumOff val="25000"/>
                  </a:schemeClr>
                </a:solidFill>
                <a:latin typeface="Arial" panose="020B0604020202020204" pitchFamily="34" charset="0"/>
                <a:ea typeface="HY견고딕" panose="02030600000101010101" pitchFamily="18" charset="-127"/>
                <a:cs typeface="Arial" panose="020B0604020202020204" pitchFamily="34" charset="0"/>
              </a:rPr>
              <a:t>What is Research Proposal ? </a:t>
            </a:r>
            <a:endParaRPr lang="ko-KR" altLang="en-US" sz="2400" kern="1200" dirty="0">
              <a:solidFill>
                <a:schemeClr val="tx1">
                  <a:lumMod val="75000"/>
                  <a:lumOff val="25000"/>
                </a:schemeClr>
              </a:solidFill>
              <a:latin typeface="Arial" panose="020B0604020202020204" pitchFamily="34" charset="0"/>
              <a:ea typeface="HY견고딕" panose="02030600000101010101" pitchFamily="18" charset="-127"/>
              <a:cs typeface="Arial" panose="020B0604020202020204" pitchFamily="34" charset="0"/>
            </a:endParaRPr>
          </a:p>
        </p:txBody>
      </p:sp>
      <p:sp>
        <p:nvSpPr>
          <p:cNvPr id="6" name="TextBox 5">
            <a:extLst>
              <a:ext uri="{FF2B5EF4-FFF2-40B4-BE49-F238E27FC236}">
                <a16:creationId xmlns:a16="http://schemas.microsoft.com/office/drawing/2014/main" id="{F1939070-D0EC-1377-D9E5-50C378A585F9}"/>
              </a:ext>
            </a:extLst>
          </p:cNvPr>
          <p:cNvSpPr txBox="1"/>
          <p:nvPr/>
        </p:nvSpPr>
        <p:spPr>
          <a:xfrm>
            <a:off x="769740" y="1340768"/>
            <a:ext cx="7632848" cy="3416320"/>
          </a:xfrm>
          <a:prstGeom prst="rect">
            <a:avLst/>
          </a:prstGeom>
          <a:noFill/>
        </p:spPr>
        <p:txBody>
          <a:bodyPr wrap="square">
            <a:spAutoFit/>
          </a:bodyPr>
          <a:lstStyle/>
          <a:p>
            <a:pPr>
              <a:lnSpc>
                <a:spcPct val="150000"/>
              </a:lnSpc>
            </a:pPr>
            <a:r>
              <a:rPr lang="en-US" altLang="ko-KR" b="0" i="0" dirty="0">
                <a:solidFill>
                  <a:srgbClr val="2D2D2D"/>
                </a:solidFill>
                <a:effectLst/>
                <a:latin typeface="Arial" panose="020B0604020202020204" pitchFamily="34" charset="0"/>
                <a:cs typeface="Arial" panose="020B0604020202020204" pitchFamily="34" charset="0"/>
              </a:rPr>
              <a:t>“</a:t>
            </a:r>
            <a:r>
              <a:rPr lang="en-US" altLang="ko-KR" b="0" i="1" dirty="0">
                <a:solidFill>
                  <a:srgbClr val="2D2D2D"/>
                </a:solidFill>
                <a:effectLst/>
                <a:latin typeface="Arial" panose="020B0604020202020204" pitchFamily="34" charset="0"/>
                <a:cs typeface="Arial" panose="020B0604020202020204" pitchFamily="34" charset="0"/>
              </a:rPr>
              <a:t>A research proposal is a structured document that describes your research topic and explains how you plan to investigate </a:t>
            </a:r>
            <a:r>
              <a:rPr lang="en-US" altLang="ko-KR" i="1" dirty="0">
                <a:solidFill>
                  <a:srgbClr val="2D2D2D"/>
                </a:solidFill>
                <a:latin typeface="Arial" panose="020B0604020202020204" pitchFamily="34" charset="0"/>
                <a:cs typeface="Arial" panose="020B0604020202020204" pitchFamily="34" charset="0"/>
              </a:rPr>
              <a:t>your </a:t>
            </a:r>
            <a:r>
              <a:rPr lang="en-US" altLang="ko-KR" b="0" i="1" dirty="0">
                <a:solidFill>
                  <a:srgbClr val="2D2D2D"/>
                </a:solidFill>
                <a:effectLst/>
                <a:latin typeface="Arial" panose="020B0604020202020204" pitchFamily="34" charset="0"/>
                <a:cs typeface="Arial" panose="020B0604020202020204" pitchFamily="34" charset="0"/>
              </a:rPr>
              <a:t>research question.</a:t>
            </a:r>
          </a:p>
          <a:p>
            <a:pPr>
              <a:lnSpc>
                <a:spcPct val="150000"/>
              </a:lnSpc>
            </a:pPr>
            <a:endParaRPr lang="en-US" altLang="ko-KR" i="1" dirty="0">
              <a:solidFill>
                <a:srgbClr val="2D2D2D"/>
              </a:solidFill>
              <a:latin typeface="Arial" panose="020B0604020202020204" pitchFamily="34" charset="0"/>
              <a:cs typeface="Arial" panose="020B0604020202020204" pitchFamily="34" charset="0"/>
            </a:endParaRPr>
          </a:p>
          <a:p>
            <a:pPr>
              <a:lnSpc>
                <a:spcPct val="150000"/>
              </a:lnSpc>
            </a:pPr>
            <a:r>
              <a:rPr lang="en-US" altLang="ko-KR" b="0" i="1" dirty="0">
                <a:solidFill>
                  <a:srgbClr val="2D2D2D"/>
                </a:solidFill>
                <a:effectLst/>
                <a:latin typeface="Arial" panose="020B0604020202020204" pitchFamily="34" charset="0"/>
                <a:cs typeface="Arial" panose="020B0604020202020204" pitchFamily="34" charset="0"/>
              </a:rPr>
              <a:t>Your research proposal should include primary objectives of your project, </a:t>
            </a:r>
          </a:p>
          <a:p>
            <a:pPr>
              <a:lnSpc>
                <a:spcPct val="150000"/>
              </a:lnSpc>
            </a:pPr>
            <a:r>
              <a:rPr lang="en-US" altLang="ko-KR" b="0" i="1" dirty="0">
                <a:solidFill>
                  <a:srgbClr val="2D2D2D"/>
                </a:solidFill>
                <a:effectLst/>
                <a:latin typeface="Arial" panose="020B0604020202020204" pitchFamily="34" charset="0"/>
                <a:cs typeface="Arial" panose="020B0604020202020204" pitchFamily="34" charset="0"/>
              </a:rPr>
              <a:t>a projected answer, which is hypothesis, to your inquiry, methodologies you plan to use, and </a:t>
            </a:r>
            <a:r>
              <a:rPr lang="en-US" altLang="ko-KR" b="1" i="1" u="sng" dirty="0">
                <a:solidFill>
                  <a:srgbClr val="2D2D2D"/>
                </a:solidFill>
                <a:effectLst/>
                <a:latin typeface="Arial" panose="020B0604020202020204" pitchFamily="34" charset="0"/>
                <a:cs typeface="Arial" panose="020B0604020202020204" pitchFamily="34" charset="0"/>
              </a:rPr>
              <a:t>how your research may bring new insights into the </a:t>
            </a:r>
            <a:r>
              <a:rPr lang="en-US" altLang="ko-KR" b="1" i="1" u="sng" dirty="0">
                <a:solidFill>
                  <a:srgbClr val="2D2D2D"/>
                </a:solidFill>
                <a:latin typeface="Arial" panose="020B0604020202020204" pitchFamily="34" charset="0"/>
                <a:cs typeface="Arial" panose="020B0604020202020204" pitchFamily="34" charset="0"/>
              </a:rPr>
              <a:t>global steel industry</a:t>
            </a:r>
            <a:r>
              <a:rPr lang="en-US" altLang="ko-KR" b="1" i="1" dirty="0">
                <a:solidFill>
                  <a:srgbClr val="2D2D2D"/>
                </a:solidFill>
                <a:latin typeface="Arial" panose="020B0604020202020204" pitchFamily="34" charset="0"/>
                <a:cs typeface="Arial" panose="020B0604020202020204" pitchFamily="34" charset="0"/>
              </a:rPr>
              <a:t>.”</a:t>
            </a:r>
            <a:endParaRPr lang="ko-KR" altLang="en-US" b="1" i="1" dirty="0">
              <a:solidFill>
                <a:srgbClr val="2D2D2D"/>
              </a:solidFill>
              <a:latin typeface="Arial" panose="020B0604020202020204" pitchFamily="34" charset="0"/>
              <a:cs typeface="Arial" panose="020B0604020202020204" pitchFamily="34" charset="0"/>
            </a:endParaRPr>
          </a:p>
        </p:txBody>
      </p:sp>
      <p:sp>
        <p:nvSpPr>
          <p:cNvPr id="7" name="슬라이드 번호 개체 틀 2"/>
          <p:cNvSpPr>
            <a:spLocks noGrp="1"/>
          </p:cNvSpPr>
          <p:nvPr>
            <p:ph type="sldNum" sz="quarter" idx="13"/>
          </p:nvPr>
        </p:nvSpPr>
        <p:spPr>
          <a:xfrm>
            <a:off x="4736977" y="6381328"/>
            <a:ext cx="492444"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2</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Tree>
    <p:extLst>
      <p:ext uri="{BB962C8B-B14F-4D97-AF65-F5344CB8AC3E}">
        <p14:creationId xmlns:p14="http://schemas.microsoft.com/office/powerpoint/2010/main" val="852114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9"/>
          <p:cNvSpPr txBox="1">
            <a:spLocks/>
          </p:cNvSpPr>
          <p:nvPr/>
        </p:nvSpPr>
        <p:spPr>
          <a:xfrm>
            <a:off x="250348" y="116632"/>
            <a:ext cx="3838556"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chemeClr val="tx1">
                    <a:lumMod val="75000"/>
                    <a:lumOff val="25000"/>
                  </a:schemeClr>
                </a:solidFill>
                <a:latin typeface="Arial" panose="020B0604020202020204" pitchFamily="34" charset="0"/>
                <a:ea typeface="HY견고딕" panose="02030600000101010101" pitchFamily="18" charset="-127"/>
                <a:cs typeface="Arial" panose="020B0604020202020204" pitchFamily="34" charset="0"/>
              </a:rPr>
              <a:t>Table of Contents</a:t>
            </a:r>
            <a:endParaRPr lang="ko-KR" altLang="en-US" b="0" dirty="0">
              <a:solidFill>
                <a:schemeClr val="tx1">
                  <a:lumMod val="75000"/>
                  <a:lumOff val="25000"/>
                </a:schemeClr>
              </a:solidFill>
              <a:latin typeface="Arial" panose="020B0604020202020204" pitchFamily="34" charset="0"/>
              <a:ea typeface="HY견고딕" panose="02030600000101010101" pitchFamily="18" charset="-127"/>
              <a:cs typeface="Arial" panose="020B0604020202020204" pitchFamily="34" charset="0"/>
            </a:endParaRPr>
          </a:p>
        </p:txBody>
      </p:sp>
      <p:sp>
        <p:nvSpPr>
          <p:cNvPr id="42" name="순서도: 처리 41"/>
          <p:cNvSpPr/>
          <p:nvPr/>
        </p:nvSpPr>
        <p:spPr>
          <a:xfrm>
            <a:off x="2981970" y="1052736"/>
            <a:ext cx="3915246" cy="315809"/>
          </a:xfrm>
          <a:prstGeom prst="flowChartProcess">
            <a:avLst/>
          </a:prstGeom>
          <a:solidFill>
            <a:sysClr val="window" lastClr="FFFFFF"/>
          </a:solidFill>
          <a:ln w="28575" cap="flat" cmpd="sng" algn="ctr">
            <a:solidFill>
              <a:srgbClr val="465074"/>
            </a:solidFill>
            <a:prstDash val="solid"/>
          </a:ln>
          <a:effectLst/>
        </p:spPr>
        <p:txBody>
          <a:bodyPr lIns="46800" rIns="46800" rtlCol="0" anchor="ctr"/>
          <a:lstStyle/>
          <a:p>
            <a:pPr algn="ctr" latinLnBrk="0">
              <a:lnSpc>
                <a:spcPct val="120000"/>
              </a:lnSpc>
              <a:spcAft>
                <a:spcPts val="600"/>
              </a:spcAft>
            </a:pPr>
            <a:r>
              <a:rPr lang="en-US" altLang="ko-KR" sz="1600" dirty="0">
                <a:solidFill>
                  <a:prstClr val="black"/>
                </a:solidFill>
                <a:latin typeface="Arial" panose="020B0604020202020204" pitchFamily="34" charset="0"/>
                <a:ea typeface="맑은 고딕" panose="020B0503020000020004" pitchFamily="50" charset="-127"/>
                <a:cs typeface="Arial" panose="020B0604020202020204" pitchFamily="34" charset="0"/>
              </a:rPr>
              <a:t>Background &amp; Rationale</a:t>
            </a:r>
            <a:endParaRPr lang="ko-KR" altLang="en-US" sz="1600"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grpSp>
        <p:nvGrpSpPr>
          <p:cNvPr id="46" name="그룹 5"/>
          <p:cNvGrpSpPr/>
          <p:nvPr/>
        </p:nvGrpSpPr>
        <p:grpSpPr>
          <a:xfrm>
            <a:off x="2809258" y="936497"/>
            <a:ext cx="397214" cy="288000"/>
            <a:chOff x="491288" y="4049556"/>
            <a:chExt cx="397214" cy="288000"/>
          </a:xfrm>
        </p:grpSpPr>
        <p:sp>
          <p:nvSpPr>
            <p:cNvPr id="47" name="타원 46"/>
            <p:cNvSpPr/>
            <p:nvPr/>
          </p:nvSpPr>
          <p:spPr>
            <a:xfrm>
              <a:off x="545895" y="4049556"/>
              <a:ext cx="288000" cy="288000"/>
            </a:xfrm>
            <a:prstGeom prst="ellipse">
              <a:avLst/>
            </a:prstGeom>
            <a:solidFill>
              <a:srgbClr val="F79646">
                <a:lumMod val="20000"/>
                <a:lumOff val="80000"/>
              </a:srgbClr>
            </a:solidFill>
            <a:ln w="15875" cap="rnd" cmpd="sng" algn="ctr">
              <a:solidFill>
                <a:srgbClr val="465074"/>
              </a:solidFill>
              <a:prstDash val="solid"/>
              <a:tailEnd type="none"/>
            </a:ln>
            <a:effectLst>
              <a:innerShdw blurRad="76200">
                <a:prstClr val="black">
                  <a:alpha val="43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i="0" u="none" strike="noStrike" kern="0" cap="none" spc="0" normalizeH="0" baseline="0" noProof="0">
                <a:ln>
                  <a:noFill/>
                </a:ln>
                <a:solidFill>
                  <a:prstClr val="white"/>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48" name="제목 114"/>
            <p:cNvSpPr txBox="1">
              <a:spLocks/>
            </p:cNvSpPr>
            <p:nvPr/>
          </p:nvSpPr>
          <p:spPr>
            <a:xfrm>
              <a:off x="491288" y="4049556"/>
              <a:ext cx="397214" cy="267791"/>
            </a:xfrm>
            <a:prstGeom prst="rect">
              <a:avLst/>
            </a:prstGeom>
            <a:effectLst>
              <a:outerShdw blurRad="76200" dir="5400000" algn="ctr" rotWithShape="0">
                <a:sysClr val="windowText" lastClr="000000"/>
              </a:outerShdw>
            </a:effectLst>
          </p:spPr>
          <p:txBody>
            <a:bodyPr anchor="ctr" anchorCtr="0"/>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ko-KR" sz="1400" i="0" u="none" strike="noStrike" kern="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a:t>
              </a:r>
            </a:p>
          </p:txBody>
        </p:sp>
      </p:grpSp>
      <p:sp>
        <p:nvSpPr>
          <p:cNvPr id="34" name="순서도: 처리 33"/>
          <p:cNvSpPr/>
          <p:nvPr/>
        </p:nvSpPr>
        <p:spPr>
          <a:xfrm>
            <a:off x="2981971" y="1700808"/>
            <a:ext cx="3915245" cy="315809"/>
          </a:xfrm>
          <a:prstGeom prst="flowChartProcess">
            <a:avLst/>
          </a:prstGeom>
          <a:solidFill>
            <a:sysClr val="window" lastClr="FFFFFF"/>
          </a:solidFill>
          <a:ln w="28575" cap="flat" cmpd="sng" algn="ctr">
            <a:solidFill>
              <a:srgbClr val="465074"/>
            </a:solidFill>
            <a:prstDash val="solid"/>
          </a:ln>
          <a:effectLst/>
        </p:spPr>
        <p:txBody>
          <a:bodyPr lIns="46800" rIns="46800" rtlCol="0" anchor="ctr"/>
          <a:lstStyle/>
          <a:p>
            <a:pPr algn="ctr" latinLnBrk="0">
              <a:lnSpc>
                <a:spcPct val="120000"/>
              </a:lnSpc>
              <a:spcAft>
                <a:spcPts val="600"/>
              </a:spcAft>
            </a:pPr>
            <a:r>
              <a:rPr lang="en-US" altLang="ko-KR" sz="1600" dirty="0">
                <a:solidFill>
                  <a:prstClr val="black"/>
                </a:solidFill>
                <a:latin typeface="Arial" panose="020B0604020202020204" pitchFamily="34" charset="0"/>
                <a:ea typeface="맑은 고딕" panose="020B0503020000020004" pitchFamily="50" charset="-127"/>
                <a:cs typeface="Arial" panose="020B0604020202020204" pitchFamily="34" charset="0"/>
              </a:rPr>
              <a:t>Research Question &amp; Hypothesis</a:t>
            </a:r>
            <a:endParaRPr lang="ko-KR" altLang="en-US" sz="1600"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grpSp>
        <p:nvGrpSpPr>
          <p:cNvPr id="35" name="그룹 5"/>
          <p:cNvGrpSpPr/>
          <p:nvPr/>
        </p:nvGrpSpPr>
        <p:grpSpPr>
          <a:xfrm>
            <a:off x="2809259" y="1584569"/>
            <a:ext cx="397214" cy="288000"/>
            <a:chOff x="491288" y="4049556"/>
            <a:chExt cx="397214" cy="288000"/>
          </a:xfrm>
        </p:grpSpPr>
        <p:sp>
          <p:nvSpPr>
            <p:cNvPr id="36" name="타원 35"/>
            <p:cNvSpPr/>
            <p:nvPr/>
          </p:nvSpPr>
          <p:spPr>
            <a:xfrm>
              <a:off x="545895" y="4049556"/>
              <a:ext cx="288000" cy="288000"/>
            </a:xfrm>
            <a:prstGeom prst="ellipse">
              <a:avLst/>
            </a:prstGeom>
            <a:solidFill>
              <a:srgbClr val="F79646">
                <a:lumMod val="20000"/>
                <a:lumOff val="80000"/>
              </a:srgbClr>
            </a:solidFill>
            <a:ln w="15875" cap="rnd" cmpd="sng" algn="ctr">
              <a:solidFill>
                <a:srgbClr val="465074"/>
              </a:solidFill>
              <a:prstDash val="solid"/>
              <a:tailEnd type="none"/>
            </a:ln>
            <a:effectLst>
              <a:innerShdw blurRad="76200">
                <a:prstClr val="black">
                  <a:alpha val="43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i="0" u="none" strike="noStrike" kern="0" cap="none" spc="0" normalizeH="0" baseline="0" noProof="0">
                <a:ln>
                  <a:noFill/>
                </a:ln>
                <a:solidFill>
                  <a:prstClr val="white"/>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37" name="제목 114"/>
            <p:cNvSpPr txBox="1">
              <a:spLocks/>
            </p:cNvSpPr>
            <p:nvPr/>
          </p:nvSpPr>
          <p:spPr>
            <a:xfrm>
              <a:off x="491288" y="4049556"/>
              <a:ext cx="397214" cy="267791"/>
            </a:xfrm>
            <a:prstGeom prst="rect">
              <a:avLst/>
            </a:prstGeom>
            <a:effectLst>
              <a:outerShdw blurRad="76200" dir="5400000" algn="ctr" rotWithShape="0">
                <a:sysClr val="windowText" lastClr="000000"/>
              </a:outerShdw>
            </a:effectLst>
          </p:spPr>
          <p:txBody>
            <a:bodyPr anchor="ctr" anchorCtr="0"/>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ko-KR" sz="1400" i="0" u="none" strike="noStrike" kern="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II</a:t>
              </a:r>
            </a:p>
          </p:txBody>
        </p:sp>
      </p:grpSp>
      <p:sp>
        <p:nvSpPr>
          <p:cNvPr id="38" name="순서도: 처리 37"/>
          <p:cNvSpPr/>
          <p:nvPr/>
        </p:nvSpPr>
        <p:spPr>
          <a:xfrm>
            <a:off x="2981971" y="2393111"/>
            <a:ext cx="3915245" cy="315809"/>
          </a:xfrm>
          <a:prstGeom prst="flowChartProcess">
            <a:avLst/>
          </a:prstGeom>
          <a:solidFill>
            <a:sysClr val="window" lastClr="FFFFFF"/>
          </a:solidFill>
          <a:ln w="28575" cap="flat" cmpd="sng" algn="ctr">
            <a:solidFill>
              <a:srgbClr val="465074"/>
            </a:solidFill>
            <a:prstDash val="solid"/>
          </a:ln>
          <a:effectLst/>
        </p:spPr>
        <p:txBody>
          <a:bodyPr lIns="46800" rIns="46800" rtlCol="0" anchor="ctr"/>
          <a:lstStyle/>
          <a:p>
            <a:pPr algn="ctr" latinLnBrk="0">
              <a:lnSpc>
                <a:spcPct val="120000"/>
              </a:lnSpc>
              <a:spcAft>
                <a:spcPts val="600"/>
              </a:spcAft>
            </a:pPr>
            <a:r>
              <a:rPr lang="en-US" altLang="ko-KR" sz="1600" dirty="0">
                <a:solidFill>
                  <a:prstClr val="black"/>
                </a:solidFill>
                <a:latin typeface="Arial" panose="020B0604020202020204" pitchFamily="34" charset="0"/>
                <a:ea typeface="맑은 고딕" panose="020B0503020000020004" pitchFamily="50" charset="-127"/>
                <a:cs typeface="Arial" panose="020B0604020202020204" pitchFamily="34" charset="0"/>
              </a:rPr>
              <a:t>Literature Review (Practical Case)</a:t>
            </a:r>
            <a:endParaRPr lang="ko-KR" altLang="en-US" sz="1600"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grpSp>
        <p:nvGrpSpPr>
          <p:cNvPr id="39" name="그룹 5"/>
          <p:cNvGrpSpPr/>
          <p:nvPr/>
        </p:nvGrpSpPr>
        <p:grpSpPr>
          <a:xfrm>
            <a:off x="2792760" y="2321103"/>
            <a:ext cx="397214" cy="288000"/>
            <a:chOff x="491288" y="4049556"/>
            <a:chExt cx="397214" cy="288000"/>
          </a:xfrm>
        </p:grpSpPr>
        <p:sp>
          <p:nvSpPr>
            <p:cNvPr id="40" name="타원 39"/>
            <p:cNvSpPr/>
            <p:nvPr/>
          </p:nvSpPr>
          <p:spPr>
            <a:xfrm>
              <a:off x="545895" y="4049556"/>
              <a:ext cx="288000" cy="288000"/>
            </a:xfrm>
            <a:prstGeom prst="ellipse">
              <a:avLst/>
            </a:prstGeom>
            <a:solidFill>
              <a:srgbClr val="F79646">
                <a:lumMod val="20000"/>
                <a:lumOff val="80000"/>
              </a:srgbClr>
            </a:solidFill>
            <a:ln w="15875" cap="rnd" cmpd="sng" algn="ctr">
              <a:solidFill>
                <a:srgbClr val="465074"/>
              </a:solidFill>
              <a:prstDash val="solid"/>
              <a:tailEnd type="none"/>
            </a:ln>
            <a:effectLst>
              <a:innerShdw blurRad="76200">
                <a:prstClr val="black">
                  <a:alpha val="43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i="0" u="none" strike="noStrike" kern="0" cap="none" spc="0" normalizeH="0" baseline="0" noProof="0">
                <a:ln>
                  <a:noFill/>
                </a:ln>
                <a:solidFill>
                  <a:prstClr val="white"/>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41" name="제목 114"/>
            <p:cNvSpPr txBox="1">
              <a:spLocks/>
            </p:cNvSpPr>
            <p:nvPr/>
          </p:nvSpPr>
          <p:spPr>
            <a:xfrm>
              <a:off x="491288" y="4049556"/>
              <a:ext cx="397214" cy="267791"/>
            </a:xfrm>
            <a:prstGeom prst="rect">
              <a:avLst/>
            </a:prstGeom>
            <a:effectLst>
              <a:outerShdw blurRad="76200" dir="5400000" algn="ctr" rotWithShape="0">
                <a:sysClr val="windowText" lastClr="000000"/>
              </a:outerShdw>
            </a:effectLst>
          </p:spPr>
          <p:txBody>
            <a:bodyPr anchor="ctr" anchorCtr="0"/>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ko-KR" sz="1400" i="0" u="none" strike="noStrike" kern="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III</a:t>
              </a:r>
            </a:p>
          </p:txBody>
        </p:sp>
      </p:grpSp>
      <p:sp>
        <p:nvSpPr>
          <p:cNvPr id="71" name="순서도: 처리 70"/>
          <p:cNvSpPr/>
          <p:nvPr/>
        </p:nvSpPr>
        <p:spPr>
          <a:xfrm>
            <a:off x="2981970" y="3068960"/>
            <a:ext cx="3915246" cy="315809"/>
          </a:xfrm>
          <a:prstGeom prst="flowChartProcess">
            <a:avLst/>
          </a:prstGeom>
          <a:solidFill>
            <a:sysClr val="window" lastClr="FFFFFF"/>
          </a:solidFill>
          <a:ln w="28575" cap="flat" cmpd="sng" algn="ctr">
            <a:solidFill>
              <a:srgbClr val="465074"/>
            </a:solidFill>
            <a:prstDash val="solid"/>
          </a:ln>
          <a:effectLst/>
        </p:spPr>
        <p:txBody>
          <a:bodyPr lIns="46800" rIns="46800" rtlCol="0" anchor="ctr"/>
          <a:lstStyle/>
          <a:p>
            <a:pPr algn="ctr" latinLnBrk="0">
              <a:lnSpc>
                <a:spcPct val="120000"/>
              </a:lnSpc>
              <a:spcAft>
                <a:spcPts val="600"/>
              </a:spcAft>
            </a:pPr>
            <a:r>
              <a:rPr lang="en-US" altLang="ko-KR" sz="1600" dirty="0">
                <a:solidFill>
                  <a:prstClr val="black"/>
                </a:solidFill>
                <a:latin typeface="Arial" panose="020B0604020202020204" pitchFamily="34" charset="0"/>
                <a:ea typeface="맑은 고딕" panose="020B0503020000020004" pitchFamily="50" charset="-127"/>
                <a:cs typeface="Arial" panose="020B0604020202020204" pitchFamily="34" charset="0"/>
              </a:rPr>
              <a:t>Methodology(1): Data Description</a:t>
            </a:r>
            <a:endParaRPr lang="ko-KR" altLang="en-US" sz="1600"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grpSp>
        <p:nvGrpSpPr>
          <p:cNvPr id="72" name="그룹 5"/>
          <p:cNvGrpSpPr/>
          <p:nvPr/>
        </p:nvGrpSpPr>
        <p:grpSpPr>
          <a:xfrm>
            <a:off x="2809258" y="2952721"/>
            <a:ext cx="397214" cy="288000"/>
            <a:chOff x="491288" y="4049556"/>
            <a:chExt cx="397214" cy="288000"/>
          </a:xfrm>
        </p:grpSpPr>
        <p:sp>
          <p:nvSpPr>
            <p:cNvPr id="73" name="타원 72"/>
            <p:cNvSpPr/>
            <p:nvPr/>
          </p:nvSpPr>
          <p:spPr>
            <a:xfrm>
              <a:off x="545895" y="4049556"/>
              <a:ext cx="288000" cy="288000"/>
            </a:xfrm>
            <a:prstGeom prst="ellipse">
              <a:avLst/>
            </a:prstGeom>
            <a:solidFill>
              <a:srgbClr val="F79646">
                <a:lumMod val="20000"/>
                <a:lumOff val="80000"/>
              </a:srgbClr>
            </a:solidFill>
            <a:ln w="15875" cap="rnd" cmpd="sng" algn="ctr">
              <a:solidFill>
                <a:srgbClr val="465074"/>
              </a:solidFill>
              <a:prstDash val="solid"/>
              <a:tailEnd type="none"/>
            </a:ln>
            <a:effectLst>
              <a:innerShdw blurRad="76200">
                <a:prstClr val="black">
                  <a:alpha val="43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i="0" u="none" strike="noStrike" kern="0" cap="none" spc="0" normalizeH="0" baseline="0" noProof="0">
                <a:ln>
                  <a:noFill/>
                </a:ln>
                <a:solidFill>
                  <a:prstClr val="white"/>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74" name="제목 114"/>
            <p:cNvSpPr txBox="1">
              <a:spLocks/>
            </p:cNvSpPr>
            <p:nvPr/>
          </p:nvSpPr>
          <p:spPr>
            <a:xfrm>
              <a:off x="491288" y="4049556"/>
              <a:ext cx="397214" cy="267791"/>
            </a:xfrm>
            <a:prstGeom prst="rect">
              <a:avLst/>
            </a:prstGeom>
            <a:effectLst>
              <a:outerShdw blurRad="76200" dir="5400000" algn="ctr" rotWithShape="0">
                <a:sysClr val="windowText" lastClr="000000"/>
              </a:outerShdw>
            </a:effectLst>
          </p:spPr>
          <p:txBody>
            <a:bodyPr anchor="ctr" anchorCtr="0"/>
            <a:lstStyle/>
            <a:p>
              <a:pPr lvl="0" algn="ctr" eaLnBrk="0" latinLnBrk="0" hangingPunct="0">
                <a:defRPr/>
              </a:pPr>
              <a:r>
                <a:rPr lang="en-US" altLang="ko-KR" sz="1400" kern="0" dirty="0">
                  <a:solidFill>
                    <a:prstClr val="black"/>
                  </a:solidFill>
                  <a:latin typeface="Arial" panose="020B0604020202020204" pitchFamily="34" charset="0"/>
                  <a:ea typeface="맑은 고딕" panose="020B0503020000020004" pitchFamily="50" charset="-127"/>
                  <a:cs typeface="Arial" panose="020B0604020202020204" pitchFamily="34" charset="0"/>
                </a:rPr>
                <a:t>IV</a:t>
              </a:r>
              <a:endParaRPr kumimoji="0" lang="en-US" altLang="ko-KR" sz="1400" i="0" u="none" strike="noStrike" kern="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grpSp>
      <p:sp>
        <p:nvSpPr>
          <p:cNvPr id="75" name="순서도: 처리 74"/>
          <p:cNvSpPr/>
          <p:nvPr/>
        </p:nvSpPr>
        <p:spPr>
          <a:xfrm>
            <a:off x="2981971" y="3744809"/>
            <a:ext cx="3915245" cy="315809"/>
          </a:xfrm>
          <a:prstGeom prst="flowChartProcess">
            <a:avLst/>
          </a:prstGeom>
          <a:solidFill>
            <a:sysClr val="window" lastClr="FFFFFF"/>
          </a:solidFill>
          <a:ln w="28575" cap="flat" cmpd="sng" algn="ctr">
            <a:solidFill>
              <a:srgbClr val="465074"/>
            </a:solidFill>
            <a:prstDash val="solid"/>
          </a:ln>
          <a:effectLst/>
        </p:spPr>
        <p:txBody>
          <a:bodyPr lIns="46800" rIns="46800" rtlCol="0" anchor="ctr"/>
          <a:lstStyle/>
          <a:p>
            <a:pPr latinLnBrk="0">
              <a:lnSpc>
                <a:spcPct val="120000"/>
              </a:lnSpc>
              <a:spcAft>
                <a:spcPts val="600"/>
              </a:spcAft>
            </a:pPr>
            <a:r>
              <a:rPr lang="en-US" altLang="ko-KR" sz="1600" dirty="0">
                <a:solidFill>
                  <a:prstClr val="black"/>
                </a:solidFill>
                <a:latin typeface="Arial" panose="020B0604020202020204" pitchFamily="34" charset="0"/>
                <a:ea typeface="맑은 고딕" panose="020B0503020000020004" pitchFamily="50" charset="-127"/>
                <a:cs typeface="Arial" panose="020B0604020202020204" pitchFamily="34" charset="0"/>
              </a:rPr>
              <a:t>       Methodology(2): Analysis</a:t>
            </a:r>
            <a:endParaRPr lang="ko-KR" altLang="en-US" sz="1600"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grpSp>
        <p:nvGrpSpPr>
          <p:cNvPr id="76" name="그룹 5"/>
          <p:cNvGrpSpPr/>
          <p:nvPr/>
        </p:nvGrpSpPr>
        <p:grpSpPr>
          <a:xfrm>
            <a:off x="2809259" y="3628570"/>
            <a:ext cx="397214" cy="288000"/>
            <a:chOff x="491288" y="4049556"/>
            <a:chExt cx="397214" cy="288000"/>
          </a:xfrm>
        </p:grpSpPr>
        <p:sp>
          <p:nvSpPr>
            <p:cNvPr id="77" name="타원 76"/>
            <p:cNvSpPr/>
            <p:nvPr/>
          </p:nvSpPr>
          <p:spPr>
            <a:xfrm>
              <a:off x="545895" y="4049556"/>
              <a:ext cx="288000" cy="288000"/>
            </a:xfrm>
            <a:prstGeom prst="ellipse">
              <a:avLst/>
            </a:prstGeom>
            <a:solidFill>
              <a:srgbClr val="F79646">
                <a:lumMod val="20000"/>
                <a:lumOff val="80000"/>
              </a:srgbClr>
            </a:solidFill>
            <a:ln w="15875" cap="rnd" cmpd="sng" algn="ctr">
              <a:solidFill>
                <a:srgbClr val="465074"/>
              </a:solidFill>
              <a:prstDash val="solid"/>
              <a:tailEnd type="none"/>
            </a:ln>
            <a:effectLst>
              <a:innerShdw blurRad="76200">
                <a:prstClr val="black">
                  <a:alpha val="43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i="0" u="none" strike="noStrike" kern="0" cap="none" spc="0" normalizeH="0" baseline="0" noProof="0">
                <a:ln>
                  <a:noFill/>
                </a:ln>
                <a:solidFill>
                  <a:prstClr val="white"/>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78" name="제목 114"/>
            <p:cNvSpPr txBox="1">
              <a:spLocks/>
            </p:cNvSpPr>
            <p:nvPr/>
          </p:nvSpPr>
          <p:spPr>
            <a:xfrm>
              <a:off x="491288" y="4049556"/>
              <a:ext cx="397214" cy="267791"/>
            </a:xfrm>
            <a:prstGeom prst="rect">
              <a:avLst/>
            </a:prstGeom>
            <a:effectLst>
              <a:outerShdw blurRad="76200" dir="5400000" algn="ctr" rotWithShape="0">
                <a:sysClr val="windowText" lastClr="000000"/>
              </a:outerShdw>
            </a:effectLst>
          </p:spPr>
          <p:txBody>
            <a:bodyPr anchor="ctr" anchorCtr="0"/>
            <a:lstStyle/>
            <a:p>
              <a:pPr lvl="0" algn="ctr" eaLnBrk="0" latinLnBrk="0" hangingPunct="0">
                <a:defRPr/>
              </a:pPr>
              <a:r>
                <a:rPr lang="en-US" altLang="ko-KR" sz="1400" kern="0" dirty="0">
                  <a:solidFill>
                    <a:prstClr val="black"/>
                  </a:solidFill>
                  <a:latin typeface="Arial" panose="020B0604020202020204" pitchFamily="34" charset="0"/>
                  <a:ea typeface="맑은 고딕" panose="020B0503020000020004" pitchFamily="50" charset="-127"/>
                  <a:cs typeface="Arial" panose="020B0604020202020204" pitchFamily="34" charset="0"/>
                </a:rPr>
                <a:t>V</a:t>
              </a:r>
              <a:endParaRPr kumimoji="0" lang="en-US" altLang="ko-KR" sz="1400" i="0" u="none" strike="noStrike" kern="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grpSp>
      <p:sp>
        <p:nvSpPr>
          <p:cNvPr id="79" name="순서도: 처리 78"/>
          <p:cNvSpPr/>
          <p:nvPr/>
        </p:nvSpPr>
        <p:spPr>
          <a:xfrm>
            <a:off x="2981971" y="4437112"/>
            <a:ext cx="3915245" cy="315809"/>
          </a:xfrm>
          <a:prstGeom prst="flowChartProcess">
            <a:avLst/>
          </a:prstGeom>
          <a:solidFill>
            <a:sysClr val="window" lastClr="FFFFFF"/>
          </a:solidFill>
          <a:ln w="28575" cap="flat" cmpd="sng" algn="ctr">
            <a:solidFill>
              <a:srgbClr val="465074"/>
            </a:solidFill>
            <a:prstDash val="solid"/>
          </a:ln>
          <a:effectLst/>
        </p:spPr>
        <p:txBody>
          <a:bodyPr lIns="46800" rIns="46800" rtlCol="0" anchor="ctr"/>
          <a:lstStyle/>
          <a:p>
            <a:pPr algn="ctr" latinLnBrk="0">
              <a:lnSpc>
                <a:spcPct val="120000"/>
              </a:lnSpc>
              <a:spcAft>
                <a:spcPts val="600"/>
              </a:spcAft>
            </a:pPr>
            <a:r>
              <a:rPr lang="en-US" altLang="ko-KR" sz="1600" dirty="0">
                <a:solidFill>
                  <a:prstClr val="black"/>
                </a:solidFill>
                <a:latin typeface="Arial" panose="020B0604020202020204" pitchFamily="34" charset="0"/>
                <a:ea typeface="맑은 고딕" panose="020B0503020000020004" pitchFamily="50" charset="-127"/>
                <a:cs typeface="Arial" panose="020B0604020202020204" pitchFamily="34" charset="0"/>
              </a:rPr>
              <a:t>Expected Results &amp; Implications</a:t>
            </a:r>
            <a:endParaRPr lang="ko-KR" altLang="en-US" sz="1600"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grpSp>
        <p:nvGrpSpPr>
          <p:cNvPr id="80" name="그룹 5"/>
          <p:cNvGrpSpPr/>
          <p:nvPr/>
        </p:nvGrpSpPr>
        <p:grpSpPr>
          <a:xfrm>
            <a:off x="2792760" y="4365104"/>
            <a:ext cx="397214" cy="288000"/>
            <a:chOff x="491288" y="4049556"/>
            <a:chExt cx="397214" cy="288000"/>
          </a:xfrm>
        </p:grpSpPr>
        <p:sp>
          <p:nvSpPr>
            <p:cNvPr id="81" name="타원 80"/>
            <p:cNvSpPr/>
            <p:nvPr/>
          </p:nvSpPr>
          <p:spPr>
            <a:xfrm>
              <a:off x="545895" y="4049556"/>
              <a:ext cx="288000" cy="288000"/>
            </a:xfrm>
            <a:prstGeom prst="ellipse">
              <a:avLst/>
            </a:prstGeom>
            <a:solidFill>
              <a:srgbClr val="F79646">
                <a:lumMod val="20000"/>
                <a:lumOff val="80000"/>
              </a:srgbClr>
            </a:solidFill>
            <a:ln w="15875" cap="rnd" cmpd="sng" algn="ctr">
              <a:solidFill>
                <a:srgbClr val="465074"/>
              </a:solidFill>
              <a:prstDash val="solid"/>
              <a:tailEnd type="none"/>
            </a:ln>
            <a:effectLst>
              <a:innerShdw blurRad="76200">
                <a:prstClr val="black">
                  <a:alpha val="43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i="0" u="none" strike="noStrike" kern="0" cap="none" spc="0" normalizeH="0" baseline="0" noProof="0">
                <a:ln>
                  <a:noFill/>
                </a:ln>
                <a:solidFill>
                  <a:prstClr val="white"/>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82" name="제목 114"/>
            <p:cNvSpPr txBox="1">
              <a:spLocks/>
            </p:cNvSpPr>
            <p:nvPr/>
          </p:nvSpPr>
          <p:spPr>
            <a:xfrm>
              <a:off x="491288" y="4049556"/>
              <a:ext cx="397214" cy="267791"/>
            </a:xfrm>
            <a:prstGeom prst="rect">
              <a:avLst/>
            </a:prstGeom>
            <a:effectLst>
              <a:outerShdw blurRad="76200" dir="5400000" algn="ctr" rotWithShape="0">
                <a:sysClr val="windowText" lastClr="000000"/>
              </a:outerShdw>
            </a:effectLst>
          </p:spPr>
          <p:txBody>
            <a:bodyPr anchor="ctr" anchorCtr="0"/>
            <a:lstStyle/>
            <a:p>
              <a:pPr lvl="0" algn="ctr" eaLnBrk="0" latinLnBrk="0" hangingPunct="0">
                <a:defRPr/>
              </a:pPr>
              <a:r>
                <a:rPr lang="en-US" altLang="ko-KR" sz="1400" kern="0" dirty="0">
                  <a:solidFill>
                    <a:prstClr val="black"/>
                  </a:solidFill>
                  <a:latin typeface="Arial" panose="020B0604020202020204" pitchFamily="34" charset="0"/>
                  <a:ea typeface="맑은 고딕" panose="020B0503020000020004" pitchFamily="50" charset="-127"/>
                  <a:cs typeface="Arial" panose="020B0604020202020204" pitchFamily="34" charset="0"/>
                </a:rPr>
                <a:t>VI</a:t>
              </a:r>
              <a:endParaRPr kumimoji="0" lang="en-US" altLang="ko-KR" sz="1400" i="0" u="none" strike="noStrike" kern="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grpSp>
      <p:sp>
        <p:nvSpPr>
          <p:cNvPr id="83" name="순서도: 처리 82"/>
          <p:cNvSpPr/>
          <p:nvPr/>
        </p:nvSpPr>
        <p:spPr>
          <a:xfrm>
            <a:off x="2981971" y="5112961"/>
            <a:ext cx="3915245" cy="315809"/>
          </a:xfrm>
          <a:prstGeom prst="flowChartProcess">
            <a:avLst/>
          </a:prstGeom>
          <a:solidFill>
            <a:sysClr val="window" lastClr="FFFFFF"/>
          </a:solidFill>
          <a:ln w="28575" cap="flat" cmpd="sng" algn="ctr">
            <a:solidFill>
              <a:srgbClr val="465074"/>
            </a:solidFill>
            <a:prstDash val="solid"/>
          </a:ln>
          <a:effectLst/>
        </p:spPr>
        <p:txBody>
          <a:bodyPr lIns="46800" rIns="46800" rtlCol="0" anchor="ctr"/>
          <a:lstStyle/>
          <a:p>
            <a:pPr algn="ctr" latinLnBrk="0">
              <a:lnSpc>
                <a:spcPct val="120000"/>
              </a:lnSpc>
              <a:spcAft>
                <a:spcPts val="600"/>
              </a:spcAft>
            </a:pPr>
            <a:r>
              <a:rPr lang="en-US" altLang="ko-KR" sz="1600" dirty="0">
                <a:solidFill>
                  <a:prstClr val="black"/>
                </a:solidFill>
                <a:latin typeface="Arial" panose="020B0604020202020204" pitchFamily="34" charset="0"/>
                <a:ea typeface="맑은 고딕" panose="020B0503020000020004" pitchFamily="50" charset="-127"/>
                <a:cs typeface="Arial" panose="020B0604020202020204" pitchFamily="34" charset="0"/>
              </a:rPr>
              <a:t>Reference List</a:t>
            </a:r>
            <a:endParaRPr lang="ko-KR" altLang="en-US" sz="1600"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grpSp>
        <p:nvGrpSpPr>
          <p:cNvPr id="84" name="그룹 5"/>
          <p:cNvGrpSpPr/>
          <p:nvPr/>
        </p:nvGrpSpPr>
        <p:grpSpPr>
          <a:xfrm>
            <a:off x="2792760" y="5040953"/>
            <a:ext cx="397214" cy="288000"/>
            <a:chOff x="491288" y="4049556"/>
            <a:chExt cx="397214" cy="288000"/>
          </a:xfrm>
        </p:grpSpPr>
        <p:sp>
          <p:nvSpPr>
            <p:cNvPr id="85" name="타원 84"/>
            <p:cNvSpPr/>
            <p:nvPr/>
          </p:nvSpPr>
          <p:spPr>
            <a:xfrm>
              <a:off x="545895" y="4049556"/>
              <a:ext cx="288000" cy="288000"/>
            </a:xfrm>
            <a:prstGeom prst="ellipse">
              <a:avLst/>
            </a:prstGeom>
            <a:solidFill>
              <a:srgbClr val="F79646">
                <a:lumMod val="20000"/>
                <a:lumOff val="80000"/>
              </a:srgbClr>
            </a:solidFill>
            <a:ln w="15875" cap="rnd" cmpd="sng" algn="ctr">
              <a:solidFill>
                <a:srgbClr val="465074"/>
              </a:solidFill>
              <a:prstDash val="solid"/>
              <a:tailEnd type="none"/>
            </a:ln>
            <a:effectLst>
              <a:innerShdw blurRad="76200">
                <a:prstClr val="black">
                  <a:alpha val="43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i="0" u="none" strike="noStrike" kern="0" cap="none" spc="0" normalizeH="0" baseline="0" noProof="0">
                <a:ln>
                  <a:noFill/>
                </a:ln>
                <a:solidFill>
                  <a:prstClr val="white"/>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86" name="제목 114"/>
            <p:cNvSpPr txBox="1">
              <a:spLocks/>
            </p:cNvSpPr>
            <p:nvPr/>
          </p:nvSpPr>
          <p:spPr>
            <a:xfrm>
              <a:off x="491288" y="4049556"/>
              <a:ext cx="397214" cy="267791"/>
            </a:xfrm>
            <a:prstGeom prst="rect">
              <a:avLst/>
            </a:prstGeom>
            <a:effectLst>
              <a:outerShdw blurRad="76200" dir="5400000" algn="ctr" rotWithShape="0">
                <a:sysClr val="windowText" lastClr="000000"/>
              </a:outerShdw>
            </a:effectLst>
          </p:spPr>
          <p:txBody>
            <a:bodyPr anchor="ctr" anchorCtr="0"/>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ko-KR" sz="1300" i="0" u="none" strike="noStrike" kern="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VII</a:t>
              </a:r>
            </a:p>
          </p:txBody>
        </p:sp>
      </p:grpSp>
      <p:sp>
        <p:nvSpPr>
          <p:cNvPr id="2" name="순서도: 처리 1">
            <a:extLst>
              <a:ext uri="{FF2B5EF4-FFF2-40B4-BE49-F238E27FC236}">
                <a16:creationId xmlns:a16="http://schemas.microsoft.com/office/drawing/2014/main" id="{EF989CF3-C89A-46F7-80D5-B86C9E23CDA9}"/>
              </a:ext>
            </a:extLst>
          </p:cNvPr>
          <p:cNvSpPr/>
          <p:nvPr/>
        </p:nvSpPr>
        <p:spPr>
          <a:xfrm>
            <a:off x="2981971" y="5777487"/>
            <a:ext cx="3915245" cy="315809"/>
          </a:xfrm>
          <a:prstGeom prst="flowChartProcess">
            <a:avLst/>
          </a:prstGeom>
          <a:solidFill>
            <a:sysClr val="window" lastClr="FFFFFF"/>
          </a:solidFill>
          <a:ln w="28575" cap="flat" cmpd="sng" algn="ctr">
            <a:solidFill>
              <a:srgbClr val="465074"/>
            </a:solidFill>
            <a:prstDash val="solid"/>
          </a:ln>
          <a:effectLst/>
        </p:spPr>
        <p:txBody>
          <a:bodyPr lIns="46800" rIns="46800" rtlCol="0" anchor="ctr"/>
          <a:lstStyle/>
          <a:p>
            <a:pPr algn="ctr" latinLnBrk="0">
              <a:lnSpc>
                <a:spcPct val="120000"/>
              </a:lnSpc>
              <a:spcAft>
                <a:spcPts val="600"/>
              </a:spcAft>
            </a:pPr>
            <a:r>
              <a:rPr lang="en-US" altLang="ko-KR" sz="1600" dirty="0">
                <a:solidFill>
                  <a:prstClr val="black"/>
                </a:solidFill>
                <a:latin typeface="Arial" panose="020B0604020202020204" pitchFamily="34" charset="0"/>
                <a:ea typeface="맑은 고딕" panose="020B0503020000020004" pitchFamily="50" charset="-127"/>
                <a:cs typeface="Arial" panose="020B0604020202020204" pitchFamily="34" charset="0"/>
              </a:rPr>
              <a:t>Plan of Work</a:t>
            </a:r>
            <a:endParaRPr lang="ko-KR" altLang="en-US" sz="1600"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grpSp>
        <p:nvGrpSpPr>
          <p:cNvPr id="3" name="그룹 5">
            <a:extLst>
              <a:ext uri="{FF2B5EF4-FFF2-40B4-BE49-F238E27FC236}">
                <a16:creationId xmlns:a16="http://schemas.microsoft.com/office/drawing/2014/main" id="{AF109093-CF7E-87F9-B399-29FCBC06C95E}"/>
              </a:ext>
            </a:extLst>
          </p:cNvPr>
          <p:cNvGrpSpPr/>
          <p:nvPr/>
        </p:nvGrpSpPr>
        <p:grpSpPr>
          <a:xfrm>
            <a:off x="2792760" y="5705479"/>
            <a:ext cx="397214" cy="288000"/>
            <a:chOff x="491288" y="4049556"/>
            <a:chExt cx="397214" cy="288000"/>
          </a:xfrm>
        </p:grpSpPr>
        <p:sp>
          <p:nvSpPr>
            <p:cNvPr id="4" name="타원 3">
              <a:extLst>
                <a:ext uri="{FF2B5EF4-FFF2-40B4-BE49-F238E27FC236}">
                  <a16:creationId xmlns:a16="http://schemas.microsoft.com/office/drawing/2014/main" id="{D5AE3EE6-F6D6-CE62-AB88-1850BB5DBEB7}"/>
                </a:ext>
              </a:extLst>
            </p:cNvPr>
            <p:cNvSpPr/>
            <p:nvPr/>
          </p:nvSpPr>
          <p:spPr>
            <a:xfrm>
              <a:off x="545895" y="4049556"/>
              <a:ext cx="288000" cy="288000"/>
            </a:xfrm>
            <a:prstGeom prst="ellipse">
              <a:avLst/>
            </a:prstGeom>
            <a:solidFill>
              <a:srgbClr val="F79646">
                <a:lumMod val="20000"/>
                <a:lumOff val="80000"/>
              </a:srgbClr>
            </a:solidFill>
            <a:ln w="15875" cap="rnd" cmpd="sng" algn="ctr">
              <a:solidFill>
                <a:srgbClr val="465074"/>
              </a:solidFill>
              <a:prstDash val="solid"/>
              <a:tailEnd type="none"/>
            </a:ln>
            <a:effectLst>
              <a:innerShdw blurRad="76200">
                <a:prstClr val="black">
                  <a:alpha val="43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i="0" u="none" strike="noStrike" kern="0" cap="none" spc="0" normalizeH="0" baseline="0" noProof="0">
                <a:ln>
                  <a:noFill/>
                </a:ln>
                <a:solidFill>
                  <a:prstClr val="white"/>
                </a:solidFill>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5" name="제목 114">
              <a:extLst>
                <a:ext uri="{FF2B5EF4-FFF2-40B4-BE49-F238E27FC236}">
                  <a16:creationId xmlns:a16="http://schemas.microsoft.com/office/drawing/2014/main" id="{FAA4D843-D2B7-5CD7-F818-3D620B58CD6F}"/>
                </a:ext>
              </a:extLst>
            </p:cNvPr>
            <p:cNvSpPr txBox="1">
              <a:spLocks/>
            </p:cNvSpPr>
            <p:nvPr/>
          </p:nvSpPr>
          <p:spPr>
            <a:xfrm>
              <a:off x="491288" y="4049556"/>
              <a:ext cx="397214" cy="267791"/>
            </a:xfrm>
            <a:prstGeom prst="rect">
              <a:avLst/>
            </a:prstGeom>
            <a:effectLst>
              <a:outerShdw blurRad="76200" dir="5400000" algn="ctr" rotWithShape="0">
                <a:sysClr val="windowText" lastClr="000000"/>
              </a:outerShdw>
            </a:effectLst>
          </p:spPr>
          <p:txBody>
            <a:bodyPr anchor="ctr" anchorCtr="0"/>
            <a:lstStyle/>
            <a:p>
              <a:pPr marL="0" marR="0" lvl="0" indent="0" algn="ctr" defTabSz="914400" eaLnBrk="0" fontAlgn="auto" latinLnBrk="0" hangingPunct="0">
                <a:lnSpc>
                  <a:spcPct val="100000"/>
                </a:lnSpc>
                <a:spcBef>
                  <a:spcPts val="0"/>
                </a:spcBef>
                <a:spcAft>
                  <a:spcPts val="0"/>
                </a:spcAft>
                <a:buClrTx/>
                <a:buSzTx/>
                <a:buFontTx/>
                <a:buNone/>
                <a:tabLst/>
                <a:defRPr/>
              </a:pPr>
              <a:r>
                <a:rPr lang="en-US" altLang="ko-KR" sz="1100" kern="0" dirty="0">
                  <a:solidFill>
                    <a:prstClr val="black"/>
                  </a:solidFill>
                  <a:latin typeface="Arial" panose="020B0604020202020204" pitchFamily="34" charset="0"/>
                  <a:ea typeface="맑은 고딕" panose="020B0503020000020004" pitchFamily="50" charset="-127"/>
                  <a:cs typeface="Arial" panose="020B0604020202020204" pitchFamily="34" charset="0"/>
                </a:rPr>
                <a:t>VII</a:t>
              </a:r>
              <a:r>
                <a:rPr kumimoji="0" lang="en-US" altLang="ko-KR" sz="1100" i="0" u="none" strike="noStrike" kern="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a:t>
              </a:r>
            </a:p>
          </p:txBody>
        </p:sp>
      </p:grpSp>
      <p:sp>
        <p:nvSpPr>
          <p:cNvPr id="43" name="슬라이드 번호 개체 틀 2"/>
          <p:cNvSpPr>
            <a:spLocks noGrp="1"/>
          </p:cNvSpPr>
          <p:nvPr>
            <p:ph type="sldNum" sz="quarter" idx="13"/>
          </p:nvPr>
        </p:nvSpPr>
        <p:spPr>
          <a:xfrm>
            <a:off x="4736977" y="6381328"/>
            <a:ext cx="492444"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3</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Tree>
    <p:extLst>
      <p:ext uri="{BB962C8B-B14F-4D97-AF65-F5344CB8AC3E}">
        <p14:creationId xmlns:p14="http://schemas.microsoft.com/office/powerpoint/2010/main" val="2607007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9"/>
          <p:cNvSpPr txBox="1">
            <a:spLocks/>
          </p:cNvSpPr>
          <p:nvPr/>
        </p:nvSpPr>
        <p:spPr>
          <a:xfrm>
            <a:off x="250348" y="116632"/>
            <a:ext cx="6430844"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rgbClr val="FF0066"/>
                </a:solidFill>
                <a:latin typeface="Arial" panose="020B0604020202020204" pitchFamily="34" charset="0"/>
                <a:ea typeface="HY견고딕" panose="02030600000101010101" pitchFamily="18" charset="-127"/>
                <a:cs typeface="Arial" panose="020B0604020202020204" pitchFamily="34" charset="0"/>
              </a:rPr>
              <a:t>1. Background &amp; Rationale</a:t>
            </a:r>
          </a:p>
        </p:txBody>
      </p:sp>
      <p:sp>
        <p:nvSpPr>
          <p:cNvPr id="5" name="슬라이드 번호 개체 틀 2"/>
          <p:cNvSpPr>
            <a:spLocks noGrp="1"/>
          </p:cNvSpPr>
          <p:nvPr>
            <p:ph type="sldNum" sz="quarter" idx="13"/>
          </p:nvPr>
        </p:nvSpPr>
        <p:spPr>
          <a:xfrm>
            <a:off x="4736977" y="6381328"/>
            <a:ext cx="492444"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4</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
        <p:nvSpPr>
          <p:cNvPr id="10" name="TextBox 9">
            <a:extLst>
              <a:ext uri="{FF2B5EF4-FFF2-40B4-BE49-F238E27FC236}">
                <a16:creationId xmlns:a16="http://schemas.microsoft.com/office/drawing/2014/main" id="{AE50BFBB-7C8D-C4BE-478B-7C007A86C2B7}"/>
              </a:ext>
            </a:extLst>
          </p:cNvPr>
          <p:cNvSpPr txBox="1"/>
          <p:nvPr/>
        </p:nvSpPr>
        <p:spPr>
          <a:xfrm>
            <a:off x="322356" y="809992"/>
            <a:ext cx="9167148" cy="5355312"/>
          </a:xfrm>
          <a:prstGeom prst="rect">
            <a:avLst/>
          </a:prstGeom>
          <a:noFill/>
        </p:spPr>
        <p:txBody>
          <a:bodyPr wrap="square">
            <a:spAutoFit/>
          </a:bodyPr>
          <a:lstStyle/>
          <a:p>
            <a:pPr marL="285750" indent="-285750" latinLnBrk="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Steel Industry Significance</a:t>
            </a:r>
            <a:r>
              <a:rPr lang="en-US" sz="1600" dirty="0">
                <a:latin typeface="Arial" panose="020B0604020202020204" pitchFamily="34" charset="0"/>
                <a:cs typeface="Arial" panose="020B0604020202020204" pitchFamily="34" charset="0"/>
              </a:rPr>
              <a:t>: Crucial for infrastructure and manufacturing; strategic </a:t>
            </a:r>
            <a:r>
              <a:rPr lang="en-US" sz="1600" dirty="0" smtClean="0">
                <a:latin typeface="Arial" panose="020B0604020202020204" pitchFamily="34" charset="0"/>
                <a:cs typeface="Arial" panose="020B0604020202020204" pitchFamily="34" charset="0"/>
              </a:rPr>
              <a:t>to </a:t>
            </a:r>
            <a:r>
              <a:rPr lang="en-US" sz="1600" dirty="0">
                <a:latin typeface="Arial" panose="020B0604020202020204" pitchFamily="34" charset="0"/>
                <a:cs typeface="Arial" panose="020B0604020202020204" pitchFamily="34" charset="0"/>
              </a:rPr>
              <a:t>Indonesia’s industrialization</a:t>
            </a:r>
          </a:p>
          <a:p>
            <a:pPr marL="285750" indent="-285750" latinLnBrk="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Forex Risk Exposure</a:t>
            </a:r>
            <a:r>
              <a:rPr lang="en-US" sz="1600" dirty="0">
                <a:latin typeface="Arial" panose="020B0604020202020204" pitchFamily="34" charset="0"/>
                <a:cs typeface="Arial" panose="020B0604020202020204" pitchFamily="34" charset="0"/>
              </a:rPr>
              <a:t>: Heavy reliance on USD-priced imports (RM, machinery) vs IDR    revenues causes exchange rate mismatch</a:t>
            </a:r>
          </a:p>
          <a:p>
            <a:pPr marL="285750" indent="-285750" latinLnBrk="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Macroeconomic Volatility</a:t>
            </a:r>
            <a:r>
              <a:rPr lang="en-US" sz="1600" dirty="0">
                <a:latin typeface="Arial" panose="020B0604020202020204" pitchFamily="34" charset="0"/>
                <a:cs typeface="Arial" panose="020B0604020202020204" pitchFamily="34" charset="0"/>
              </a:rPr>
              <a:t>: Events like the 2013 taper tantrum, 2018 IDR depreciation</a:t>
            </a:r>
            <a:r>
              <a:rPr lang="en-US" sz="1600" dirty="0" smtClean="0">
                <a:latin typeface="Arial" panose="020B0604020202020204" pitchFamily="34" charset="0"/>
                <a:cs typeface="Arial" panose="020B0604020202020204" pitchFamily="34" charset="0"/>
              </a:rPr>
              <a:t>, and </a:t>
            </a:r>
            <a:r>
              <a:rPr lang="en-US" sz="1600" dirty="0">
                <a:latin typeface="Arial" panose="020B0604020202020204" pitchFamily="34" charset="0"/>
                <a:cs typeface="Arial" panose="020B0604020202020204" pitchFamily="34" charset="0"/>
              </a:rPr>
              <a:t>COVID-19 have increased forex risks</a:t>
            </a:r>
          </a:p>
          <a:p>
            <a:pPr marL="285750" indent="-285750" latinLnBrk="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Research Gap</a:t>
            </a:r>
            <a:r>
              <a:rPr lang="en-US" sz="1600" dirty="0">
                <a:latin typeface="Arial" panose="020B0604020202020204" pitchFamily="34" charset="0"/>
                <a:cs typeface="Arial" panose="020B0604020202020204" pitchFamily="34" charset="0"/>
              </a:rPr>
              <a:t>: Limited empirical studies on how Indonesian steel firms manage forex risk and its impact on financial performance</a:t>
            </a:r>
          </a:p>
          <a:p>
            <a:pPr marL="285750" indent="-285750" latinLnBrk="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Case Focus – PT Krakatau Steel</a:t>
            </a:r>
            <a:r>
              <a:rPr lang="en-US" sz="1600" dirty="0">
                <a:latin typeface="Arial" panose="020B0604020202020204" pitchFamily="34" charset="0"/>
                <a:cs typeface="Arial" panose="020B0604020202020204" pitchFamily="34" charset="0"/>
              </a:rPr>
              <a:t>: </a:t>
            </a:r>
          </a:p>
          <a:p>
            <a:pPr marL="342900" indent="-342900" latinLnBrk="0">
              <a:lnSpc>
                <a:spcPct val="150000"/>
              </a:lnSpc>
              <a:buFont typeface="+mj-lt"/>
              <a:buAutoNum type="arabicPeriod"/>
            </a:pPr>
            <a:r>
              <a:rPr lang="en-US" sz="1600" dirty="0">
                <a:latin typeface="Arial" panose="020B0604020202020204" pitchFamily="34" charset="0"/>
                <a:cs typeface="Arial" panose="020B0604020202020204" pitchFamily="34" charset="0"/>
              </a:rPr>
              <a:t>Largest integrated, publicly listed steel producer in Indonesia</a:t>
            </a:r>
          </a:p>
          <a:p>
            <a:pPr marL="342900" indent="-342900" latinLnBrk="0">
              <a:lnSpc>
                <a:spcPct val="150000"/>
              </a:lnSpc>
              <a:buFont typeface="+mj-lt"/>
              <a:buAutoNum type="arabicPeriod"/>
            </a:pPr>
            <a:r>
              <a:rPr lang="en-US" sz="1600" dirty="0">
                <a:latin typeface="Arial" panose="020B0604020202020204" pitchFamily="34" charset="0"/>
                <a:cs typeface="Arial" panose="020B0604020202020204" pitchFamily="34" charset="0"/>
              </a:rPr>
              <a:t>Significant USD exposure and available data (financial reports, disclosures)</a:t>
            </a:r>
          </a:p>
          <a:p>
            <a:pPr marL="342900" indent="-342900" latinLnBrk="0">
              <a:lnSpc>
                <a:spcPct val="150000"/>
              </a:lnSpc>
              <a:buFont typeface="+mj-lt"/>
              <a:buAutoNum type="arabicPeriod"/>
            </a:pPr>
            <a:r>
              <a:rPr lang="en-US" sz="1600" dirty="0">
                <a:latin typeface="Arial" panose="020B0604020202020204" pitchFamily="34" charset="0"/>
                <a:cs typeface="Arial" panose="020B0604020202020204" pitchFamily="34" charset="0"/>
              </a:rPr>
              <a:t>Underwent restructuring during volatile periods—valuable for analysis</a:t>
            </a:r>
          </a:p>
          <a:p>
            <a:pPr marL="285750" indent="-285750" latinLnBrk="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Purpose</a:t>
            </a:r>
            <a:r>
              <a:rPr lang="en-US" sz="1600" dirty="0">
                <a:latin typeface="Arial" panose="020B0604020202020204" pitchFamily="34" charset="0"/>
                <a:cs typeface="Arial" panose="020B0604020202020204" pitchFamily="34" charset="0"/>
              </a:rPr>
              <a:t>: Explore forex risk management at PT Krakatau Steel and assess its effect on profitability and financial stability</a:t>
            </a:r>
            <a:endParaRPr lang="ko-KR" altLang="en-US" sz="1600" b="1" i="1" dirty="0">
              <a:solidFill>
                <a:srgbClr val="2D2D2D"/>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8103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9"/>
          <p:cNvSpPr txBox="1">
            <a:spLocks/>
          </p:cNvSpPr>
          <p:nvPr/>
        </p:nvSpPr>
        <p:spPr>
          <a:xfrm>
            <a:off x="250348" y="116632"/>
            <a:ext cx="6430844"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rgbClr val="FF0066"/>
                </a:solidFill>
                <a:latin typeface="Arial" panose="020B0604020202020204" pitchFamily="34" charset="0"/>
                <a:ea typeface="HY견고딕" panose="02030600000101010101" pitchFamily="18" charset="-127"/>
                <a:cs typeface="Arial" panose="020B0604020202020204" pitchFamily="34" charset="0"/>
              </a:rPr>
              <a:t>2. Research Question &amp; Hypothesis</a:t>
            </a:r>
          </a:p>
        </p:txBody>
      </p:sp>
      <p:graphicFrame>
        <p:nvGraphicFramePr>
          <p:cNvPr id="3" name="표 2">
            <a:extLst>
              <a:ext uri="{FF2B5EF4-FFF2-40B4-BE49-F238E27FC236}">
                <a16:creationId xmlns:a16="http://schemas.microsoft.com/office/drawing/2014/main" id="{F6C96A33-E85A-85DD-54DF-1F177FEA8AF1}"/>
              </a:ext>
            </a:extLst>
          </p:cNvPr>
          <p:cNvGraphicFramePr>
            <a:graphicFrameLocks noGrp="1"/>
          </p:cNvGraphicFramePr>
          <p:nvPr>
            <p:extLst>
              <p:ext uri="{D42A27DB-BD31-4B8C-83A1-F6EECF244321}">
                <p14:modId xmlns:p14="http://schemas.microsoft.com/office/powerpoint/2010/main" val="1384969462"/>
              </p:ext>
            </p:extLst>
          </p:nvPr>
        </p:nvGraphicFramePr>
        <p:xfrm>
          <a:off x="272480" y="836712"/>
          <a:ext cx="9217024" cy="5218049"/>
        </p:xfrm>
        <a:graphic>
          <a:graphicData uri="http://schemas.openxmlformats.org/drawingml/2006/table">
            <a:tbl>
              <a:tblPr firstRow="1" bandRow="1">
                <a:tableStyleId>{F5AB1C69-6EDB-4FF4-983F-18BD219EF322}</a:tableStyleId>
              </a:tblPr>
              <a:tblGrid>
                <a:gridCol w="1456422">
                  <a:extLst>
                    <a:ext uri="{9D8B030D-6E8A-4147-A177-3AD203B41FA5}">
                      <a16:colId xmlns:a16="http://schemas.microsoft.com/office/drawing/2014/main" val="975066688"/>
                    </a:ext>
                  </a:extLst>
                </a:gridCol>
                <a:gridCol w="7760602">
                  <a:extLst>
                    <a:ext uri="{9D8B030D-6E8A-4147-A177-3AD203B41FA5}">
                      <a16:colId xmlns:a16="http://schemas.microsoft.com/office/drawing/2014/main" val="3639201471"/>
                    </a:ext>
                  </a:extLst>
                </a:gridCol>
              </a:tblGrid>
              <a:tr h="2657151">
                <a:tc>
                  <a:txBody>
                    <a:bodyPr/>
                    <a:lstStyle/>
                    <a:p>
                      <a:pPr marL="0" algn="l" defTabSz="914400" rtl="0" eaLnBrk="1" latinLnBrk="0" hangingPunct="1">
                        <a:lnSpc>
                          <a:spcPct val="120000"/>
                        </a:lnSpc>
                      </a:pPr>
                      <a:r>
                        <a:rPr lang="en-US" altLang="ko-KR" sz="1600" b="1" kern="1200" dirty="0">
                          <a:solidFill>
                            <a:schemeClr val="tx1"/>
                          </a:solidFill>
                          <a:latin typeface="Arial" panose="020B0604020202020204" pitchFamily="34" charset="0"/>
                          <a:ea typeface="+mn-ea"/>
                          <a:cs typeface="Arial" panose="020B0604020202020204" pitchFamily="34" charset="0"/>
                        </a:rPr>
                        <a:t>Research Question</a:t>
                      </a:r>
                      <a:endParaRPr lang="ko-KR" altLang="en-US" sz="1600" b="1" kern="120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just" latinLnBrk="0">
                        <a:lnSpc>
                          <a:spcPct val="120000"/>
                        </a:lnSpc>
                      </a:pPr>
                      <a:r>
                        <a:rPr lang="en-US" sz="1500" b="1" dirty="0">
                          <a:solidFill>
                            <a:schemeClr val="tx1"/>
                          </a:solidFill>
                          <a:latin typeface="Arial" panose="020B0604020202020204" pitchFamily="34" charset="0"/>
                          <a:cs typeface="Arial" panose="020B0604020202020204" pitchFamily="34" charset="0"/>
                        </a:rPr>
                        <a:t>Main Research Question:</a:t>
                      </a:r>
                    </a:p>
                    <a:p>
                      <a:pPr algn="just" latinLnBrk="0">
                        <a:lnSpc>
                          <a:spcPct val="120000"/>
                        </a:lnSpc>
                      </a:pPr>
                      <a:r>
                        <a:rPr lang="en-US" sz="1500" b="0" dirty="0">
                          <a:solidFill>
                            <a:schemeClr val="tx1"/>
                          </a:solidFill>
                          <a:latin typeface="Arial" panose="020B0604020202020204" pitchFamily="34" charset="0"/>
                          <a:cs typeface="Arial" panose="020B0604020202020204" pitchFamily="34" charset="0"/>
                        </a:rPr>
                        <a:t>How does Indonesia’s largest steel producer, PT Krakatau Steel, manage foreign exchange risk, and what is the impact of these strategies on its financial performance?</a:t>
                      </a:r>
                    </a:p>
                    <a:p>
                      <a:pPr algn="just" latinLnBrk="0">
                        <a:lnSpc>
                          <a:spcPct val="120000"/>
                        </a:lnSpc>
                      </a:pPr>
                      <a:endParaRPr lang="en-US" sz="1500" b="0" dirty="0">
                        <a:solidFill>
                          <a:schemeClr val="tx1"/>
                        </a:solidFill>
                        <a:latin typeface="Arial" panose="020B0604020202020204" pitchFamily="34" charset="0"/>
                        <a:cs typeface="Arial" panose="020B0604020202020204" pitchFamily="34" charset="0"/>
                      </a:endParaRPr>
                    </a:p>
                    <a:p>
                      <a:pPr algn="just" latinLnBrk="0">
                        <a:lnSpc>
                          <a:spcPct val="120000"/>
                        </a:lnSpc>
                      </a:pPr>
                      <a:r>
                        <a:rPr lang="en-US" sz="1500" b="1" dirty="0">
                          <a:solidFill>
                            <a:schemeClr val="tx1"/>
                          </a:solidFill>
                          <a:latin typeface="Arial" panose="020B0604020202020204" pitchFamily="34" charset="0"/>
                          <a:cs typeface="Arial" panose="020B0604020202020204" pitchFamily="34" charset="0"/>
                        </a:rPr>
                        <a:t>Sub-questions:</a:t>
                      </a:r>
                    </a:p>
                    <a:p>
                      <a:pPr marL="342900" indent="-342900" algn="just" latinLnBrk="0">
                        <a:lnSpc>
                          <a:spcPct val="120000"/>
                        </a:lnSpc>
                        <a:buFont typeface="+mj-lt"/>
                        <a:buAutoNum type="arabicPeriod"/>
                      </a:pPr>
                      <a:r>
                        <a:rPr lang="en-US" sz="1500" b="0" dirty="0">
                          <a:solidFill>
                            <a:schemeClr val="tx1"/>
                          </a:solidFill>
                          <a:latin typeface="Arial" panose="020B0604020202020204" pitchFamily="34" charset="0"/>
                          <a:cs typeface="Arial" panose="020B0604020202020204" pitchFamily="34" charset="0"/>
                        </a:rPr>
                        <a:t>What types of forex risk are most significant for PT Krakatau Steel?</a:t>
                      </a:r>
                    </a:p>
                    <a:p>
                      <a:pPr marL="342900" indent="-342900" algn="just" latinLnBrk="0">
                        <a:lnSpc>
                          <a:spcPct val="120000"/>
                        </a:lnSpc>
                        <a:buFont typeface="+mj-lt"/>
                        <a:buAutoNum type="arabicPeriod"/>
                      </a:pPr>
                      <a:r>
                        <a:rPr lang="en-US" sz="1500" b="0" dirty="0">
                          <a:solidFill>
                            <a:schemeClr val="tx1"/>
                          </a:solidFill>
                          <a:latin typeface="Arial" panose="020B0604020202020204" pitchFamily="34" charset="0"/>
                          <a:cs typeface="Arial" panose="020B0604020202020204" pitchFamily="34" charset="0"/>
                        </a:rPr>
                        <a:t>What hedging techniques/tools are used to manage IDR/USD exposure?</a:t>
                      </a:r>
                    </a:p>
                    <a:p>
                      <a:pPr marL="342900" indent="-342900" algn="just" latinLnBrk="0">
                        <a:lnSpc>
                          <a:spcPct val="120000"/>
                        </a:lnSpc>
                        <a:buFont typeface="+mj-lt"/>
                        <a:buAutoNum type="arabicPeriod"/>
                      </a:pPr>
                      <a:r>
                        <a:rPr lang="en-US" sz="1500" b="0" dirty="0">
                          <a:solidFill>
                            <a:schemeClr val="tx1"/>
                          </a:solidFill>
                          <a:latin typeface="Arial" panose="020B0604020202020204" pitchFamily="34" charset="0"/>
                          <a:cs typeface="Arial" panose="020B0604020202020204" pitchFamily="34" charset="0"/>
                        </a:rPr>
                        <a:t>How effective are these strategies in mitigating financial losses?</a:t>
                      </a:r>
                    </a:p>
                    <a:p>
                      <a:pPr marL="342900" indent="-342900" algn="just" latinLnBrk="0">
                        <a:lnSpc>
                          <a:spcPct val="120000"/>
                        </a:lnSpc>
                        <a:buFont typeface="+mj-lt"/>
                        <a:buAutoNum type="arabicPeriod"/>
                      </a:pPr>
                      <a:r>
                        <a:rPr lang="en-US" sz="1500" b="0" dirty="0">
                          <a:solidFill>
                            <a:schemeClr val="tx1"/>
                          </a:solidFill>
                          <a:latin typeface="Arial" panose="020B0604020202020204" pitchFamily="34" charset="0"/>
                          <a:cs typeface="Arial" panose="020B0604020202020204" pitchFamily="34" charset="0"/>
                        </a:rPr>
                        <a:t>Is there a measurable relationship between FX risk management and financial metrics (e.g., ROA, net income)?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5476193"/>
                  </a:ext>
                </a:extLst>
              </a:tr>
              <a:tr h="2383409">
                <a:tc>
                  <a:txBody>
                    <a:bodyPr/>
                    <a:lstStyle/>
                    <a:p>
                      <a:pPr marL="0" algn="l" defTabSz="914400" rtl="0" eaLnBrk="1" latinLnBrk="0" hangingPunct="1">
                        <a:lnSpc>
                          <a:spcPct val="120000"/>
                        </a:lnSpc>
                      </a:pPr>
                      <a:r>
                        <a:rPr lang="en-US" altLang="ko-KR" sz="1600" b="1" kern="1200" dirty="0">
                          <a:solidFill>
                            <a:schemeClr val="tx1"/>
                          </a:solidFill>
                          <a:latin typeface="Arial" panose="020B0604020202020204" pitchFamily="34" charset="0"/>
                          <a:ea typeface="+mn-ea"/>
                          <a:cs typeface="Arial" panose="020B0604020202020204" pitchFamily="34" charset="0"/>
                        </a:rPr>
                        <a:t>Hypothesis</a:t>
                      </a:r>
                      <a:endParaRPr lang="ko-KR" altLang="en-US" sz="1600" b="1" kern="120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marL="285750" indent="-285750" algn="just" latinLnBrk="0">
                        <a:lnSpc>
                          <a:spcPct val="120000"/>
                        </a:lnSpc>
                        <a:buFont typeface="Arial" panose="020B0604020202020204" pitchFamily="34" charset="0"/>
                        <a:buChar char="•"/>
                      </a:pPr>
                      <a:r>
                        <a:rPr lang="en-US" sz="1500" b="1" dirty="0">
                          <a:latin typeface="Arial" panose="020B0604020202020204" pitchFamily="34" charset="0"/>
                          <a:cs typeface="Arial" panose="020B0604020202020204" pitchFamily="34" charset="0"/>
                        </a:rPr>
                        <a:t>H1</a:t>
                      </a:r>
                      <a:r>
                        <a:rPr lang="en-US" sz="1500" dirty="0">
                          <a:latin typeface="Arial" panose="020B0604020202020204" pitchFamily="34" charset="0"/>
                          <a:cs typeface="Arial" panose="020B0604020202020204" pitchFamily="34" charset="0"/>
                        </a:rPr>
                        <a:t>: Foreign exchange risk management has a </a:t>
                      </a:r>
                      <a:r>
                        <a:rPr lang="en-US" sz="1500" b="1" dirty="0">
                          <a:latin typeface="Arial" panose="020B0604020202020204" pitchFamily="34" charset="0"/>
                          <a:cs typeface="Arial" panose="020B0604020202020204" pitchFamily="34" charset="0"/>
                        </a:rPr>
                        <a:t>positive effect</a:t>
                      </a:r>
                      <a:r>
                        <a:rPr lang="en-US" sz="1500" dirty="0">
                          <a:latin typeface="Arial" panose="020B0604020202020204" pitchFamily="34" charset="0"/>
                          <a:cs typeface="Arial" panose="020B0604020202020204" pitchFamily="34" charset="0"/>
                        </a:rPr>
                        <a:t> on financial performance</a:t>
                      </a:r>
                    </a:p>
                    <a:p>
                      <a:pPr marL="285750" indent="-285750" algn="just" latinLnBrk="0">
                        <a:lnSpc>
                          <a:spcPct val="120000"/>
                        </a:lnSpc>
                        <a:buFont typeface="Arial" panose="020B0604020202020204" pitchFamily="34" charset="0"/>
                        <a:buChar char="•"/>
                      </a:pPr>
                      <a:r>
                        <a:rPr lang="en-US" sz="1500" b="1" dirty="0">
                          <a:latin typeface="Arial" panose="020B0604020202020204" pitchFamily="34" charset="0"/>
                          <a:cs typeface="Arial" panose="020B0604020202020204" pitchFamily="34" charset="0"/>
                        </a:rPr>
                        <a:t>H2</a:t>
                      </a:r>
                      <a:r>
                        <a:rPr lang="en-US" sz="1500" dirty="0">
                          <a:latin typeface="Arial" panose="020B0604020202020204" pitchFamily="34" charset="0"/>
                          <a:cs typeface="Arial" panose="020B0604020202020204" pitchFamily="34" charset="0"/>
                        </a:rPr>
                        <a:t>: Use of hedging </a:t>
                      </a:r>
                      <a:r>
                        <a:rPr lang="en-US" sz="1500" b="1" dirty="0">
                          <a:latin typeface="Arial" panose="020B0604020202020204" pitchFamily="34" charset="0"/>
                          <a:cs typeface="Arial" panose="020B0604020202020204" pitchFamily="34" charset="0"/>
                        </a:rPr>
                        <a:t>reduces FX losses</a:t>
                      </a:r>
                      <a:r>
                        <a:rPr lang="en-US" sz="1500" dirty="0">
                          <a:latin typeface="Arial" panose="020B0604020202020204" pitchFamily="34" charset="0"/>
                          <a:cs typeface="Arial" panose="020B0604020202020204" pitchFamily="34" charset="0"/>
                        </a:rPr>
                        <a:t> during high volatility periods</a:t>
                      </a:r>
                    </a:p>
                    <a:p>
                      <a:pPr marL="285750" indent="-285750" algn="just" latinLnBrk="0">
                        <a:lnSpc>
                          <a:spcPct val="120000"/>
                        </a:lnSpc>
                        <a:buFont typeface="Arial" panose="020B0604020202020204" pitchFamily="34" charset="0"/>
                        <a:buChar char="•"/>
                      </a:pPr>
                      <a:r>
                        <a:rPr lang="en-US" sz="1500" b="1" dirty="0">
                          <a:latin typeface="Arial" panose="020B0604020202020204" pitchFamily="34" charset="0"/>
                          <a:cs typeface="Arial" panose="020B0604020202020204" pitchFamily="34" charset="0"/>
                        </a:rPr>
                        <a:t>H3</a:t>
                      </a:r>
                      <a:r>
                        <a:rPr lang="en-US" sz="1500" dirty="0">
                          <a:latin typeface="Arial" panose="020B0604020202020204" pitchFamily="34" charset="0"/>
                          <a:cs typeface="Arial" panose="020B0604020202020204" pitchFamily="34" charset="0"/>
                        </a:rPr>
                        <a:t>: A </a:t>
                      </a:r>
                      <a:r>
                        <a:rPr lang="en-US" sz="1500" b="1" dirty="0">
                          <a:latin typeface="Arial" panose="020B0604020202020204" pitchFamily="34" charset="0"/>
                          <a:cs typeface="Arial" panose="020B0604020202020204" pitchFamily="34" charset="0"/>
                        </a:rPr>
                        <a:t>higher hedging ratio</a:t>
                      </a:r>
                      <a:r>
                        <a:rPr lang="en-US" sz="1500" dirty="0">
                          <a:latin typeface="Arial" panose="020B0604020202020204" pitchFamily="34" charset="0"/>
                          <a:cs typeface="Arial" panose="020B0604020202020204" pitchFamily="34" charset="0"/>
                        </a:rPr>
                        <a:t> is associated with </a:t>
                      </a:r>
                      <a:r>
                        <a:rPr lang="en-US" sz="1500" b="1" dirty="0">
                          <a:latin typeface="Arial" panose="020B0604020202020204" pitchFamily="34" charset="0"/>
                          <a:cs typeface="Arial" panose="020B0604020202020204" pitchFamily="34" charset="0"/>
                        </a:rPr>
                        <a:t>lower volatility</a:t>
                      </a:r>
                      <a:r>
                        <a:rPr lang="en-US" sz="1500" dirty="0">
                          <a:latin typeface="Arial" panose="020B0604020202020204" pitchFamily="34" charset="0"/>
                          <a:cs typeface="Arial" panose="020B0604020202020204" pitchFamily="34" charset="0"/>
                        </a:rPr>
                        <a:t> in cash flow or earnings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7098316"/>
                  </a:ext>
                </a:extLst>
              </a:tr>
            </a:tbl>
          </a:graphicData>
        </a:graphic>
      </p:graphicFrame>
      <p:sp>
        <p:nvSpPr>
          <p:cNvPr id="5" name="슬라이드 번호 개체 틀 2"/>
          <p:cNvSpPr>
            <a:spLocks noGrp="1"/>
          </p:cNvSpPr>
          <p:nvPr>
            <p:ph type="sldNum" sz="quarter" idx="13"/>
          </p:nvPr>
        </p:nvSpPr>
        <p:spPr>
          <a:xfrm>
            <a:off x="4736977" y="6381328"/>
            <a:ext cx="492444"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5</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Tree>
    <p:extLst>
      <p:ext uri="{BB962C8B-B14F-4D97-AF65-F5344CB8AC3E}">
        <p14:creationId xmlns:p14="http://schemas.microsoft.com/office/powerpoint/2010/main" val="2051893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CE9A4-7C71-C0B1-E9E4-515F1149FC94}"/>
            </a:ext>
          </a:extLst>
        </p:cNvPr>
        <p:cNvGrpSpPr/>
        <p:nvPr/>
      </p:nvGrpSpPr>
      <p:grpSpPr>
        <a:xfrm>
          <a:off x="0" y="0"/>
          <a:ext cx="0" cy="0"/>
          <a:chOff x="0" y="0"/>
          <a:chExt cx="0" cy="0"/>
        </a:xfrm>
      </p:grpSpPr>
      <p:sp>
        <p:nvSpPr>
          <p:cNvPr id="9" name="제목 9">
            <a:extLst>
              <a:ext uri="{FF2B5EF4-FFF2-40B4-BE49-F238E27FC236}">
                <a16:creationId xmlns:a16="http://schemas.microsoft.com/office/drawing/2014/main" id="{A9D1782F-E71E-8943-CA52-700F5B4D0E16}"/>
              </a:ext>
            </a:extLst>
          </p:cNvPr>
          <p:cNvSpPr txBox="1">
            <a:spLocks/>
          </p:cNvSpPr>
          <p:nvPr/>
        </p:nvSpPr>
        <p:spPr>
          <a:xfrm>
            <a:off x="250348" y="116632"/>
            <a:ext cx="6430844"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rgbClr val="FF0066"/>
                </a:solidFill>
                <a:latin typeface="Arial" panose="020B0604020202020204" pitchFamily="34" charset="0"/>
                <a:ea typeface="HY견고딕" panose="02030600000101010101" pitchFamily="18" charset="-127"/>
                <a:cs typeface="Arial" panose="020B0604020202020204" pitchFamily="34" charset="0"/>
              </a:rPr>
              <a:t>3. Literature Review (Practical Case)</a:t>
            </a:r>
          </a:p>
        </p:txBody>
      </p:sp>
      <p:sp>
        <p:nvSpPr>
          <p:cNvPr id="2" name="TextBox 1">
            <a:extLst>
              <a:ext uri="{FF2B5EF4-FFF2-40B4-BE49-F238E27FC236}">
                <a16:creationId xmlns:a16="http://schemas.microsoft.com/office/drawing/2014/main" id="{0C1FF634-595A-44EF-B418-57302BE68302}"/>
              </a:ext>
            </a:extLst>
          </p:cNvPr>
          <p:cNvSpPr txBox="1"/>
          <p:nvPr/>
        </p:nvSpPr>
        <p:spPr>
          <a:xfrm>
            <a:off x="416496" y="692696"/>
            <a:ext cx="9001000" cy="5670783"/>
          </a:xfrm>
          <a:prstGeom prst="rect">
            <a:avLst/>
          </a:prstGeom>
          <a:noFill/>
        </p:spPr>
        <p:txBody>
          <a:bodyPr wrap="square">
            <a:spAutoFit/>
          </a:bodyPr>
          <a:lstStyle/>
          <a:p>
            <a:pPr latinLnBrk="0"/>
            <a:r>
              <a:rPr lang="en-US" sz="1450" dirty="0">
                <a:latin typeface="Arial" panose="020B0604020202020204" pitchFamily="34" charset="0"/>
                <a:cs typeface="Arial" panose="020B0604020202020204" pitchFamily="34" charset="0"/>
              </a:rPr>
              <a:t>Several studies have explored foreign exchange (FX) risk and hedging in emerging markets. (</a:t>
            </a:r>
            <a:r>
              <a:rPr lang="en-US" sz="1450" dirty="0" err="1">
                <a:latin typeface="Arial" panose="020B0604020202020204" pitchFamily="34" charset="0"/>
                <a:cs typeface="Arial" panose="020B0604020202020204" pitchFamily="34" charset="0"/>
              </a:rPr>
              <a:t>Susmel</a:t>
            </a:r>
            <a:r>
              <a:rPr lang="en-US" sz="1450" dirty="0">
                <a:latin typeface="Arial" panose="020B0604020202020204" pitchFamily="34" charset="0"/>
                <a:cs typeface="Arial" panose="020B0604020202020204" pitchFamily="34" charset="0"/>
              </a:rPr>
              <a:t>, n.d.)        categorized FX risk into transaction, translation, and economic exposures. </a:t>
            </a:r>
            <a:r>
              <a:rPr lang="en-ID" sz="1450" dirty="0" err="1">
                <a:latin typeface="Arial" panose="020B0604020202020204" pitchFamily="34" charset="0"/>
                <a:cs typeface="Arial" panose="020B0604020202020204" pitchFamily="34" charset="0"/>
              </a:rPr>
              <a:t>Ogundu</a:t>
            </a:r>
            <a:r>
              <a:rPr lang="en-ID" sz="1450" dirty="0">
                <a:latin typeface="Arial" panose="020B0604020202020204" pitchFamily="34" charset="0"/>
                <a:cs typeface="Arial" panose="020B0604020202020204" pitchFamily="34" charset="0"/>
              </a:rPr>
              <a:t> (2025) </a:t>
            </a:r>
            <a:r>
              <a:rPr lang="en-US" sz="1450" dirty="0">
                <a:latin typeface="Arial" panose="020B0604020202020204" pitchFamily="34" charset="0"/>
                <a:cs typeface="Arial" panose="020B0604020202020204" pitchFamily="34" charset="0"/>
              </a:rPr>
              <a:t> described to manage these, firms use derivatives (forwards, swaps, options) and operational strategies such as matching </a:t>
            </a:r>
            <a:r>
              <a:rPr lang="en-US" sz="1450" dirty="0" smtClean="0">
                <a:latin typeface="Arial" panose="020B0604020202020204" pitchFamily="34" charset="0"/>
                <a:cs typeface="Arial" panose="020B0604020202020204" pitchFamily="34" charset="0"/>
              </a:rPr>
              <a:t>currency inflows </a:t>
            </a:r>
            <a:r>
              <a:rPr lang="en-US" sz="1450" dirty="0">
                <a:latin typeface="Arial" panose="020B0604020202020204" pitchFamily="34" charset="0"/>
                <a:cs typeface="Arial" panose="020B0604020202020204" pitchFamily="34" charset="0"/>
              </a:rPr>
              <a:t>and outflows, which help stabilize cash flow and improve firm value.</a:t>
            </a:r>
          </a:p>
          <a:p>
            <a:pPr latinLnBrk="0"/>
            <a:endParaRPr lang="en-US" sz="1450" dirty="0">
              <a:latin typeface="Arial" panose="020B0604020202020204" pitchFamily="34" charset="0"/>
              <a:cs typeface="Arial" panose="020B0604020202020204" pitchFamily="34" charset="0"/>
            </a:endParaRPr>
          </a:p>
          <a:p>
            <a:pPr latinLnBrk="0"/>
            <a:r>
              <a:rPr lang="en-US" sz="1450" dirty="0">
                <a:latin typeface="Arial" panose="020B0604020202020204" pitchFamily="34" charset="0"/>
                <a:cs typeface="Arial" panose="020B0604020202020204" pitchFamily="34" charset="0"/>
              </a:rPr>
              <a:t>Research from emerging markets like Malaysia by (Tran &amp; Nguyen, 2020) shows hedging increases firm value by 8–19%, but adoption is constrained by liquidity, cost, and firm characteristics like size and leverage. </a:t>
            </a:r>
            <a:r>
              <a:rPr lang="en-US" sz="1450" dirty="0" smtClean="0">
                <a:latin typeface="Arial" panose="020B0604020202020204" pitchFamily="34" charset="0"/>
                <a:cs typeface="Arial" panose="020B0604020202020204" pitchFamily="34" charset="0"/>
              </a:rPr>
              <a:t>In </a:t>
            </a:r>
            <a:r>
              <a:rPr lang="en-US" sz="1450" dirty="0">
                <a:latin typeface="Arial" panose="020B0604020202020204" pitchFamily="34" charset="0"/>
                <a:cs typeface="Arial" panose="020B0604020202020204" pitchFamily="34" charset="0"/>
              </a:rPr>
              <a:t>Indonesia, manufacturing firms—including state-owned enterprises—utilize both financial and natural </a:t>
            </a:r>
            <a:r>
              <a:rPr lang="en-US" sz="1450" dirty="0" smtClean="0">
                <a:latin typeface="Arial" panose="020B0604020202020204" pitchFamily="34" charset="0"/>
                <a:cs typeface="Arial" panose="020B0604020202020204" pitchFamily="34" charset="0"/>
              </a:rPr>
              <a:t>hedging methods </a:t>
            </a:r>
            <a:r>
              <a:rPr lang="en-US" sz="1450" dirty="0">
                <a:latin typeface="Arial" panose="020B0604020202020204" pitchFamily="34" charset="0"/>
                <a:cs typeface="Arial" panose="020B0604020202020204" pitchFamily="34" charset="0"/>
              </a:rPr>
              <a:t>(International Monetary Fund, 2024). According to </a:t>
            </a:r>
            <a:r>
              <a:rPr lang="en-US" sz="1450" i="1" dirty="0">
                <a:latin typeface="Arial" panose="020B0604020202020204" pitchFamily="34" charset="0"/>
                <a:cs typeface="Arial" panose="020B0604020202020204" pitchFamily="34" charset="0"/>
              </a:rPr>
              <a:t>Bank Indonesia</a:t>
            </a:r>
            <a:r>
              <a:rPr lang="en-US" sz="1450" dirty="0">
                <a:latin typeface="Arial" panose="020B0604020202020204" pitchFamily="34" charset="0"/>
                <a:cs typeface="Arial" panose="020B0604020202020204" pitchFamily="34" charset="0"/>
              </a:rPr>
              <a:t> (2013), the regulation outlines </a:t>
            </a:r>
            <a:r>
              <a:rPr lang="en-US" sz="1450" dirty="0" smtClean="0">
                <a:latin typeface="Arial" panose="020B0604020202020204" pitchFamily="34" charset="0"/>
                <a:cs typeface="Arial" panose="020B0604020202020204" pitchFamily="34" charset="0"/>
              </a:rPr>
              <a:t>key </a:t>
            </a:r>
            <a:r>
              <a:rPr lang="en-US" sz="1450" dirty="0">
                <a:latin typeface="Arial" panose="020B0604020202020204" pitchFamily="34" charset="0"/>
                <a:cs typeface="Arial" panose="020B0604020202020204" pitchFamily="34" charset="0"/>
              </a:rPr>
              <a:t>principles for hedging transactions and risk management.</a:t>
            </a:r>
          </a:p>
          <a:p>
            <a:pPr latinLnBrk="0"/>
            <a:endParaRPr lang="en-US" sz="1450" dirty="0">
              <a:latin typeface="Arial" panose="020B0604020202020204" pitchFamily="34" charset="0"/>
              <a:cs typeface="Arial" panose="020B0604020202020204" pitchFamily="34" charset="0"/>
            </a:endParaRPr>
          </a:p>
          <a:p>
            <a:pPr latinLnBrk="0"/>
            <a:r>
              <a:rPr lang="en-US" sz="1450" dirty="0">
                <a:latin typeface="Arial" panose="020B0604020202020204" pitchFamily="34" charset="0"/>
                <a:cs typeface="Arial" panose="020B0604020202020204" pitchFamily="34" charset="0"/>
              </a:rPr>
              <a:t>A case study on PT Krakatau Steel reveals active hedging through swaps, forwards, and options. In 2014, the    company hedged 50% of its USD-denominated sales (~US$100–130 million/month) using local bank facilities </a:t>
            </a:r>
            <a:r>
              <a:rPr lang="en-US" sz="1450" dirty="0" smtClean="0">
                <a:latin typeface="Arial" panose="020B0604020202020204" pitchFamily="34" charset="0"/>
                <a:cs typeface="Arial" panose="020B0604020202020204" pitchFamily="34" charset="0"/>
              </a:rPr>
              <a:t>(</a:t>
            </a:r>
            <a:r>
              <a:rPr lang="en-US" sz="1450" dirty="0">
                <a:latin typeface="Arial" panose="020B0604020202020204" pitchFamily="34" charset="0"/>
                <a:cs typeface="Arial" panose="020B0604020202020204" pitchFamily="34" charset="0"/>
              </a:rPr>
              <a:t>Berita Satu, 2014). Despite this, FX losses still contributed to net losses, highlighting risk magnitude.</a:t>
            </a:r>
          </a:p>
          <a:p>
            <a:pPr latinLnBrk="0"/>
            <a:r>
              <a:rPr lang="en-US" sz="1450" dirty="0">
                <a:latin typeface="Arial" panose="020B0604020202020204" pitchFamily="34" charset="0"/>
                <a:cs typeface="Arial" panose="020B0604020202020204" pitchFamily="34" charset="0"/>
              </a:rPr>
              <a:t>However, most studies are descriptive. Little longitudinal or regression-based analysis exists linking hedging </a:t>
            </a:r>
            <a:r>
              <a:rPr lang="en-US" sz="1450" dirty="0" smtClean="0">
                <a:latin typeface="Arial" panose="020B0604020202020204" pitchFamily="34" charset="0"/>
                <a:cs typeface="Arial" panose="020B0604020202020204" pitchFamily="34" charset="0"/>
              </a:rPr>
              <a:t>intensity </a:t>
            </a:r>
            <a:r>
              <a:rPr lang="en-US" sz="1450" dirty="0">
                <a:latin typeface="Arial" panose="020B0604020202020204" pitchFamily="34" charset="0"/>
                <a:cs typeface="Arial" panose="020B0604020202020204" pitchFamily="34" charset="0"/>
              </a:rPr>
              <a:t>to financial performance. This study addresses that gap by analyzing PT Krakatau Steel’s hedging </a:t>
            </a:r>
            <a:r>
              <a:rPr lang="en-US" sz="1450" dirty="0" smtClean="0">
                <a:latin typeface="Arial" panose="020B0604020202020204" pitchFamily="34" charset="0"/>
                <a:cs typeface="Arial" panose="020B0604020202020204" pitchFamily="34" charset="0"/>
              </a:rPr>
              <a:t>activities </a:t>
            </a:r>
            <a:r>
              <a:rPr lang="en-US" sz="1450" dirty="0">
                <a:latin typeface="Arial" panose="020B0604020202020204" pitchFamily="34" charset="0"/>
                <a:cs typeface="Arial" panose="020B0604020202020204" pitchFamily="34" charset="0"/>
              </a:rPr>
              <a:t>and their effectiveness during periods of currency volatility.</a:t>
            </a:r>
          </a:p>
          <a:p>
            <a:pPr latinLnBrk="0"/>
            <a:endParaRPr lang="en-US" sz="1450" dirty="0">
              <a:latin typeface="Arial" panose="020B0604020202020204" pitchFamily="34" charset="0"/>
              <a:cs typeface="Arial" panose="020B0604020202020204" pitchFamily="34" charset="0"/>
            </a:endParaRPr>
          </a:p>
          <a:p>
            <a:pPr latinLnBrk="0"/>
            <a:r>
              <a:rPr lang="en-US" sz="1450" dirty="0">
                <a:latin typeface="Arial" panose="020B0604020202020204" pitchFamily="34" charset="0"/>
                <a:cs typeface="Arial" panose="020B0604020202020204" pitchFamily="34" charset="0"/>
              </a:rPr>
              <a:t>Recent studies in Indonesia further support the relevance of foreign exchange risk management to firm </a:t>
            </a:r>
            <a:r>
              <a:rPr lang="en-US" sz="1450" dirty="0" smtClean="0">
                <a:latin typeface="Arial" panose="020B0604020202020204" pitchFamily="34" charset="0"/>
                <a:cs typeface="Arial" panose="020B0604020202020204" pitchFamily="34" charset="0"/>
              </a:rPr>
              <a:t>value</a:t>
            </a:r>
            <a:r>
              <a:rPr lang="en-US" sz="1450" dirty="0">
                <a:latin typeface="Arial" panose="020B0604020202020204" pitchFamily="34" charset="0"/>
                <a:cs typeface="Arial" panose="020B0604020202020204" pitchFamily="34" charset="0"/>
              </a:rPr>
              <a:t>. </a:t>
            </a:r>
            <a:r>
              <a:rPr lang="en-US" sz="1450" dirty="0" err="1">
                <a:latin typeface="Arial" panose="020B0604020202020204" pitchFamily="34" charset="0"/>
                <a:cs typeface="Arial" panose="020B0604020202020204" pitchFamily="34" charset="0"/>
              </a:rPr>
              <a:t>Irawanti</a:t>
            </a:r>
            <a:r>
              <a:rPr lang="en-US" sz="1450" dirty="0">
                <a:latin typeface="Arial" panose="020B0604020202020204" pitchFamily="34" charset="0"/>
                <a:cs typeface="Arial" panose="020B0604020202020204" pitchFamily="34" charset="0"/>
              </a:rPr>
              <a:t> et al. (2021) found that hedging through financial derivatives significantly enhances firm </a:t>
            </a:r>
            <a:r>
              <a:rPr lang="en-US" sz="1450" dirty="0" smtClean="0">
                <a:latin typeface="Arial" panose="020B0604020202020204" pitchFamily="34" charset="0"/>
                <a:cs typeface="Arial" panose="020B0604020202020204" pitchFamily="34" charset="0"/>
              </a:rPr>
              <a:t>value </a:t>
            </a:r>
            <a:r>
              <a:rPr lang="en-US" sz="1450" dirty="0">
                <a:latin typeface="Arial" panose="020B0604020202020204" pitchFamily="34" charset="0"/>
                <a:cs typeface="Arial" panose="020B0604020202020204" pitchFamily="34" charset="0"/>
              </a:rPr>
              <a:t>in capital-intensive industries, particularly among listed mining firms. Meanwhile, </a:t>
            </a:r>
            <a:r>
              <a:rPr lang="en-US" sz="1450" dirty="0" err="1">
                <a:latin typeface="Arial" panose="020B0604020202020204" pitchFamily="34" charset="0"/>
                <a:cs typeface="Arial" panose="020B0604020202020204" pitchFamily="34" charset="0"/>
              </a:rPr>
              <a:t>Nasriani</a:t>
            </a:r>
            <a:r>
              <a:rPr lang="en-US" sz="1450" dirty="0">
                <a:latin typeface="Arial" panose="020B0604020202020204" pitchFamily="34" charset="0"/>
                <a:cs typeface="Arial" panose="020B0604020202020204" pitchFamily="34" charset="0"/>
              </a:rPr>
              <a:t> (2024) </a:t>
            </a:r>
            <a:r>
              <a:rPr lang="en-US" sz="1450" dirty="0" smtClean="0">
                <a:latin typeface="Arial" panose="020B0604020202020204" pitchFamily="34" charset="0"/>
                <a:cs typeface="Arial" panose="020B0604020202020204" pitchFamily="34" charset="0"/>
              </a:rPr>
              <a:t>observed </a:t>
            </a:r>
            <a:r>
              <a:rPr lang="en-US" sz="1450" dirty="0">
                <a:latin typeface="Arial" panose="020B0604020202020204" pitchFamily="34" charset="0"/>
                <a:cs typeface="Arial" panose="020B0604020202020204" pitchFamily="34" charset="0"/>
              </a:rPr>
              <a:t>that even SMEs adopt risk mitigation tools in response to exchange rate volatility, though </a:t>
            </a:r>
            <a:r>
              <a:rPr lang="en-US" sz="1450" dirty="0" smtClean="0">
                <a:latin typeface="Arial" panose="020B0604020202020204" pitchFamily="34" charset="0"/>
                <a:cs typeface="Arial" panose="020B0604020202020204" pitchFamily="34" charset="0"/>
              </a:rPr>
              <a:t>access to </a:t>
            </a:r>
            <a:r>
              <a:rPr lang="en-US" sz="1450" dirty="0">
                <a:latin typeface="Arial" panose="020B0604020202020204" pitchFamily="34" charset="0"/>
                <a:cs typeface="Arial" panose="020B0604020202020204" pitchFamily="34" charset="0"/>
              </a:rPr>
              <a:t>formal derivative markets remains limited. These findings reinforce the importance of studying how large Indonesian industrial firms like PT Krakatau Steel manage foreign exchange exposure.</a:t>
            </a:r>
          </a:p>
        </p:txBody>
      </p:sp>
      <p:sp>
        <p:nvSpPr>
          <p:cNvPr id="5" name="슬라이드 번호 개체 틀 2">
            <a:extLst>
              <a:ext uri="{FF2B5EF4-FFF2-40B4-BE49-F238E27FC236}">
                <a16:creationId xmlns:a16="http://schemas.microsoft.com/office/drawing/2014/main" id="{D376F40D-0040-5092-60A3-E038E2162F49}"/>
              </a:ext>
            </a:extLst>
          </p:cNvPr>
          <p:cNvSpPr>
            <a:spLocks noGrp="1"/>
          </p:cNvSpPr>
          <p:nvPr>
            <p:ph type="sldNum" sz="quarter" idx="13"/>
          </p:nvPr>
        </p:nvSpPr>
        <p:spPr>
          <a:xfrm>
            <a:off x="4736977" y="6381328"/>
            <a:ext cx="492444"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6</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Tree>
    <p:extLst>
      <p:ext uri="{BB962C8B-B14F-4D97-AF65-F5344CB8AC3E}">
        <p14:creationId xmlns:p14="http://schemas.microsoft.com/office/powerpoint/2010/main" val="2368309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9"/>
          <p:cNvSpPr txBox="1">
            <a:spLocks/>
          </p:cNvSpPr>
          <p:nvPr/>
        </p:nvSpPr>
        <p:spPr>
          <a:xfrm>
            <a:off x="250348" y="116632"/>
            <a:ext cx="6430844"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rgbClr val="FF0066"/>
                </a:solidFill>
                <a:latin typeface="Arial" panose="020B0604020202020204" pitchFamily="34" charset="0"/>
                <a:ea typeface="HY견고딕" panose="02030600000101010101" pitchFamily="18" charset="-127"/>
                <a:cs typeface="Arial" panose="020B0604020202020204" pitchFamily="34" charset="0"/>
              </a:rPr>
              <a:t>4. Methodology(1): Data Description</a:t>
            </a:r>
          </a:p>
        </p:txBody>
      </p:sp>
      <p:graphicFrame>
        <p:nvGraphicFramePr>
          <p:cNvPr id="5" name="표 4">
            <a:extLst>
              <a:ext uri="{FF2B5EF4-FFF2-40B4-BE49-F238E27FC236}">
                <a16:creationId xmlns:a16="http://schemas.microsoft.com/office/drawing/2014/main" id="{EFA9DBBD-4155-04E7-8BB0-C13AA4A32E41}"/>
              </a:ext>
            </a:extLst>
          </p:cNvPr>
          <p:cNvGraphicFramePr>
            <a:graphicFrameLocks noGrp="1"/>
          </p:cNvGraphicFramePr>
          <p:nvPr>
            <p:extLst>
              <p:ext uri="{D42A27DB-BD31-4B8C-83A1-F6EECF244321}">
                <p14:modId xmlns:p14="http://schemas.microsoft.com/office/powerpoint/2010/main" val="1967757513"/>
              </p:ext>
            </p:extLst>
          </p:nvPr>
        </p:nvGraphicFramePr>
        <p:xfrm>
          <a:off x="344488" y="764704"/>
          <a:ext cx="9155694" cy="5256584"/>
        </p:xfrm>
        <a:graphic>
          <a:graphicData uri="http://schemas.openxmlformats.org/drawingml/2006/table">
            <a:tbl>
              <a:tblPr firstRow="1" bandRow="1">
                <a:tableStyleId>{F5AB1C69-6EDB-4FF4-983F-18BD219EF322}</a:tableStyleId>
              </a:tblPr>
              <a:tblGrid>
                <a:gridCol w="1900046">
                  <a:extLst>
                    <a:ext uri="{9D8B030D-6E8A-4147-A177-3AD203B41FA5}">
                      <a16:colId xmlns:a16="http://schemas.microsoft.com/office/drawing/2014/main" val="975066688"/>
                    </a:ext>
                  </a:extLst>
                </a:gridCol>
                <a:gridCol w="7255648">
                  <a:extLst>
                    <a:ext uri="{9D8B030D-6E8A-4147-A177-3AD203B41FA5}">
                      <a16:colId xmlns:a16="http://schemas.microsoft.com/office/drawing/2014/main" val="3639201471"/>
                    </a:ext>
                  </a:extLst>
                </a:gridCol>
              </a:tblGrid>
              <a:tr h="5256584">
                <a:tc>
                  <a:txBody>
                    <a:bodyPr/>
                    <a:lstStyle/>
                    <a:p>
                      <a:pPr marL="0" algn="l" defTabSz="914400" rtl="0" eaLnBrk="1" latinLnBrk="1" hangingPunct="1"/>
                      <a:r>
                        <a:rPr lang="en-US" altLang="ko-KR" sz="1600" b="1" kern="1200" dirty="0">
                          <a:solidFill>
                            <a:schemeClr val="tx1"/>
                          </a:solidFill>
                          <a:latin typeface="Arial" panose="020B0604020202020204" pitchFamily="34" charset="0"/>
                          <a:ea typeface="+mn-ea"/>
                          <a:cs typeface="Arial" panose="020B0604020202020204" pitchFamily="34" charset="0"/>
                        </a:rPr>
                        <a:t>Data Description</a:t>
                      </a:r>
                    </a:p>
                    <a:p>
                      <a:pPr marL="0" algn="l" defTabSz="914400" rtl="0" eaLnBrk="1" latinLnBrk="1" hangingPunct="1"/>
                      <a:r>
                        <a:rPr lang="en-US" altLang="ko-KR" sz="1600" b="1" kern="1200" dirty="0">
                          <a:solidFill>
                            <a:schemeClr val="tx1"/>
                          </a:solidFill>
                          <a:latin typeface="Arial" panose="020B0604020202020204" pitchFamily="34" charset="0"/>
                          <a:ea typeface="+mn-ea"/>
                          <a:cs typeface="Arial" panose="020B0604020202020204" pitchFamily="34" charset="0"/>
                        </a:rPr>
                        <a:t>(Data Collection)</a:t>
                      </a:r>
                      <a:endParaRPr lang="ko-KR" altLang="en-US" sz="1600" b="1" kern="120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r>
                        <a:rPr lang="en-ID" sz="1600" b="1" dirty="0" smtClean="0">
                          <a:solidFill>
                            <a:schemeClr val="tx1"/>
                          </a:solidFill>
                          <a:latin typeface="Arial" panose="020B0604020202020204" pitchFamily="34" charset="0"/>
                          <a:cs typeface="Arial" panose="020B0604020202020204" pitchFamily="34" charset="0"/>
                        </a:rPr>
                        <a:t>️ </a:t>
                      </a:r>
                      <a:r>
                        <a:rPr lang="en-ID" sz="1600" b="1" dirty="0">
                          <a:solidFill>
                            <a:schemeClr val="tx1"/>
                          </a:solidFill>
                          <a:latin typeface="Arial" panose="020B0604020202020204" pitchFamily="34" charset="0"/>
                          <a:cs typeface="Arial" panose="020B0604020202020204" pitchFamily="34" charset="0"/>
                        </a:rPr>
                        <a:t>Data Overview</a:t>
                      </a:r>
                      <a:endParaRPr lang="en-ID" sz="1600" dirty="0">
                        <a:solidFill>
                          <a:schemeClr val="tx1"/>
                        </a:solidFill>
                        <a:latin typeface="Arial" panose="020B0604020202020204" pitchFamily="34" charset="0"/>
                        <a:cs typeface="Arial" panose="020B0604020202020204" pitchFamily="34" charset="0"/>
                      </a:endParaRPr>
                    </a:p>
                    <a:p>
                      <a:r>
                        <a:rPr lang="en-ID" sz="1600" b="0" dirty="0">
                          <a:solidFill>
                            <a:schemeClr val="tx1"/>
                          </a:solidFill>
                          <a:latin typeface="Arial" panose="020B0604020202020204" pitchFamily="34" charset="0"/>
                          <a:cs typeface="Arial" panose="020B0604020202020204" pitchFamily="34" charset="0"/>
                        </a:rPr>
                        <a:t>Quantitative study using multiple linear regression</a:t>
                      </a:r>
                    </a:p>
                    <a:p>
                      <a:r>
                        <a:rPr lang="en-ID" sz="1600" dirty="0">
                          <a:solidFill>
                            <a:schemeClr val="tx1"/>
                          </a:solidFill>
                          <a:latin typeface="Arial" panose="020B0604020202020204" pitchFamily="34" charset="0"/>
                          <a:cs typeface="Arial" panose="020B0604020202020204" pitchFamily="34" charset="0"/>
                        </a:rPr>
                        <a:t>Period: </a:t>
                      </a:r>
                      <a:r>
                        <a:rPr lang="en-ID" sz="1600" b="0" dirty="0">
                          <a:solidFill>
                            <a:schemeClr val="tx1"/>
                          </a:solidFill>
                          <a:latin typeface="Arial" panose="020B0604020202020204" pitchFamily="34" charset="0"/>
                          <a:cs typeface="Arial" panose="020B0604020202020204" pitchFamily="34" charset="0"/>
                        </a:rPr>
                        <a:t>2013–2023 (quarterly data)</a:t>
                      </a:r>
                    </a:p>
                    <a:p>
                      <a:r>
                        <a:rPr lang="en-ID" sz="1600" dirty="0">
                          <a:solidFill>
                            <a:schemeClr val="tx1"/>
                          </a:solidFill>
                          <a:latin typeface="Arial" panose="020B0604020202020204" pitchFamily="34" charset="0"/>
                          <a:cs typeface="Arial" panose="020B0604020202020204" pitchFamily="34" charset="0"/>
                        </a:rPr>
                        <a:t>Focus: </a:t>
                      </a:r>
                      <a:r>
                        <a:rPr lang="en-ID" sz="1600" b="0" dirty="0">
                          <a:solidFill>
                            <a:schemeClr val="tx1"/>
                          </a:solidFill>
                          <a:latin typeface="Arial" panose="020B0604020202020204" pitchFamily="34" charset="0"/>
                          <a:cs typeface="Arial" panose="020B0604020202020204" pitchFamily="34" charset="0"/>
                        </a:rPr>
                        <a:t>PT Krakatau Steel (Persero) </a:t>
                      </a:r>
                      <a:r>
                        <a:rPr lang="en-ID" sz="1600" b="0" dirty="0" err="1">
                          <a:solidFill>
                            <a:schemeClr val="tx1"/>
                          </a:solidFill>
                          <a:latin typeface="Arial" panose="020B0604020202020204" pitchFamily="34" charset="0"/>
                          <a:cs typeface="Arial" panose="020B0604020202020204" pitchFamily="34" charset="0"/>
                        </a:rPr>
                        <a:t>Tbk</a:t>
                      </a:r>
                      <a:endParaRPr lang="en-ID" sz="1600" b="0" dirty="0">
                        <a:solidFill>
                          <a:schemeClr val="tx1"/>
                        </a:solidFill>
                        <a:latin typeface="Arial" panose="020B0604020202020204" pitchFamily="34" charset="0"/>
                        <a:cs typeface="Arial" panose="020B0604020202020204" pitchFamily="34" charset="0"/>
                      </a:endParaRPr>
                    </a:p>
                    <a:p>
                      <a:endParaRPr lang="en-ID" sz="1600" b="0" dirty="0">
                        <a:solidFill>
                          <a:schemeClr val="tx1"/>
                        </a:solidFill>
                        <a:latin typeface="Arial" panose="020B0604020202020204" pitchFamily="34" charset="0"/>
                        <a:cs typeface="Arial" panose="020B0604020202020204" pitchFamily="34" charset="0"/>
                      </a:endParaRPr>
                    </a:p>
                    <a:p>
                      <a:r>
                        <a:rPr lang="en-ID" sz="1600" b="0" dirty="0">
                          <a:solidFill>
                            <a:schemeClr val="tx1"/>
                          </a:solidFill>
                          <a:latin typeface="Arial" panose="020B0604020202020204" pitchFamily="34" charset="0"/>
                          <a:cs typeface="Arial" panose="020B0604020202020204" pitchFamily="34" charset="0"/>
                        </a:rPr>
                        <a:t>📊 </a:t>
                      </a:r>
                      <a:r>
                        <a:rPr lang="en-ID" sz="1600" b="1" dirty="0">
                          <a:solidFill>
                            <a:schemeClr val="tx1"/>
                          </a:solidFill>
                          <a:latin typeface="Arial" panose="020B0604020202020204" pitchFamily="34" charset="0"/>
                          <a:cs typeface="Arial" panose="020B0604020202020204" pitchFamily="34" charset="0"/>
                        </a:rPr>
                        <a:t>Variables</a:t>
                      </a:r>
                    </a:p>
                    <a:p>
                      <a:r>
                        <a:rPr lang="en-ID" sz="1600" b="1" dirty="0">
                          <a:solidFill>
                            <a:schemeClr val="tx1"/>
                          </a:solidFill>
                          <a:latin typeface="Arial" panose="020B0604020202020204" pitchFamily="34" charset="0"/>
                          <a:cs typeface="Arial" panose="020B0604020202020204" pitchFamily="34" charset="0"/>
                        </a:rPr>
                        <a:t>Independent Variable</a:t>
                      </a:r>
                      <a:r>
                        <a:rPr lang="en-ID" sz="1600" dirty="0">
                          <a:solidFill>
                            <a:schemeClr val="tx1"/>
                          </a:solidFill>
                          <a:latin typeface="Arial" panose="020B0604020202020204" pitchFamily="34" charset="0"/>
                          <a:cs typeface="Arial" panose="020B0604020202020204" pitchFamily="34" charset="0"/>
                        </a:rPr>
                        <a:t>: </a:t>
                      </a:r>
                      <a:r>
                        <a:rPr lang="en-ID" sz="1600" b="0" dirty="0">
                          <a:solidFill>
                            <a:schemeClr val="tx1"/>
                          </a:solidFill>
                          <a:latin typeface="Arial" panose="020B0604020202020204" pitchFamily="34" charset="0"/>
                          <a:cs typeface="Arial" panose="020B0604020202020204" pitchFamily="34" charset="0"/>
                        </a:rPr>
                        <a:t>Exchange Rate Volatility (IDR/USD)</a:t>
                      </a:r>
                    </a:p>
                    <a:p>
                      <a:r>
                        <a:rPr lang="en-ID" sz="1600" b="1" dirty="0">
                          <a:solidFill>
                            <a:schemeClr val="tx1"/>
                          </a:solidFill>
                          <a:latin typeface="Arial" panose="020B0604020202020204" pitchFamily="34" charset="0"/>
                          <a:cs typeface="Arial" panose="020B0604020202020204" pitchFamily="34" charset="0"/>
                        </a:rPr>
                        <a:t>Moderating Variable</a:t>
                      </a:r>
                      <a:r>
                        <a:rPr lang="en-ID" sz="1600" dirty="0">
                          <a:solidFill>
                            <a:schemeClr val="tx1"/>
                          </a:solidFill>
                          <a:latin typeface="Arial" panose="020B0604020202020204" pitchFamily="34" charset="0"/>
                          <a:cs typeface="Arial" panose="020B0604020202020204" pitchFamily="34" charset="0"/>
                        </a:rPr>
                        <a:t>: </a:t>
                      </a:r>
                      <a:r>
                        <a:rPr lang="en-ID" sz="1600" b="0" dirty="0">
                          <a:solidFill>
                            <a:schemeClr val="tx1"/>
                          </a:solidFill>
                          <a:latin typeface="Arial" panose="020B0604020202020204" pitchFamily="34" charset="0"/>
                          <a:cs typeface="Arial" panose="020B0604020202020204" pitchFamily="34" charset="0"/>
                        </a:rPr>
                        <a:t>Hedging Intensity (derivative use)</a:t>
                      </a:r>
                    </a:p>
                    <a:p>
                      <a:r>
                        <a:rPr lang="en-ID" sz="1600" b="1" dirty="0">
                          <a:solidFill>
                            <a:schemeClr val="tx1"/>
                          </a:solidFill>
                          <a:latin typeface="Arial" panose="020B0604020202020204" pitchFamily="34" charset="0"/>
                          <a:cs typeface="Arial" panose="020B0604020202020204" pitchFamily="34" charset="0"/>
                        </a:rPr>
                        <a:t>Dependent Variables</a:t>
                      </a:r>
                      <a:r>
                        <a:rPr lang="en-ID" sz="1600" dirty="0">
                          <a:solidFill>
                            <a:schemeClr val="tx1"/>
                          </a:solidFill>
                          <a:latin typeface="Arial" panose="020B0604020202020204" pitchFamily="34" charset="0"/>
                          <a:cs typeface="Arial" panose="020B0604020202020204" pitchFamily="34" charset="0"/>
                        </a:rPr>
                        <a:t>:</a:t>
                      </a:r>
                    </a:p>
                    <a:p>
                      <a:r>
                        <a:rPr lang="en-ID" sz="1600" b="0" dirty="0">
                          <a:solidFill>
                            <a:schemeClr val="tx1"/>
                          </a:solidFill>
                          <a:latin typeface="Arial" panose="020B0604020202020204" pitchFamily="34" charset="0"/>
                          <a:cs typeface="Arial" panose="020B0604020202020204" pitchFamily="34" charset="0"/>
                        </a:rPr>
                        <a:t> - Return on Assets (ROA)</a:t>
                      </a:r>
                    </a:p>
                    <a:p>
                      <a:r>
                        <a:rPr lang="en-ID" sz="1600" b="0" dirty="0">
                          <a:solidFill>
                            <a:schemeClr val="tx1"/>
                          </a:solidFill>
                          <a:latin typeface="Arial" panose="020B0604020202020204" pitchFamily="34" charset="0"/>
                          <a:cs typeface="Arial" panose="020B0604020202020204" pitchFamily="34" charset="0"/>
                        </a:rPr>
                        <a:t> - Net Income</a:t>
                      </a:r>
                    </a:p>
                    <a:p>
                      <a:r>
                        <a:rPr lang="en-ID" sz="1600" b="0" dirty="0">
                          <a:solidFill>
                            <a:schemeClr val="tx1"/>
                          </a:solidFill>
                          <a:latin typeface="Arial" panose="020B0604020202020204" pitchFamily="34" charset="0"/>
                          <a:cs typeface="Arial" panose="020B0604020202020204" pitchFamily="34" charset="0"/>
                        </a:rPr>
                        <a:t> - Cash Flow Volatility</a:t>
                      </a:r>
                    </a:p>
                    <a:p>
                      <a:endParaRPr lang="en-ID" sz="1600" b="1" dirty="0">
                        <a:solidFill>
                          <a:schemeClr val="tx1"/>
                        </a:solidFill>
                        <a:latin typeface="Arial" panose="020B0604020202020204" pitchFamily="34" charset="0"/>
                        <a:cs typeface="Arial" panose="020B0604020202020204" pitchFamily="34" charset="0"/>
                      </a:endParaRPr>
                    </a:p>
                    <a:p>
                      <a:r>
                        <a:rPr lang="en-ID" sz="1600" b="0" dirty="0">
                          <a:solidFill>
                            <a:schemeClr val="tx1"/>
                          </a:solidFill>
                          <a:latin typeface="Arial" panose="020B0604020202020204" pitchFamily="34" charset="0"/>
                          <a:cs typeface="Arial" panose="020B0604020202020204" pitchFamily="34" charset="0"/>
                        </a:rPr>
                        <a:t>📁</a:t>
                      </a:r>
                      <a:r>
                        <a:rPr lang="en-ID" sz="1600" b="1" dirty="0">
                          <a:solidFill>
                            <a:schemeClr val="tx1"/>
                          </a:solidFill>
                          <a:latin typeface="Arial" panose="020B0604020202020204" pitchFamily="34" charset="0"/>
                          <a:cs typeface="Arial" panose="020B0604020202020204" pitchFamily="34" charset="0"/>
                        </a:rPr>
                        <a:t> Data Sources</a:t>
                      </a:r>
                    </a:p>
                    <a:p>
                      <a:r>
                        <a:rPr lang="en-ID" sz="1600" dirty="0">
                          <a:solidFill>
                            <a:schemeClr val="tx1"/>
                          </a:solidFill>
                          <a:latin typeface="Arial" panose="020B0604020202020204" pitchFamily="34" charset="0"/>
                          <a:cs typeface="Arial" panose="020B0604020202020204" pitchFamily="34" charset="0"/>
                        </a:rPr>
                        <a:t>Financial data: </a:t>
                      </a:r>
                      <a:r>
                        <a:rPr lang="en-ID" sz="1600" b="0" dirty="0">
                          <a:solidFill>
                            <a:schemeClr val="tx1"/>
                          </a:solidFill>
                          <a:latin typeface="Arial" panose="020B0604020202020204" pitchFamily="34" charset="0"/>
                          <a:cs typeface="Arial" panose="020B0604020202020204" pitchFamily="34" charset="0"/>
                        </a:rPr>
                        <a:t>Indonesia Stock Exchange (IDX), company reports</a:t>
                      </a:r>
                    </a:p>
                    <a:p>
                      <a:r>
                        <a:rPr lang="en-ID" sz="1600" dirty="0">
                          <a:solidFill>
                            <a:schemeClr val="tx1"/>
                          </a:solidFill>
                          <a:latin typeface="Arial" panose="020B0604020202020204" pitchFamily="34" charset="0"/>
                          <a:cs typeface="Arial" panose="020B0604020202020204" pitchFamily="34" charset="0"/>
                        </a:rPr>
                        <a:t>FX data: </a:t>
                      </a:r>
                      <a:r>
                        <a:rPr lang="en-ID" sz="1600" b="0" dirty="0">
                          <a:solidFill>
                            <a:schemeClr val="tx1"/>
                          </a:solidFill>
                          <a:latin typeface="Arial" panose="020B0604020202020204" pitchFamily="34" charset="0"/>
                          <a:cs typeface="Arial" panose="020B0604020202020204" pitchFamily="34" charset="0"/>
                        </a:rPr>
                        <a:t>Bank Indonesia official IDR/USD rates</a:t>
                      </a:r>
                    </a:p>
                    <a:p>
                      <a:r>
                        <a:rPr lang="en-ID" sz="1600" dirty="0">
                          <a:solidFill>
                            <a:schemeClr val="tx1"/>
                          </a:solidFill>
                          <a:latin typeface="Arial" panose="020B0604020202020204" pitchFamily="34" charset="0"/>
                          <a:cs typeface="Arial" panose="020B0604020202020204" pitchFamily="34" charset="0"/>
                        </a:rPr>
                        <a:t>Hedging data: </a:t>
                      </a:r>
                      <a:r>
                        <a:rPr lang="en-ID" sz="1600" b="0" dirty="0">
                          <a:solidFill>
                            <a:schemeClr val="tx1"/>
                          </a:solidFill>
                          <a:latin typeface="Arial" panose="020B0604020202020204" pitchFamily="34" charset="0"/>
                          <a:cs typeface="Arial" panose="020B0604020202020204" pitchFamily="34" charset="0"/>
                        </a:rPr>
                        <a:t>Notes in audited financial statements (forward, swaps, 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5476193"/>
                  </a:ext>
                </a:extLst>
              </a:tr>
            </a:tbl>
          </a:graphicData>
        </a:graphic>
      </p:graphicFrame>
      <p:sp>
        <p:nvSpPr>
          <p:cNvPr id="6" name="슬라이드 번호 개체 틀 2"/>
          <p:cNvSpPr>
            <a:spLocks noGrp="1"/>
          </p:cNvSpPr>
          <p:nvPr>
            <p:ph type="sldNum" sz="quarter" idx="13"/>
          </p:nvPr>
        </p:nvSpPr>
        <p:spPr>
          <a:xfrm>
            <a:off x="4736977" y="6381328"/>
            <a:ext cx="492444"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7</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Tree>
    <p:extLst>
      <p:ext uri="{BB962C8B-B14F-4D97-AF65-F5344CB8AC3E}">
        <p14:creationId xmlns:p14="http://schemas.microsoft.com/office/powerpoint/2010/main" val="3735195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9"/>
          <p:cNvSpPr txBox="1">
            <a:spLocks/>
          </p:cNvSpPr>
          <p:nvPr/>
        </p:nvSpPr>
        <p:spPr>
          <a:xfrm>
            <a:off x="250348" y="116632"/>
            <a:ext cx="6430844"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rgbClr val="FF0066"/>
                </a:solidFill>
                <a:latin typeface="Arial" panose="020B0604020202020204" pitchFamily="34" charset="0"/>
                <a:ea typeface="HY견고딕" panose="02030600000101010101" pitchFamily="18" charset="-127"/>
                <a:cs typeface="Arial" panose="020B0604020202020204" pitchFamily="34" charset="0"/>
              </a:rPr>
              <a:t>5. Methodology(2): Analysis</a:t>
            </a:r>
          </a:p>
        </p:txBody>
      </p:sp>
      <p:graphicFrame>
        <p:nvGraphicFramePr>
          <p:cNvPr id="5" name="표 4">
            <a:extLst>
              <a:ext uri="{FF2B5EF4-FFF2-40B4-BE49-F238E27FC236}">
                <a16:creationId xmlns:a16="http://schemas.microsoft.com/office/drawing/2014/main" id="{EFA9DBBD-4155-04E7-8BB0-C13AA4A32E41}"/>
              </a:ext>
            </a:extLst>
          </p:cNvPr>
          <p:cNvGraphicFramePr>
            <a:graphicFrameLocks noGrp="1"/>
          </p:cNvGraphicFramePr>
          <p:nvPr>
            <p:extLst>
              <p:ext uri="{D42A27DB-BD31-4B8C-83A1-F6EECF244321}">
                <p14:modId xmlns:p14="http://schemas.microsoft.com/office/powerpoint/2010/main" val="1456372304"/>
              </p:ext>
            </p:extLst>
          </p:nvPr>
        </p:nvGraphicFramePr>
        <p:xfrm>
          <a:off x="405818" y="693296"/>
          <a:ext cx="9073008" cy="5400000"/>
        </p:xfrm>
        <a:graphic>
          <a:graphicData uri="http://schemas.openxmlformats.org/drawingml/2006/table">
            <a:tbl>
              <a:tblPr firstRow="1" bandRow="1">
                <a:tableStyleId>{F5AB1C69-6EDB-4FF4-983F-18BD219EF322}</a:tableStyleId>
              </a:tblPr>
              <a:tblGrid>
                <a:gridCol w="1810878">
                  <a:extLst>
                    <a:ext uri="{9D8B030D-6E8A-4147-A177-3AD203B41FA5}">
                      <a16:colId xmlns:a16="http://schemas.microsoft.com/office/drawing/2014/main" val="975066688"/>
                    </a:ext>
                  </a:extLst>
                </a:gridCol>
                <a:gridCol w="7262130">
                  <a:extLst>
                    <a:ext uri="{9D8B030D-6E8A-4147-A177-3AD203B41FA5}">
                      <a16:colId xmlns:a16="http://schemas.microsoft.com/office/drawing/2014/main" val="3639201471"/>
                    </a:ext>
                  </a:extLst>
                </a:gridCol>
              </a:tblGrid>
              <a:tr h="5400000">
                <a:tc>
                  <a:txBody>
                    <a:bodyPr/>
                    <a:lstStyle/>
                    <a:p>
                      <a:pPr marL="0" algn="l" defTabSz="914400" rtl="0" eaLnBrk="1" latinLnBrk="1" hangingPunct="1"/>
                      <a:r>
                        <a:rPr lang="en-US" altLang="ko-KR" sz="1600" b="1" kern="1200" dirty="0">
                          <a:solidFill>
                            <a:schemeClr val="tx1"/>
                          </a:solidFill>
                          <a:latin typeface="Arial" panose="020B0604020202020204" pitchFamily="34" charset="0"/>
                          <a:ea typeface="+mn-ea"/>
                          <a:cs typeface="Arial" panose="020B0604020202020204" pitchFamily="34" charset="0"/>
                        </a:rPr>
                        <a:t>Data Analysis</a:t>
                      </a:r>
                      <a:endParaRPr lang="ko-KR" altLang="en-US" sz="1600" b="1" kern="120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marL="0" indent="0" algn="l" defTabSz="914400" rtl="0" eaLnBrk="1" latinLnBrk="1" hangingPunct="1">
                        <a:lnSpc>
                          <a:spcPct val="130000"/>
                        </a:lnSpc>
                        <a:buFont typeface="Arial" panose="020B0604020202020204" pitchFamily="34" charset="0"/>
                        <a:buNone/>
                      </a:pPr>
                      <a:r>
                        <a:rPr lang="en-US" sz="1600" b="0" kern="1200" dirty="0">
                          <a:solidFill>
                            <a:schemeClr val="tx1"/>
                          </a:solidFill>
                          <a:latin typeface="Arial" panose="020B0604020202020204" pitchFamily="34" charset="0"/>
                          <a:ea typeface="+mn-ea"/>
                          <a:cs typeface="Arial" panose="020B0604020202020204" pitchFamily="34" charset="0"/>
                        </a:rPr>
                        <a:t>🔧 </a:t>
                      </a:r>
                      <a:r>
                        <a:rPr lang="en-ID" sz="1600" dirty="0">
                          <a:solidFill>
                            <a:schemeClr val="tx1"/>
                          </a:solidFill>
                          <a:latin typeface="Arial" panose="020B0604020202020204" pitchFamily="34" charset="0"/>
                          <a:cs typeface="Arial" panose="020B0604020202020204" pitchFamily="34" charset="0"/>
                        </a:rPr>
                        <a:t>Analytical Approach</a:t>
                      </a:r>
                    </a:p>
                    <a:p>
                      <a:pPr marL="285750" indent="-285750">
                        <a:buFont typeface="Arial" panose="020B0604020202020204" pitchFamily="34" charset="0"/>
                        <a:buChar char="•"/>
                      </a:pPr>
                      <a:r>
                        <a:rPr lang="en-US" sz="1600" b="0" dirty="0">
                          <a:solidFill>
                            <a:schemeClr val="tx1"/>
                          </a:solidFill>
                          <a:latin typeface="Arial" panose="020B0604020202020204" pitchFamily="34" charset="0"/>
                          <a:cs typeface="Arial" panose="020B0604020202020204" pitchFamily="34" charset="0"/>
                        </a:rPr>
                        <a:t>Time-series multiple linear regression</a:t>
                      </a:r>
                    </a:p>
                    <a:p>
                      <a:pPr marL="285750" indent="-285750">
                        <a:buFont typeface="Arial" panose="020B0604020202020204" pitchFamily="34" charset="0"/>
                        <a:buChar char="•"/>
                      </a:pPr>
                      <a:r>
                        <a:rPr lang="en-US" sz="1600" b="0" dirty="0">
                          <a:solidFill>
                            <a:schemeClr val="tx1"/>
                          </a:solidFill>
                          <a:latin typeface="Arial" panose="020B0604020202020204" pitchFamily="34" charset="0"/>
                          <a:cs typeface="Arial" panose="020B0604020202020204" pitchFamily="34" charset="0"/>
                        </a:rPr>
                        <a:t>Includes </a:t>
                      </a:r>
                      <a:r>
                        <a:rPr lang="en-US" sz="1600" b="1" dirty="0">
                          <a:solidFill>
                            <a:schemeClr val="tx1"/>
                          </a:solidFill>
                          <a:latin typeface="Arial" panose="020B0604020202020204" pitchFamily="34" charset="0"/>
                          <a:cs typeface="Arial" panose="020B0604020202020204" pitchFamily="34" charset="0"/>
                        </a:rPr>
                        <a:t>interaction</a:t>
                      </a:r>
                      <a:r>
                        <a:rPr lang="en-US" sz="1600" b="0" dirty="0">
                          <a:solidFill>
                            <a:schemeClr val="tx1"/>
                          </a:solidFill>
                          <a:latin typeface="Arial" panose="020B0604020202020204" pitchFamily="34" charset="0"/>
                          <a:cs typeface="Arial" panose="020B0604020202020204" pitchFamily="34" charset="0"/>
                        </a:rPr>
                        <a:t> term: </a:t>
                      </a:r>
                      <a:r>
                        <a:rPr lang="en-US" sz="1600" b="0" i="1" dirty="0">
                          <a:solidFill>
                            <a:schemeClr val="tx1"/>
                          </a:solidFill>
                          <a:latin typeface="Arial" panose="020B0604020202020204" pitchFamily="34" charset="0"/>
                          <a:cs typeface="Arial" panose="020B0604020202020204" pitchFamily="34" charset="0"/>
                        </a:rPr>
                        <a:t>FX Volatility × Hedging Intensity</a:t>
                      </a:r>
                    </a:p>
                    <a:p>
                      <a:pPr marL="285750" indent="-285750">
                        <a:buFont typeface="Arial" panose="020B0604020202020204" pitchFamily="34" charset="0"/>
                        <a:buChar char="•"/>
                      </a:pPr>
                      <a:r>
                        <a:rPr lang="en-US" sz="1600" b="0" dirty="0">
                          <a:solidFill>
                            <a:schemeClr val="tx1"/>
                          </a:solidFill>
                          <a:latin typeface="Arial" panose="020B0604020202020204" pitchFamily="34" charset="0"/>
                          <a:cs typeface="Arial" panose="020B0604020202020204" pitchFamily="34" charset="0"/>
                        </a:rPr>
                        <a:t>The interaction term (FX volatility × Hedging Intensity) is used to test moderation effect on financial performance</a:t>
                      </a:r>
                    </a:p>
                    <a:p>
                      <a:pPr marL="285750" indent="-285750">
                        <a:buFont typeface="Arial" panose="020B0604020202020204" pitchFamily="34" charset="0"/>
                        <a:buChar char="•"/>
                      </a:pPr>
                      <a:r>
                        <a:rPr lang="en-US" sz="1600" b="0" dirty="0">
                          <a:solidFill>
                            <a:schemeClr val="tx1"/>
                          </a:solidFill>
                          <a:latin typeface="Arial" panose="020B0604020202020204" pitchFamily="34" charset="0"/>
                          <a:cs typeface="Arial" panose="020B0604020202020204" pitchFamily="34" charset="0"/>
                        </a:rPr>
                        <a:t>Period analyzed: 2013–2023, quarterly data</a:t>
                      </a:r>
                    </a:p>
                    <a:p>
                      <a:pPr marL="285750" indent="-285750">
                        <a:buFont typeface="Arial" panose="020B0604020202020204" pitchFamily="34" charset="0"/>
                        <a:buChar char="•"/>
                      </a:pPr>
                      <a:endParaRPr lang="en-US" sz="1600" b="0" dirty="0">
                        <a:solidFill>
                          <a:schemeClr val="tx1"/>
                        </a:solidFill>
                        <a:latin typeface="Arial" panose="020B0604020202020204" pitchFamily="34" charset="0"/>
                        <a:cs typeface="Arial" panose="020B0604020202020204" pitchFamily="34" charset="0"/>
                      </a:endParaRPr>
                    </a:p>
                    <a:p>
                      <a:pPr marL="0" indent="0">
                        <a:buFont typeface="Arial" panose="020B0604020202020204" pitchFamily="34" charset="0"/>
                        <a:buNone/>
                      </a:pPr>
                      <a:r>
                        <a:rPr lang="en-US" sz="1600" b="0" dirty="0">
                          <a:solidFill>
                            <a:schemeClr val="tx1"/>
                          </a:solidFill>
                          <a:latin typeface="Arial" panose="020B0604020202020204" pitchFamily="34" charset="0"/>
                          <a:cs typeface="Arial" panose="020B0604020202020204" pitchFamily="34" charset="0"/>
                        </a:rPr>
                        <a:t>📈 </a:t>
                      </a:r>
                      <a:r>
                        <a:rPr lang="en-ID" sz="1600" dirty="0">
                          <a:solidFill>
                            <a:schemeClr val="tx1"/>
                          </a:solidFill>
                          <a:latin typeface="Arial" panose="020B0604020202020204" pitchFamily="34" charset="0"/>
                          <a:cs typeface="Arial" panose="020B0604020202020204" pitchFamily="34" charset="0"/>
                        </a:rPr>
                        <a:t>Statistical Tests &amp; Diagnostics</a:t>
                      </a:r>
                    </a:p>
                    <a:p>
                      <a:r>
                        <a:rPr lang="en-ID" sz="1600" b="1" dirty="0">
                          <a:solidFill>
                            <a:schemeClr val="tx1"/>
                          </a:solidFill>
                          <a:latin typeface="Arial" panose="020B0604020202020204" pitchFamily="34" charset="0"/>
                          <a:cs typeface="Arial" panose="020B0604020202020204" pitchFamily="34" charset="0"/>
                        </a:rPr>
                        <a:t>Stationarity</a:t>
                      </a:r>
                      <a:r>
                        <a:rPr lang="en-ID" sz="1600" dirty="0">
                          <a:solidFill>
                            <a:schemeClr val="tx1"/>
                          </a:solidFill>
                          <a:latin typeface="Arial" panose="020B0604020202020204" pitchFamily="34" charset="0"/>
                          <a:cs typeface="Arial" panose="020B0604020202020204" pitchFamily="34" charset="0"/>
                        </a:rPr>
                        <a:t>: </a:t>
                      </a:r>
                      <a:r>
                        <a:rPr lang="en-ID" sz="1600" b="0" dirty="0">
                          <a:solidFill>
                            <a:schemeClr val="tx1"/>
                          </a:solidFill>
                          <a:latin typeface="Arial" panose="020B0604020202020204" pitchFamily="34" charset="0"/>
                          <a:cs typeface="Arial" panose="020B0604020202020204" pitchFamily="34" charset="0"/>
                        </a:rPr>
                        <a:t>Augmented Dickey-Fuller (ADF)</a:t>
                      </a:r>
                    </a:p>
                    <a:p>
                      <a:r>
                        <a:rPr lang="en-ID" sz="1600" b="1" dirty="0">
                          <a:solidFill>
                            <a:schemeClr val="tx1"/>
                          </a:solidFill>
                          <a:latin typeface="Arial" panose="020B0604020202020204" pitchFamily="34" charset="0"/>
                          <a:cs typeface="Arial" panose="020B0604020202020204" pitchFamily="34" charset="0"/>
                        </a:rPr>
                        <a:t>Autocorrelation</a:t>
                      </a:r>
                      <a:r>
                        <a:rPr lang="en-ID" sz="1600" dirty="0">
                          <a:solidFill>
                            <a:schemeClr val="tx1"/>
                          </a:solidFill>
                          <a:latin typeface="Arial" panose="020B0604020202020204" pitchFamily="34" charset="0"/>
                          <a:cs typeface="Arial" panose="020B0604020202020204" pitchFamily="34" charset="0"/>
                        </a:rPr>
                        <a:t>: </a:t>
                      </a:r>
                      <a:r>
                        <a:rPr lang="en-ID" sz="1600" b="0" dirty="0">
                          <a:solidFill>
                            <a:schemeClr val="tx1"/>
                          </a:solidFill>
                          <a:latin typeface="Arial" panose="020B0604020202020204" pitchFamily="34" charset="0"/>
                          <a:cs typeface="Arial" panose="020B0604020202020204" pitchFamily="34" charset="0"/>
                        </a:rPr>
                        <a:t>Ljung-Box Q, Durbin-Watson (DW)</a:t>
                      </a:r>
                    </a:p>
                    <a:p>
                      <a:r>
                        <a:rPr lang="en-ID" sz="1600" b="1" dirty="0">
                          <a:solidFill>
                            <a:schemeClr val="tx1"/>
                          </a:solidFill>
                          <a:latin typeface="Arial" panose="020B0604020202020204" pitchFamily="34" charset="0"/>
                          <a:cs typeface="Arial" panose="020B0604020202020204" pitchFamily="34" charset="0"/>
                        </a:rPr>
                        <a:t>Multicollinearity</a:t>
                      </a:r>
                      <a:r>
                        <a:rPr lang="en-ID" sz="1600" dirty="0">
                          <a:solidFill>
                            <a:schemeClr val="tx1"/>
                          </a:solidFill>
                          <a:latin typeface="Arial" panose="020B0604020202020204" pitchFamily="34" charset="0"/>
                          <a:cs typeface="Arial" panose="020B0604020202020204" pitchFamily="34" charset="0"/>
                        </a:rPr>
                        <a:t>: </a:t>
                      </a:r>
                      <a:r>
                        <a:rPr lang="en-ID" sz="1600" b="0" dirty="0">
                          <a:solidFill>
                            <a:schemeClr val="tx1"/>
                          </a:solidFill>
                          <a:latin typeface="Arial" panose="020B0604020202020204" pitchFamily="34" charset="0"/>
                          <a:cs typeface="Arial" panose="020B0604020202020204" pitchFamily="34" charset="0"/>
                        </a:rPr>
                        <a:t>Variance Inflation Factor (VIF)</a:t>
                      </a:r>
                    </a:p>
                    <a:p>
                      <a:r>
                        <a:rPr lang="en-ID" sz="1600" b="1" dirty="0">
                          <a:solidFill>
                            <a:schemeClr val="tx1"/>
                          </a:solidFill>
                          <a:latin typeface="Arial" panose="020B0604020202020204" pitchFamily="34" charset="0"/>
                          <a:cs typeface="Arial" panose="020B0604020202020204" pitchFamily="34" charset="0"/>
                        </a:rPr>
                        <a:t>Model Fit</a:t>
                      </a:r>
                      <a:r>
                        <a:rPr lang="en-ID" sz="1600" dirty="0">
                          <a:solidFill>
                            <a:schemeClr val="tx1"/>
                          </a:solidFill>
                          <a:latin typeface="Arial" panose="020B0604020202020204" pitchFamily="34" charset="0"/>
                          <a:cs typeface="Arial" panose="020B0604020202020204" pitchFamily="34" charset="0"/>
                        </a:rPr>
                        <a:t>: </a:t>
                      </a:r>
                      <a:r>
                        <a:rPr lang="en-ID" sz="1600" b="0" dirty="0">
                          <a:solidFill>
                            <a:schemeClr val="tx1"/>
                          </a:solidFill>
                          <a:latin typeface="Arial" panose="020B0604020202020204" pitchFamily="34" charset="0"/>
                          <a:cs typeface="Arial" panose="020B0604020202020204" pitchFamily="34" charset="0"/>
                        </a:rPr>
                        <a:t>Adjusted R², </a:t>
                      </a:r>
                      <a:r>
                        <a:rPr lang="en-ID" sz="1600" b="0" dirty="0" smtClean="0">
                          <a:solidFill>
                            <a:schemeClr val="tx1"/>
                          </a:solidFill>
                          <a:latin typeface="Arial" panose="020B0604020202020204" pitchFamily="34" charset="0"/>
                          <a:cs typeface="Arial" panose="020B0604020202020204" pitchFamily="34" charset="0"/>
                        </a:rPr>
                        <a:t>F-</a:t>
                      </a:r>
                      <a:r>
                        <a:rPr lang="en-ID" sz="1600" b="0" dirty="0" err="1" smtClean="0">
                          <a:solidFill>
                            <a:schemeClr val="tx1"/>
                          </a:solidFill>
                          <a:latin typeface="Arial" panose="020B0604020202020204" pitchFamily="34" charset="0"/>
                          <a:cs typeface="Arial" panose="020B0604020202020204" pitchFamily="34" charset="0"/>
                        </a:rPr>
                        <a:t>testa</a:t>
                      </a:r>
                      <a:endParaRPr lang="en-ID" sz="1600" b="0" dirty="0">
                        <a:solidFill>
                          <a:schemeClr val="tx1"/>
                        </a:solidFill>
                        <a:latin typeface="Arial" panose="020B0604020202020204" pitchFamily="34" charset="0"/>
                        <a:cs typeface="Arial" panose="020B0604020202020204" pitchFamily="34" charset="0"/>
                      </a:endParaRPr>
                    </a:p>
                    <a:p>
                      <a:r>
                        <a:rPr lang="en-ID" sz="1600" b="1" dirty="0">
                          <a:solidFill>
                            <a:schemeClr val="tx1"/>
                          </a:solidFill>
                          <a:latin typeface="Arial" panose="020B0604020202020204" pitchFamily="34" charset="0"/>
                          <a:cs typeface="Arial" panose="020B0604020202020204" pitchFamily="34" charset="0"/>
                        </a:rPr>
                        <a:t>Heteroskedasticity</a:t>
                      </a:r>
                      <a:r>
                        <a:rPr lang="en-ID" sz="1600" dirty="0">
                          <a:solidFill>
                            <a:schemeClr val="tx1"/>
                          </a:solidFill>
                          <a:latin typeface="Arial" panose="020B0604020202020204" pitchFamily="34" charset="0"/>
                          <a:cs typeface="Arial" panose="020B0604020202020204" pitchFamily="34" charset="0"/>
                        </a:rPr>
                        <a:t>: </a:t>
                      </a:r>
                      <a:r>
                        <a:rPr lang="en-ID" sz="1600" b="0" dirty="0">
                          <a:solidFill>
                            <a:schemeClr val="tx1"/>
                          </a:solidFill>
                          <a:latin typeface="Arial" panose="020B0604020202020204" pitchFamily="34" charset="0"/>
                          <a:cs typeface="Arial" panose="020B0604020202020204" pitchFamily="34" charset="0"/>
                        </a:rPr>
                        <a:t>Breusch-Pagan test</a:t>
                      </a:r>
                    </a:p>
                    <a:p>
                      <a:pPr marL="0" indent="0">
                        <a:buFont typeface="Arial" panose="020B0604020202020204" pitchFamily="34" charset="0"/>
                        <a:buNone/>
                      </a:pPr>
                      <a:endParaRPr lang="en-US" sz="1600" b="0" dirty="0">
                        <a:solidFill>
                          <a:schemeClr val="tx1"/>
                        </a:solidFill>
                        <a:latin typeface="Arial" panose="020B0604020202020204" pitchFamily="34" charset="0"/>
                        <a:cs typeface="Arial" panose="020B0604020202020204" pitchFamily="34" charset="0"/>
                      </a:endParaRPr>
                    </a:p>
                    <a:p>
                      <a:pPr marL="0" indent="0" algn="l" defTabSz="914400" rtl="0" eaLnBrk="1" latinLnBrk="1" hangingPunct="1">
                        <a:lnSpc>
                          <a:spcPct val="130000"/>
                        </a:lnSpc>
                        <a:buFont typeface="Arial" panose="020B0604020202020204" pitchFamily="34" charset="0"/>
                        <a:buNone/>
                      </a:pPr>
                      <a:r>
                        <a:rPr lang="en-US" sz="1600" b="0" kern="1200" dirty="0">
                          <a:solidFill>
                            <a:schemeClr val="tx1"/>
                          </a:solidFill>
                          <a:latin typeface="Arial" panose="020B0604020202020204" pitchFamily="34" charset="0"/>
                          <a:ea typeface="+mn-ea"/>
                          <a:cs typeface="Arial" panose="020B0604020202020204" pitchFamily="34" charset="0"/>
                        </a:rPr>
                        <a:t>🛠️ </a:t>
                      </a:r>
                      <a:r>
                        <a:rPr lang="en-US" sz="1600" b="1" kern="1200" dirty="0">
                          <a:solidFill>
                            <a:schemeClr val="tx1"/>
                          </a:solidFill>
                          <a:latin typeface="Arial" panose="020B0604020202020204" pitchFamily="34" charset="0"/>
                          <a:ea typeface="+mn-ea"/>
                          <a:cs typeface="Arial" panose="020B0604020202020204" pitchFamily="34" charset="0"/>
                        </a:rPr>
                        <a:t>Tools Used</a:t>
                      </a:r>
                    </a:p>
                    <a:p>
                      <a:r>
                        <a:rPr lang="en-US" sz="1600" b="1" dirty="0" err="1">
                          <a:solidFill>
                            <a:schemeClr val="tx1"/>
                          </a:solidFill>
                          <a:latin typeface="Arial" panose="020B0604020202020204" pitchFamily="34" charset="0"/>
                          <a:cs typeface="Arial" panose="020B0604020202020204" pitchFamily="34" charset="0"/>
                        </a:rPr>
                        <a:t>ECMiner</a:t>
                      </a:r>
                      <a:r>
                        <a:rPr lang="en-US" sz="1600" dirty="0">
                          <a:solidFill>
                            <a:schemeClr val="tx1"/>
                          </a:solidFill>
                          <a:latin typeface="Arial" panose="020B0604020202020204" pitchFamily="34" charset="0"/>
                          <a:cs typeface="Arial" panose="020B0604020202020204" pitchFamily="34" charset="0"/>
                        </a:rPr>
                        <a:t>: </a:t>
                      </a:r>
                      <a:r>
                        <a:rPr lang="en-US" sz="1600" b="0" dirty="0">
                          <a:solidFill>
                            <a:schemeClr val="tx1"/>
                          </a:solidFill>
                          <a:latin typeface="Arial" panose="020B0604020202020204" pitchFamily="34" charset="0"/>
                          <a:cs typeface="Arial" panose="020B0604020202020204" pitchFamily="34" charset="0"/>
                        </a:rPr>
                        <a:t>Main regression modeling</a:t>
                      </a:r>
                    </a:p>
                    <a:p>
                      <a:r>
                        <a:rPr lang="en-US" sz="1600" b="1" dirty="0">
                          <a:solidFill>
                            <a:schemeClr val="tx1"/>
                          </a:solidFill>
                          <a:latin typeface="Arial" panose="020B0604020202020204" pitchFamily="34" charset="0"/>
                          <a:cs typeface="Arial" panose="020B0604020202020204" pitchFamily="34" charset="0"/>
                        </a:rPr>
                        <a:t>EViews &amp; Excel</a:t>
                      </a:r>
                      <a:r>
                        <a:rPr lang="en-US" sz="1600" dirty="0">
                          <a:solidFill>
                            <a:schemeClr val="tx1"/>
                          </a:solidFill>
                          <a:latin typeface="Arial" panose="020B0604020202020204" pitchFamily="34" charset="0"/>
                          <a:cs typeface="Arial" panose="020B0604020202020204" pitchFamily="34" charset="0"/>
                        </a:rPr>
                        <a:t>: </a:t>
                      </a:r>
                      <a:r>
                        <a:rPr lang="en-US" sz="1600" b="0" dirty="0">
                          <a:solidFill>
                            <a:schemeClr val="tx1"/>
                          </a:solidFill>
                          <a:latin typeface="Arial" panose="020B0604020202020204" pitchFamily="34" charset="0"/>
                          <a:cs typeface="Arial" panose="020B0604020202020204" pitchFamily="34" charset="0"/>
                        </a:rPr>
                        <a:t>Supporting diagnostics and visualization</a:t>
                      </a:r>
                    </a:p>
                    <a:p>
                      <a:pPr marL="0" indent="0" algn="l" defTabSz="914400" rtl="0" eaLnBrk="1" latinLnBrk="1" hangingPunct="1">
                        <a:lnSpc>
                          <a:spcPct val="130000"/>
                        </a:lnSpc>
                        <a:buFont typeface="Arial" panose="020B0604020202020204" pitchFamily="34" charset="0"/>
                        <a:buNone/>
                      </a:pPr>
                      <a:endParaRPr lang="en-US" sz="1600" b="0" kern="120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7098316"/>
                  </a:ext>
                </a:extLst>
              </a:tr>
            </a:tbl>
          </a:graphicData>
        </a:graphic>
      </p:graphicFrame>
      <p:sp>
        <p:nvSpPr>
          <p:cNvPr id="6" name="슬라이드 번호 개체 틀 2"/>
          <p:cNvSpPr>
            <a:spLocks noGrp="1"/>
          </p:cNvSpPr>
          <p:nvPr>
            <p:ph type="sldNum" sz="quarter" idx="13"/>
          </p:nvPr>
        </p:nvSpPr>
        <p:spPr>
          <a:xfrm>
            <a:off x="4736977" y="6381328"/>
            <a:ext cx="492444"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8</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Tree>
    <p:extLst>
      <p:ext uri="{BB962C8B-B14F-4D97-AF65-F5344CB8AC3E}">
        <p14:creationId xmlns:p14="http://schemas.microsoft.com/office/powerpoint/2010/main" val="2959063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9"/>
          <p:cNvSpPr txBox="1">
            <a:spLocks/>
          </p:cNvSpPr>
          <p:nvPr/>
        </p:nvSpPr>
        <p:spPr>
          <a:xfrm>
            <a:off x="250348" y="116632"/>
            <a:ext cx="6430844"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rgbClr val="FF0066"/>
                </a:solidFill>
                <a:latin typeface="Arial" panose="020B0604020202020204" pitchFamily="34" charset="0"/>
                <a:ea typeface="HY견고딕" panose="02030600000101010101" pitchFamily="18" charset="-127"/>
                <a:cs typeface="Arial" panose="020B0604020202020204" pitchFamily="34" charset="0"/>
              </a:rPr>
              <a:t>6. Expected Results &amp; Implications</a:t>
            </a:r>
          </a:p>
        </p:txBody>
      </p:sp>
      <p:graphicFrame>
        <p:nvGraphicFramePr>
          <p:cNvPr id="5" name="표 4"/>
          <p:cNvGraphicFramePr>
            <a:graphicFrameLocks noGrp="1"/>
          </p:cNvGraphicFramePr>
          <p:nvPr>
            <p:extLst>
              <p:ext uri="{D42A27DB-BD31-4B8C-83A1-F6EECF244321}">
                <p14:modId xmlns:p14="http://schemas.microsoft.com/office/powerpoint/2010/main" val="3322485200"/>
              </p:ext>
            </p:extLst>
          </p:nvPr>
        </p:nvGraphicFramePr>
        <p:xfrm>
          <a:off x="272480" y="764704"/>
          <a:ext cx="9217024" cy="5332437"/>
        </p:xfrm>
        <a:graphic>
          <a:graphicData uri="http://schemas.openxmlformats.org/drawingml/2006/table">
            <a:tbl>
              <a:tblPr firstRow="1" bandRow="1">
                <a:tableStyleId>{F5AB1C69-6EDB-4FF4-983F-18BD219EF322}</a:tableStyleId>
              </a:tblPr>
              <a:tblGrid>
                <a:gridCol w="1772505">
                  <a:extLst>
                    <a:ext uri="{9D8B030D-6E8A-4147-A177-3AD203B41FA5}">
                      <a16:colId xmlns:a16="http://schemas.microsoft.com/office/drawing/2014/main" val="2288603670"/>
                    </a:ext>
                  </a:extLst>
                </a:gridCol>
                <a:gridCol w="7444519">
                  <a:extLst>
                    <a:ext uri="{9D8B030D-6E8A-4147-A177-3AD203B41FA5}">
                      <a16:colId xmlns:a16="http://schemas.microsoft.com/office/drawing/2014/main" val="4146982958"/>
                    </a:ext>
                  </a:extLst>
                </a:gridCol>
              </a:tblGrid>
              <a:tr h="2463765">
                <a:tc>
                  <a:txBody>
                    <a:bodyPr/>
                    <a:lstStyle/>
                    <a:p>
                      <a:pPr marL="0" algn="l" defTabSz="914400" rtl="0" eaLnBrk="1" latinLnBrk="1" hangingPunct="1"/>
                      <a:r>
                        <a:rPr lang="ko-KR" altLang="en-US" sz="1600" b="1" kern="1200" dirty="0">
                          <a:solidFill>
                            <a:schemeClr val="tx1"/>
                          </a:solidFill>
                          <a:latin typeface="Arial" panose="020B0604020202020204" pitchFamily="34" charset="0"/>
                          <a:ea typeface="+mn-ea"/>
                          <a:cs typeface="Arial" panose="020B0604020202020204" pitchFamily="34" charset="0"/>
                        </a:rPr>
                        <a:t>📉 </a:t>
                      </a:r>
                      <a:r>
                        <a:rPr lang="en-US" altLang="ko-KR" sz="1600" b="1" kern="1200" dirty="0">
                          <a:solidFill>
                            <a:schemeClr val="tx1"/>
                          </a:solidFill>
                          <a:latin typeface="Arial" panose="020B0604020202020204" pitchFamily="34" charset="0"/>
                          <a:ea typeface="+mn-ea"/>
                          <a:cs typeface="Arial" panose="020B0604020202020204" pitchFamily="34" charset="0"/>
                        </a:rPr>
                        <a:t>Expected Results</a:t>
                      </a:r>
                      <a:endParaRPr lang="ko-KR" altLang="en-US" sz="1600" b="1" kern="120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marL="285750" indent="-285750" latinLnBrk="0">
                        <a:buFont typeface="Arial" panose="020B0604020202020204" pitchFamily="34" charset="0"/>
                        <a:buChar char="•"/>
                      </a:pPr>
                      <a:r>
                        <a:rPr lang="en-US" sz="1500" b="0" dirty="0">
                          <a:solidFill>
                            <a:schemeClr val="tx1"/>
                          </a:solidFill>
                          <a:latin typeface="Arial" panose="020B0604020202020204" pitchFamily="34" charset="0"/>
                          <a:cs typeface="Arial" panose="020B0604020202020204" pitchFamily="34" charset="0"/>
                        </a:rPr>
                        <a:t>FX volatility (IDR/USD) is expected to </a:t>
                      </a:r>
                      <a:r>
                        <a:rPr lang="en-US" sz="1500" b="1" dirty="0">
                          <a:solidFill>
                            <a:schemeClr val="tx1"/>
                          </a:solidFill>
                          <a:latin typeface="Arial" panose="020B0604020202020204" pitchFamily="34" charset="0"/>
                          <a:cs typeface="Arial" panose="020B0604020202020204" pitchFamily="34" charset="0"/>
                        </a:rPr>
                        <a:t>negatively impact </a:t>
                      </a:r>
                      <a:r>
                        <a:rPr lang="en-US" sz="1500" b="0" dirty="0">
                          <a:solidFill>
                            <a:schemeClr val="tx1"/>
                          </a:solidFill>
                          <a:latin typeface="Arial" panose="020B0604020202020204" pitchFamily="34" charset="0"/>
                          <a:cs typeface="Arial" panose="020B0604020202020204" pitchFamily="34" charset="0"/>
                        </a:rPr>
                        <a:t>financial performance (ROA, Net Income).</a:t>
                      </a:r>
                    </a:p>
                    <a:p>
                      <a:pPr marL="285750" indent="-285750" latinLnBrk="0">
                        <a:buFont typeface="Arial" panose="020B0604020202020204" pitchFamily="34" charset="0"/>
                        <a:buChar char="•"/>
                      </a:pPr>
                      <a:r>
                        <a:rPr lang="en-US" sz="1500" b="1" dirty="0">
                          <a:solidFill>
                            <a:schemeClr val="tx1"/>
                          </a:solidFill>
                          <a:latin typeface="Arial" panose="020B0604020202020204" pitchFamily="34" charset="0"/>
                          <a:cs typeface="Arial" panose="020B0604020202020204" pitchFamily="34" charset="0"/>
                        </a:rPr>
                        <a:t>Hedging intensity</a:t>
                      </a:r>
                      <a:r>
                        <a:rPr lang="en-US" sz="1500" b="0" dirty="0">
                          <a:solidFill>
                            <a:schemeClr val="tx1"/>
                          </a:solidFill>
                          <a:latin typeface="Arial" panose="020B0604020202020204" pitchFamily="34" charset="0"/>
                          <a:cs typeface="Arial" panose="020B0604020202020204" pitchFamily="34" charset="0"/>
                        </a:rPr>
                        <a:t> (e.g., swaps, forwards) is anticipated to </a:t>
                      </a:r>
                      <a:r>
                        <a:rPr lang="en-US" sz="1500" b="1" dirty="0">
                          <a:solidFill>
                            <a:schemeClr val="tx1"/>
                          </a:solidFill>
                          <a:latin typeface="Arial" panose="020B0604020202020204" pitchFamily="34" charset="0"/>
                          <a:cs typeface="Arial" panose="020B0604020202020204" pitchFamily="34" charset="0"/>
                        </a:rPr>
                        <a:t>moderate this effect</a:t>
                      </a:r>
                      <a:r>
                        <a:rPr lang="en-US" sz="1500" b="0" dirty="0">
                          <a:solidFill>
                            <a:schemeClr val="tx1"/>
                          </a:solidFill>
                          <a:latin typeface="Arial" panose="020B0604020202020204" pitchFamily="34" charset="0"/>
                          <a:cs typeface="Arial" panose="020B0604020202020204" pitchFamily="34" charset="0"/>
                        </a:rPr>
                        <a:t>.</a:t>
                      </a:r>
                    </a:p>
                    <a:p>
                      <a:pPr marL="285750" indent="-285750" latinLnBrk="0">
                        <a:buFont typeface="Arial" panose="020B0604020202020204" pitchFamily="34" charset="0"/>
                        <a:buChar char="•"/>
                      </a:pPr>
                      <a:r>
                        <a:rPr lang="en-US" sz="1500" b="0" dirty="0">
                          <a:solidFill>
                            <a:schemeClr val="tx1"/>
                          </a:solidFill>
                          <a:latin typeface="Arial" panose="020B0604020202020204" pitchFamily="34" charset="0"/>
                          <a:cs typeface="Arial" panose="020B0604020202020204" pitchFamily="34" charset="0"/>
                        </a:rPr>
                        <a:t>Firms with stronger hedging practices are expected to experience:</a:t>
                      </a:r>
                    </a:p>
                    <a:p>
                      <a:pPr marL="285750" indent="-285750" latinLnBrk="0">
                        <a:buFont typeface="Courier New" panose="02070309020205020404" pitchFamily="49" charset="0"/>
                        <a:buChar char="o"/>
                      </a:pPr>
                      <a:r>
                        <a:rPr lang="en-US" sz="1500" b="0" dirty="0">
                          <a:solidFill>
                            <a:schemeClr val="tx1"/>
                          </a:solidFill>
                          <a:latin typeface="Arial" panose="020B0604020202020204" pitchFamily="34" charset="0"/>
                          <a:cs typeface="Arial" panose="020B0604020202020204" pitchFamily="34" charset="0"/>
                        </a:rPr>
                        <a:t>Greater </a:t>
                      </a:r>
                      <a:r>
                        <a:rPr lang="en-US" sz="1500" b="1" dirty="0">
                          <a:solidFill>
                            <a:schemeClr val="tx1"/>
                          </a:solidFill>
                          <a:latin typeface="Arial" panose="020B0604020202020204" pitchFamily="34" charset="0"/>
                          <a:cs typeface="Arial" panose="020B0604020202020204" pitchFamily="34" charset="0"/>
                        </a:rPr>
                        <a:t>cash flow stability</a:t>
                      </a:r>
                    </a:p>
                    <a:p>
                      <a:pPr marL="285750" indent="-285750" algn="l" defTabSz="914400" rtl="0" eaLnBrk="1" latinLnBrk="0" hangingPunct="1">
                        <a:buFont typeface="Courier New" panose="02070309020205020404" pitchFamily="49" charset="0"/>
                        <a:buChar char="o"/>
                      </a:pPr>
                      <a:r>
                        <a:rPr lang="en-US" sz="1500" b="0" kern="1200" dirty="0">
                          <a:solidFill>
                            <a:schemeClr val="tx1"/>
                          </a:solidFill>
                          <a:latin typeface="Arial" panose="020B0604020202020204" pitchFamily="34" charset="0"/>
                          <a:ea typeface="+mn-ea"/>
                          <a:cs typeface="Arial" panose="020B0604020202020204" pitchFamily="34" charset="0"/>
                        </a:rPr>
                        <a:t>Lower </a:t>
                      </a:r>
                      <a:r>
                        <a:rPr lang="en-US" sz="1500" b="1" kern="1200" dirty="0">
                          <a:solidFill>
                            <a:schemeClr val="tx1"/>
                          </a:solidFill>
                          <a:latin typeface="Arial" panose="020B0604020202020204" pitchFamily="34" charset="0"/>
                          <a:ea typeface="+mn-ea"/>
                          <a:cs typeface="Arial" panose="020B0604020202020204" pitchFamily="34" charset="0"/>
                        </a:rPr>
                        <a:t>earnings volatility </a:t>
                      </a:r>
                      <a:r>
                        <a:rPr lang="en-US" sz="1500" b="0" kern="1200" dirty="0">
                          <a:solidFill>
                            <a:schemeClr val="tx1"/>
                          </a:solidFill>
                          <a:latin typeface="Arial" panose="020B0604020202020204" pitchFamily="34" charset="0"/>
                          <a:ea typeface="+mn-ea"/>
                          <a:cs typeface="Arial" panose="020B0604020202020204" pitchFamily="34" charset="0"/>
                        </a:rPr>
                        <a:t>during macroeconomic shocks (e.g., 2013 taper tantrum, </a:t>
                      </a:r>
                      <a:r>
                        <a:rPr lang="en-US" sz="1500" b="0" kern="1200" dirty="0" smtClean="0">
                          <a:solidFill>
                            <a:schemeClr val="tx1"/>
                          </a:solidFill>
                          <a:latin typeface="Arial" panose="020B0604020202020204" pitchFamily="34" charset="0"/>
                          <a:ea typeface="+mn-ea"/>
                          <a:cs typeface="Arial" panose="020B0604020202020204" pitchFamily="34" charset="0"/>
                        </a:rPr>
                        <a:t>COVID-19</a:t>
                      </a:r>
                      <a:r>
                        <a:rPr lang="en-US" sz="1500" b="0" kern="1200" dirty="0">
                          <a:solidFill>
                            <a:schemeClr val="tx1"/>
                          </a:solidFill>
                          <a:latin typeface="Arial" panose="020B0604020202020204" pitchFamily="34" charset="0"/>
                          <a:ea typeface="+mn-ea"/>
                          <a:cs typeface="Arial" panose="020B0604020202020204" pitchFamily="34" charset="0"/>
                        </a:rPr>
                        <a:t>).</a:t>
                      </a:r>
                    </a:p>
                    <a:p>
                      <a:pPr marL="285750" indent="-285750" algn="l" defTabSz="914400" rtl="0" eaLnBrk="1" latinLnBrk="0" hangingPunct="1">
                        <a:buFont typeface="Arial" panose="020B0604020202020204" pitchFamily="34" charset="0"/>
                        <a:buChar char="•"/>
                      </a:pPr>
                      <a:r>
                        <a:rPr lang="en-US" sz="1500" b="0" kern="1200" dirty="0">
                          <a:solidFill>
                            <a:schemeClr val="tx1"/>
                          </a:solidFill>
                          <a:latin typeface="Arial" panose="020B0604020202020204" pitchFamily="34" charset="0"/>
                          <a:ea typeface="+mn-ea"/>
                          <a:cs typeface="Arial" panose="020B0604020202020204" pitchFamily="34" charset="0"/>
                        </a:rPr>
                        <a:t>Regression analysis is expected to show a </a:t>
                      </a:r>
                      <a:r>
                        <a:rPr lang="en-US" sz="1500" b="1" kern="1200" dirty="0">
                          <a:solidFill>
                            <a:schemeClr val="tx1"/>
                          </a:solidFill>
                          <a:latin typeface="Arial" panose="020B0604020202020204" pitchFamily="34" charset="0"/>
                          <a:ea typeface="+mn-ea"/>
                          <a:cs typeface="Arial" panose="020B0604020202020204" pitchFamily="34" charset="0"/>
                        </a:rPr>
                        <a:t>significant interaction effect</a:t>
                      </a:r>
                      <a:r>
                        <a:rPr lang="en-US" sz="1500" b="0" kern="1200" dirty="0">
                          <a:solidFill>
                            <a:schemeClr val="tx1"/>
                          </a:solidFill>
                          <a:latin typeface="Arial" panose="020B0604020202020204" pitchFamily="34" charset="0"/>
                          <a:ea typeface="+mn-ea"/>
                          <a:cs typeface="Arial" panose="020B0604020202020204" pitchFamily="34" charset="0"/>
                        </a:rPr>
                        <a:t> between FX  risk and hedging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724071"/>
                  </a:ext>
                </a:extLst>
              </a:tr>
              <a:tr h="2868672">
                <a:tc>
                  <a:txBody>
                    <a:bodyPr/>
                    <a:lstStyle/>
                    <a:p>
                      <a:pPr marL="0" algn="l" defTabSz="914400" rtl="0" eaLnBrk="1" latinLnBrk="1" hangingPunct="1"/>
                      <a:r>
                        <a:rPr lang="ko-KR" altLang="en-US" sz="1600" b="1" kern="1200" dirty="0">
                          <a:solidFill>
                            <a:schemeClr val="tx1"/>
                          </a:solidFill>
                          <a:latin typeface="Arial" panose="020B0604020202020204" pitchFamily="34" charset="0"/>
                          <a:ea typeface="+mn-ea"/>
                          <a:cs typeface="Arial" panose="020B0604020202020204" pitchFamily="34" charset="0"/>
                        </a:rPr>
                        <a:t>🏭 </a:t>
                      </a:r>
                      <a:r>
                        <a:rPr lang="en-US" altLang="ko-KR" sz="1600" b="1" kern="1200" dirty="0">
                          <a:solidFill>
                            <a:schemeClr val="tx1"/>
                          </a:solidFill>
                          <a:latin typeface="Arial" panose="020B0604020202020204" pitchFamily="34" charset="0"/>
                          <a:ea typeface="+mn-ea"/>
                          <a:cs typeface="Arial" panose="020B0604020202020204" pitchFamily="34" charset="0"/>
                        </a:rPr>
                        <a:t>Implications</a:t>
                      </a:r>
                      <a:endParaRPr lang="ko-KR" altLang="en-US" sz="1600" b="1" kern="120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marL="285750" indent="-285750" latinLnBrk="0">
                        <a:buFont typeface="Arial" panose="020B0604020202020204" pitchFamily="34" charset="0"/>
                        <a:buChar char="•"/>
                      </a:pPr>
                      <a:r>
                        <a:rPr lang="en-US" sz="1500" dirty="0">
                          <a:latin typeface="Arial" panose="020B0604020202020204" pitchFamily="34" charset="0"/>
                          <a:cs typeface="Arial" panose="020B0604020202020204" pitchFamily="34" charset="0"/>
                        </a:rPr>
                        <a:t>Provides </a:t>
                      </a:r>
                      <a:r>
                        <a:rPr lang="en-US" sz="1500" b="1" dirty="0">
                          <a:latin typeface="Arial" panose="020B0604020202020204" pitchFamily="34" charset="0"/>
                          <a:cs typeface="Arial" panose="020B0604020202020204" pitchFamily="34" charset="0"/>
                        </a:rPr>
                        <a:t>empirical evidence</a:t>
                      </a:r>
                      <a:r>
                        <a:rPr lang="en-US" sz="1500" dirty="0">
                          <a:latin typeface="Arial" panose="020B0604020202020204" pitchFamily="34" charset="0"/>
                          <a:cs typeface="Arial" panose="020B0604020202020204" pitchFamily="34" charset="0"/>
                        </a:rPr>
                        <a:t> for FX risk management effectiveness in steel industry.</a:t>
                      </a:r>
                    </a:p>
                    <a:p>
                      <a:pPr marL="285750" indent="-285750" latinLnBrk="0">
                        <a:buFont typeface="Arial" panose="020B0604020202020204" pitchFamily="34" charset="0"/>
                        <a:buChar char="•"/>
                      </a:pPr>
                      <a:r>
                        <a:rPr lang="en-US" sz="1500" dirty="0">
                          <a:latin typeface="Arial" panose="020B0604020202020204" pitchFamily="34" charset="0"/>
                          <a:cs typeface="Arial" panose="020B0604020202020204" pitchFamily="34" charset="0"/>
                        </a:rPr>
                        <a:t>Offers </a:t>
                      </a:r>
                      <a:r>
                        <a:rPr lang="en-US" sz="1500" b="1" dirty="0">
                          <a:latin typeface="Arial" panose="020B0604020202020204" pitchFamily="34" charset="0"/>
                          <a:cs typeface="Arial" panose="020B0604020202020204" pitchFamily="34" charset="0"/>
                        </a:rPr>
                        <a:t>practical insights</a:t>
                      </a:r>
                      <a:r>
                        <a:rPr lang="en-US" sz="1500" dirty="0">
                          <a:latin typeface="Arial" panose="020B0604020202020204" pitchFamily="34" charset="0"/>
                          <a:cs typeface="Arial" panose="020B0604020202020204" pitchFamily="34" charset="0"/>
                        </a:rPr>
                        <a:t> for Indonesian manufacturers on how to use derivatives to manage risk.</a:t>
                      </a:r>
                    </a:p>
                    <a:p>
                      <a:pPr marL="285750" indent="-285750" latinLnBrk="0">
                        <a:buFont typeface="Arial" panose="020B0604020202020204" pitchFamily="34" charset="0"/>
                        <a:buChar char="•"/>
                      </a:pPr>
                      <a:r>
                        <a:rPr lang="en-US" sz="1500" dirty="0">
                          <a:latin typeface="Arial" panose="020B0604020202020204" pitchFamily="34" charset="0"/>
                          <a:cs typeface="Arial" panose="020B0604020202020204" pitchFamily="34" charset="0"/>
                        </a:rPr>
                        <a:t>Demonstrates the </a:t>
                      </a:r>
                      <a:r>
                        <a:rPr lang="en-US" sz="1500" b="1" dirty="0">
                          <a:latin typeface="Arial" panose="020B0604020202020204" pitchFamily="34" charset="0"/>
                          <a:cs typeface="Arial" panose="020B0604020202020204" pitchFamily="34" charset="0"/>
                        </a:rPr>
                        <a:t>financial value of hedging</a:t>
                      </a:r>
                      <a:r>
                        <a:rPr lang="en-US" sz="1500" dirty="0">
                          <a:latin typeface="Arial" panose="020B0604020202020204" pitchFamily="34" charset="0"/>
                          <a:cs typeface="Arial" panose="020B0604020202020204" pitchFamily="34" charset="0"/>
                        </a:rPr>
                        <a:t>, especially for import-dependent firms.</a:t>
                      </a:r>
                    </a:p>
                    <a:p>
                      <a:pPr marL="285750" indent="-285750" latinLnBrk="0">
                        <a:buFont typeface="Arial" panose="020B0604020202020204" pitchFamily="34" charset="0"/>
                        <a:buChar char="•"/>
                      </a:pPr>
                      <a:r>
                        <a:rPr lang="en-US" sz="1500" dirty="0">
                          <a:latin typeface="Arial" panose="020B0604020202020204" pitchFamily="34" charset="0"/>
                          <a:cs typeface="Arial" panose="020B0604020202020204" pitchFamily="34" charset="0"/>
                        </a:rPr>
                        <a:t>Helps </a:t>
                      </a:r>
                      <a:r>
                        <a:rPr lang="en-US" sz="1500" b="1" dirty="0">
                          <a:latin typeface="Arial" panose="020B0604020202020204" pitchFamily="34" charset="0"/>
                          <a:cs typeface="Arial" panose="020B0604020202020204" pitchFamily="34" charset="0"/>
                        </a:rPr>
                        <a:t>regulators and policymakers</a:t>
                      </a:r>
                      <a:r>
                        <a:rPr lang="en-US" sz="1500" dirty="0">
                          <a:latin typeface="Arial" panose="020B0604020202020204" pitchFamily="34" charset="0"/>
                          <a:cs typeface="Arial" panose="020B0604020202020204" pitchFamily="34" charset="0"/>
                        </a:rPr>
                        <a:t> shape risk management frameworks promoting  derivative usage.</a:t>
                      </a:r>
                    </a:p>
                    <a:p>
                      <a:pPr marL="285750" indent="-285750" latinLnBrk="0">
                        <a:buFont typeface="Arial" panose="020B0604020202020204" pitchFamily="34" charset="0"/>
                        <a:buChar char="•"/>
                      </a:pPr>
                      <a:r>
                        <a:rPr lang="en-US" sz="1500" dirty="0">
                          <a:latin typeface="Arial" panose="020B0604020202020204" pitchFamily="34" charset="0"/>
                          <a:cs typeface="Arial" panose="020B0604020202020204" pitchFamily="34" charset="0"/>
                        </a:rPr>
                        <a:t>Fills a key </a:t>
                      </a:r>
                      <a:r>
                        <a:rPr lang="en-US" sz="1500" b="1" dirty="0">
                          <a:latin typeface="Arial" panose="020B0604020202020204" pitchFamily="34" charset="0"/>
                          <a:cs typeface="Arial" panose="020B0604020202020204" pitchFamily="34" charset="0"/>
                        </a:rPr>
                        <a:t>academic gap</a:t>
                      </a:r>
                      <a:r>
                        <a:rPr lang="en-US" sz="1500" dirty="0">
                          <a:latin typeface="Arial" panose="020B0604020202020204" pitchFamily="34" charset="0"/>
                          <a:cs typeface="Arial" panose="020B0604020202020204" pitchFamily="34" charset="0"/>
                        </a:rPr>
                        <a:t> by statistically linking hedging intensity to firm performance in Indonesian steel.</a:t>
                      </a:r>
                    </a:p>
                    <a:p>
                      <a:pPr marL="285750" indent="-285750" latinLnBrk="0">
                        <a:buFont typeface="Arial" panose="020B0604020202020204" pitchFamily="34" charset="0"/>
                        <a:buChar char="•"/>
                      </a:pPr>
                      <a:r>
                        <a:rPr lang="en-US" sz="1500" dirty="0">
                          <a:latin typeface="Arial" panose="020B0604020202020204" pitchFamily="34" charset="0"/>
                          <a:cs typeface="Arial" panose="020B0604020202020204" pitchFamily="34" charset="0"/>
                        </a:rPr>
                        <a:t>The findings may serve as a benchmark for other SOEs facing similar macroeconomic risk exposures.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663756"/>
                  </a:ext>
                </a:extLst>
              </a:tr>
            </a:tbl>
          </a:graphicData>
        </a:graphic>
      </p:graphicFrame>
      <p:sp>
        <p:nvSpPr>
          <p:cNvPr id="6" name="슬라이드 번호 개체 틀 2"/>
          <p:cNvSpPr>
            <a:spLocks noGrp="1"/>
          </p:cNvSpPr>
          <p:nvPr>
            <p:ph type="sldNum" sz="quarter" idx="13"/>
          </p:nvPr>
        </p:nvSpPr>
        <p:spPr>
          <a:xfrm>
            <a:off x="4736977" y="6381328"/>
            <a:ext cx="492444"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9</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Tree>
    <p:extLst>
      <p:ext uri="{BB962C8B-B14F-4D97-AF65-F5344CB8AC3E}">
        <p14:creationId xmlns:p14="http://schemas.microsoft.com/office/powerpoint/2010/main" val="2887824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4348F-7F63-ED18-3BF1-F7B253EA0D4D}"/>
            </a:ext>
          </a:extLst>
        </p:cNvPr>
        <p:cNvGrpSpPr/>
        <p:nvPr/>
      </p:nvGrpSpPr>
      <p:grpSpPr>
        <a:xfrm>
          <a:off x="0" y="0"/>
          <a:ext cx="0" cy="0"/>
          <a:chOff x="0" y="0"/>
          <a:chExt cx="0" cy="0"/>
        </a:xfrm>
      </p:grpSpPr>
      <p:sp>
        <p:nvSpPr>
          <p:cNvPr id="9" name="제목 9">
            <a:extLst>
              <a:ext uri="{FF2B5EF4-FFF2-40B4-BE49-F238E27FC236}">
                <a16:creationId xmlns:a16="http://schemas.microsoft.com/office/drawing/2014/main" id="{E06F95BF-DFA1-A2DF-6703-EF563F4252F4}"/>
              </a:ext>
            </a:extLst>
          </p:cNvPr>
          <p:cNvSpPr txBox="1">
            <a:spLocks/>
          </p:cNvSpPr>
          <p:nvPr/>
        </p:nvSpPr>
        <p:spPr>
          <a:xfrm>
            <a:off x="250348" y="116632"/>
            <a:ext cx="6430844"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chemeClr val="tx1">
                    <a:lumMod val="75000"/>
                    <a:lumOff val="25000"/>
                  </a:schemeClr>
                </a:solidFill>
                <a:latin typeface="Arial" panose="020B0604020202020204" pitchFamily="34" charset="0"/>
                <a:ea typeface="HY견고딕" panose="02030600000101010101" pitchFamily="18" charset="-127"/>
                <a:cs typeface="Arial" panose="020B0604020202020204" pitchFamily="34" charset="0"/>
              </a:rPr>
              <a:t>7. Reference List </a:t>
            </a:r>
            <a:r>
              <a:rPr lang="en-US" altLang="ko-KR" sz="1800" b="0" dirty="0">
                <a:solidFill>
                  <a:srgbClr val="FF0066"/>
                </a:solidFill>
                <a:latin typeface="Arial" panose="020B0604020202020204" pitchFamily="34" charset="0"/>
                <a:ea typeface="HY견고딕" panose="02030600000101010101" pitchFamily="18" charset="-127"/>
                <a:cs typeface="Arial" panose="020B0604020202020204" pitchFamily="34" charset="0"/>
              </a:rPr>
              <a:t>(APA Style</a:t>
            </a:r>
            <a:r>
              <a:rPr lang="ko-KR" altLang="en-US" sz="1800" b="0" dirty="0">
                <a:solidFill>
                  <a:srgbClr val="FF0066"/>
                </a:solidFill>
                <a:latin typeface="Arial" panose="020B0604020202020204" pitchFamily="34" charset="0"/>
                <a:ea typeface="HY견고딕" panose="02030600000101010101" pitchFamily="18" charset="-127"/>
                <a:cs typeface="Arial" panose="020B0604020202020204" pitchFamily="34" charset="0"/>
              </a:rPr>
              <a:t> </a:t>
            </a:r>
            <a:r>
              <a:rPr lang="en-US" altLang="ko-KR" sz="1800" b="0" dirty="0">
                <a:solidFill>
                  <a:srgbClr val="FF0066"/>
                </a:solidFill>
                <a:latin typeface="Arial" panose="020B0604020202020204" pitchFamily="34" charset="0"/>
                <a:ea typeface="HY견고딕" panose="02030600000101010101" pitchFamily="18" charset="-127"/>
                <a:cs typeface="Arial" panose="020B0604020202020204" pitchFamily="34" charset="0"/>
              </a:rPr>
              <a:t>Preferred)</a:t>
            </a:r>
            <a:endParaRPr lang="en-US" altLang="ko-KR" b="0" dirty="0">
              <a:solidFill>
                <a:srgbClr val="FF0066"/>
              </a:solidFill>
              <a:latin typeface="Arial" panose="020B0604020202020204" pitchFamily="34" charset="0"/>
              <a:ea typeface="HY견고딕" panose="02030600000101010101" pitchFamily="18" charset="-127"/>
              <a:cs typeface="Arial" panose="020B0604020202020204" pitchFamily="34" charset="0"/>
            </a:endParaRPr>
          </a:p>
        </p:txBody>
      </p:sp>
      <p:sp>
        <p:nvSpPr>
          <p:cNvPr id="3" name="TextBox 2">
            <a:extLst>
              <a:ext uri="{FF2B5EF4-FFF2-40B4-BE49-F238E27FC236}">
                <a16:creationId xmlns:a16="http://schemas.microsoft.com/office/drawing/2014/main" id="{0FB5D61D-F68E-B1E4-A6D0-B4C5A7EFB2FD}"/>
              </a:ext>
            </a:extLst>
          </p:cNvPr>
          <p:cNvSpPr txBox="1"/>
          <p:nvPr/>
        </p:nvSpPr>
        <p:spPr>
          <a:xfrm>
            <a:off x="128464" y="548680"/>
            <a:ext cx="9577064" cy="5955476"/>
          </a:xfrm>
          <a:prstGeom prst="rect">
            <a:avLst/>
          </a:prstGeom>
          <a:noFill/>
        </p:spPr>
        <p:txBody>
          <a:bodyPr wrap="square">
            <a:spAutoFit/>
          </a:bodyPr>
          <a:lstStyle/>
          <a:p>
            <a:pPr marL="342900" indent="-342900" defTabSz="914423">
              <a:spcAft>
                <a:spcPts val="600"/>
              </a:spcAft>
              <a:buFont typeface="+mj-lt"/>
              <a:buAutoNum type="arabicPeriod"/>
              <a:defRPr/>
            </a:pPr>
            <a:r>
              <a:rPr lang="en-US" sz="1200" dirty="0" err="1">
                <a:latin typeface="Arial" panose="020B0604020202020204" pitchFamily="34" charset="0"/>
                <a:cs typeface="Arial" panose="020B0604020202020204" pitchFamily="34" charset="0"/>
              </a:rPr>
              <a:t>Susmel</a:t>
            </a:r>
            <a:r>
              <a:rPr lang="en-US" sz="1200" dirty="0">
                <a:latin typeface="Arial" panose="020B0604020202020204" pitchFamily="34" charset="0"/>
                <a:cs typeface="Arial" panose="020B0604020202020204" pitchFamily="34" charset="0"/>
              </a:rPr>
              <a:t>, R. (n.d.). </a:t>
            </a:r>
            <a:r>
              <a:rPr lang="en-US" sz="1200" i="1" dirty="0">
                <a:latin typeface="Arial" panose="020B0604020202020204" pitchFamily="34" charset="0"/>
                <a:cs typeface="Arial" panose="020B0604020202020204" pitchFamily="34" charset="0"/>
              </a:rPr>
              <a:t>Lecture notes 8 – Foreign exchange risk</a:t>
            </a:r>
            <a:r>
              <a:rPr lang="en-US" sz="1200" dirty="0">
                <a:latin typeface="Arial" panose="020B0604020202020204" pitchFamily="34" charset="0"/>
                <a:cs typeface="Arial" panose="020B0604020202020204" pitchFamily="34" charset="0"/>
              </a:rPr>
              <a:t>. University of Houston, Bauer College of Business. </a:t>
            </a:r>
            <a:r>
              <a:rPr lang="en-US" sz="1200" dirty="0">
                <a:latin typeface="Arial" panose="020B0604020202020204" pitchFamily="34" charset="0"/>
                <a:cs typeface="Arial" panose="020B0604020202020204" pitchFamily="34" charset="0"/>
                <a:hlinkClick r:id="rId3"/>
              </a:rPr>
              <a:t>https://www.bauer.uh.edu/rsusmel/7386/ln8.pdf </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err="1">
                <a:latin typeface="Arial" panose="020B0604020202020204" pitchFamily="34" charset="0"/>
                <a:cs typeface="Arial" panose="020B0604020202020204" pitchFamily="34" charset="0"/>
              </a:rPr>
              <a:t>Ogundu</a:t>
            </a:r>
            <a:r>
              <a:rPr lang="en-US" sz="1200" dirty="0">
                <a:latin typeface="Arial" panose="020B0604020202020204" pitchFamily="34" charset="0"/>
                <a:cs typeface="Arial" panose="020B0604020202020204" pitchFamily="34" charset="0"/>
              </a:rPr>
              <a:t>, P. G. (2025). </a:t>
            </a:r>
            <a:r>
              <a:rPr lang="en-US" sz="1200" i="1" dirty="0">
                <a:latin typeface="Arial" panose="020B0604020202020204" pitchFamily="34" charset="0"/>
                <a:cs typeface="Arial" panose="020B0604020202020204" pitchFamily="34" charset="0"/>
              </a:rPr>
              <a:t>The strategic implications of financial derivatives in hedging corporate exposure to global economic volatility</a:t>
            </a:r>
            <a:r>
              <a:rPr lang="en-US" sz="1200" dirty="0">
                <a:latin typeface="Arial" panose="020B0604020202020204" pitchFamily="34" charset="0"/>
                <a:cs typeface="Arial" panose="020B0604020202020204" pitchFamily="34" charset="0"/>
              </a:rPr>
              <a:t>. World Journal of Advanced Research and Reviews, 25(2), 1218–1234. </a:t>
            </a:r>
            <a:r>
              <a:rPr lang="en-US" sz="1200" dirty="0">
                <a:latin typeface="Arial" panose="020B0604020202020204" pitchFamily="34" charset="0"/>
                <a:cs typeface="Arial" panose="020B0604020202020204" pitchFamily="34" charset="0"/>
                <a:hlinkClick r:id="rId4"/>
              </a:rPr>
              <a:t>https://doi.org/10.30574/wjarr.2025.25.2.0482</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a:latin typeface="Arial" panose="020B0604020202020204" pitchFamily="34" charset="0"/>
                <a:cs typeface="Arial" panose="020B0604020202020204" pitchFamily="34" charset="0"/>
              </a:rPr>
              <a:t>Beltran, D. O., Pounder, L., &amp; Thomas, C. P. (2011).</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Foreign exposure to asset-backed securities of U.S. origin. </a:t>
            </a:r>
            <a:r>
              <a:rPr lang="en-US" sz="1200" i="1" dirty="0">
                <a:latin typeface="Arial" panose="020B0604020202020204" pitchFamily="34" charset="0"/>
                <a:cs typeface="Arial" panose="020B0604020202020204" pitchFamily="34" charset="0"/>
              </a:rPr>
              <a:t>SSRN Electronic Journal.</a:t>
            </a:r>
            <a:r>
              <a:rPr lang="en-US"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hlinkClick r:id="rId5"/>
              </a:rPr>
              <a:t>https://doi.org/10.2139/ssrn.1292406</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a:latin typeface="Arial" panose="020B0604020202020204" pitchFamily="34" charset="0"/>
                <a:cs typeface="Arial" panose="020B0604020202020204" pitchFamily="34" charset="0"/>
              </a:rPr>
              <a:t>Bodnar, G. M., &amp; Gentry, W. M. (1993).</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Exchange rate exposure and industry characteristics: Evidence from Canada, Japan, and the USA. </a:t>
            </a:r>
            <a:r>
              <a:rPr lang="en-US" sz="1200" i="1" dirty="0">
                <a:latin typeface="Arial" panose="020B0604020202020204" pitchFamily="34" charset="0"/>
                <a:cs typeface="Arial" panose="020B0604020202020204" pitchFamily="34" charset="0"/>
              </a:rPr>
              <a:t>Journal of International Money and Finance, 12</a:t>
            </a:r>
            <a:r>
              <a:rPr lang="en-US" sz="1200" dirty="0">
                <a:latin typeface="Arial" panose="020B0604020202020204" pitchFamily="34" charset="0"/>
                <a:cs typeface="Arial" panose="020B0604020202020204" pitchFamily="34" charset="0"/>
              </a:rPr>
              <a:t>(1), 29–45. </a:t>
            </a:r>
            <a:r>
              <a:rPr lang="en-US" sz="1200" dirty="0">
                <a:latin typeface="Arial" panose="020B0604020202020204" pitchFamily="34" charset="0"/>
                <a:cs typeface="Arial" panose="020B0604020202020204" pitchFamily="34" charset="0"/>
                <a:hlinkClick r:id="rId6"/>
              </a:rPr>
              <a:t>https://doi.org/10.1016/0261-5606(93)90008-Y</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a:latin typeface="Arial" panose="020B0604020202020204" pitchFamily="34" charset="0"/>
                <a:cs typeface="Arial" panose="020B0604020202020204" pitchFamily="34" charset="0"/>
              </a:rPr>
              <a:t>Bank Indonesia. (2013).</a:t>
            </a:r>
            <a:br>
              <a:rPr lang="en-US" sz="1200" dirty="0">
                <a:latin typeface="Arial" panose="020B0604020202020204" pitchFamily="34" charset="0"/>
                <a:cs typeface="Arial" panose="020B0604020202020204" pitchFamily="34" charset="0"/>
              </a:rPr>
            </a:br>
            <a:r>
              <a:rPr lang="en-US" sz="1200" i="1" dirty="0" err="1">
                <a:latin typeface="Arial" panose="020B0604020202020204" pitchFamily="34" charset="0"/>
                <a:cs typeface="Arial" panose="020B0604020202020204" pitchFamily="34" charset="0"/>
              </a:rPr>
              <a:t>Peraturan</a:t>
            </a:r>
            <a:r>
              <a:rPr lang="en-US" sz="1200" i="1" dirty="0">
                <a:latin typeface="Arial" panose="020B0604020202020204" pitchFamily="34" charset="0"/>
                <a:cs typeface="Arial" panose="020B0604020202020204" pitchFamily="34" charset="0"/>
              </a:rPr>
              <a:t> Bank Indonesia No. 15/8/PBI/2013 </a:t>
            </a:r>
            <a:r>
              <a:rPr lang="en-US" sz="1200" i="1" dirty="0" err="1">
                <a:latin typeface="Arial" panose="020B0604020202020204" pitchFamily="34" charset="0"/>
                <a:cs typeface="Arial" panose="020B0604020202020204" pitchFamily="34" charset="0"/>
              </a:rPr>
              <a:t>tentang</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Transaksi</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Lindung</a:t>
            </a:r>
            <a:r>
              <a:rPr lang="en-US" sz="1200" i="1" dirty="0">
                <a:latin typeface="Arial" panose="020B0604020202020204" pitchFamily="34" charset="0"/>
                <a:cs typeface="Arial" panose="020B0604020202020204" pitchFamily="34" charset="0"/>
              </a:rPr>
              <a:t> Nilai dan </a:t>
            </a:r>
            <a:r>
              <a:rPr lang="en-US" sz="1200" i="1" dirty="0" err="1">
                <a:latin typeface="Arial" panose="020B0604020202020204" pitchFamily="34" charset="0"/>
                <a:cs typeface="Arial" panose="020B0604020202020204" pitchFamily="34" charset="0"/>
              </a:rPr>
              <a:t>Manajemen</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Risiko</a:t>
            </a:r>
            <a:r>
              <a:rPr lang="en-US"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hlinkClick r:id="rId7"/>
              </a:rPr>
              <a:t>https://www.abnrlaw.com/en/news/bi-regulation-on-hedging-transactions</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a:latin typeface="Arial" panose="020B0604020202020204" pitchFamily="34" charset="0"/>
                <a:cs typeface="Arial" panose="020B0604020202020204" pitchFamily="34" charset="0"/>
              </a:rPr>
              <a:t>IDX. (2019).</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Krakatau Steel Q1 2019 Financial Statement (USD Version)</a:t>
            </a:r>
            <a:r>
              <a:rPr lang="en-US"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hlinkClick r:id="rId8"/>
              </a:rPr>
              <a:t>https://www.idx.co.id/StaticData/NewsAndAnnouncement/ANNOUNCEMENTSTOCK/From_EREP/201904/20190430212600-14251-0/Krakatau_Steel_Bilingual-US%20Dollar_31_Mar_2019_Released.pdf</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a:latin typeface="Arial" panose="020B0604020202020204" pitchFamily="34" charset="0"/>
                <a:cs typeface="Arial" panose="020B0604020202020204" pitchFamily="34" charset="0"/>
              </a:rPr>
              <a:t>International Monetary Fund. (2024).</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Indonesia: 2024 Article IV consultation—Press release; staff report; and statement by the executive director for Indonesia (IMF Country Report No. 24/272).</a:t>
            </a:r>
            <a:r>
              <a:rPr lang="en-US" sz="1200" dirty="0">
                <a:latin typeface="Arial" panose="020B0604020202020204" pitchFamily="34" charset="0"/>
                <a:cs typeface="Arial" panose="020B0604020202020204" pitchFamily="34" charset="0"/>
              </a:rPr>
              <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International Monetary Fund. </a:t>
            </a:r>
            <a:r>
              <a:rPr lang="en-US" sz="1200" dirty="0">
                <a:latin typeface="Arial" panose="020B0604020202020204" pitchFamily="34" charset="0"/>
                <a:cs typeface="Arial" panose="020B0604020202020204" pitchFamily="34" charset="0"/>
                <a:hlinkClick r:id="rId9"/>
              </a:rPr>
              <a:t>https://www.elibrary.imf.org/view/journals/002/2024/272/article-A001-en.xml</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a:latin typeface="Arial" panose="020B0604020202020204" pitchFamily="34" charset="0"/>
                <a:cs typeface="Arial" panose="020B0604020202020204" pitchFamily="34" charset="0"/>
              </a:rPr>
              <a:t>Berita Satu. (2014, October 6).</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PT Krakatau Steel </a:t>
            </a:r>
            <a:r>
              <a:rPr lang="en-US" sz="1200" i="1" dirty="0" err="1">
                <a:latin typeface="Arial" panose="020B0604020202020204" pitchFamily="34" charset="0"/>
                <a:cs typeface="Arial" panose="020B0604020202020204" pitchFamily="34" charset="0"/>
              </a:rPr>
              <a:t>lindungi</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nilai</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tukar</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lewat</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transaksi</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lindung</a:t>
            </a:r>
            <a:r>
              <a:rPr lang="en-US" sz="1200" i="1" dirty="0">
                <a:latin typeface="Arial" panose="020B0604020202020204" pitchFamily="34" charset="0"/>
                <a:cs typeface="Arial" panose="020B0604020202020204" pitchFamily="34" charset="0"/>
              </a:rPr>
              <a:t> </a:t>
            </a:r>
            <a:r>
              <a:rPr lang="en-US" sz="1200" i="1" dirty="0" err="1">
                <a:latin typeface="Arial" panose="020B0604020202020204" pitchFamily="34" charset="0"/>
                <a:cs typeface="Arial" panose="020B0604020202020204" pitchFamily="34" charset="0"/>
              </a:rPr>
              <a:t>nilai</a:t>
            </a:r>
            <a:r>
              <a:rPr lang="en-US" sz="1200" i="1" dirty="0">
                <a:latin typeface="Arial" panose="020B0604020202020204" pitchFamily="34" charset="0"/>
                <a:cs typeface="Arial" panose="020B0604020202020204" pitchFamily="34" charset="0"/>
              </a:rPr>
              <a:t> (hedging).</a:t>
            </a:r>
            <a:r>
              <a:rPr lang="en-US" sz="1200" dirty="0">
                <a:latin typeface="Arial" panose="020B0604020202020204" pitchFamily="34" charset="0"/>
                <a:cs typeface="Arial" panose="020B0604020202020204" pitchFamily="34" charset="0"/>
              </a:rPr>
              <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hlinkClick r:id="rId10"/>
              </a:rPr>
              <a:t>https://www.beritasatu.com/ekonomi/208561/pt-krakatau-steel-lindungi-nilai-tukar-lewat-transaksi-lindung-nilai-hedging</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err="1">
                <a:latin typeface="Arial" panose="020B0604020202020204" pitchFamily="34" charset="0"/>
                <a:cs typeface="Arial" panose="020B0604020202020204" pitchFamily="34" charset="0"/>
              </a:rPr>
              <a:t>Irawanti</a:t>
            </a:r>
            <a:r>
              <a:rPr lang="en-US" sz="1200" dirty="0">
                <a:latin typeface="Arial" panose="020B0604020202020204" pitchFamily="34" charset="0"/>
                <a:cs typeface="Arial" panose="020B0604020202020204" pitchFamily="34" charset="0"/>
              </a:rPr>
              <a:t>, G., </a:t>
            </a:r>
            <a:r>
              <a:rPr lang="en-US" sz="1200" dirty="0" err="1">
                <a:latin typeface="Arial" panose="020B0604020202020204" pitchFamily="34" charset="0"/>
                <a:cs typeface="Arial" panose="020B0604020202020204" pitchFamily="34" charset="0"/>
              </a:rPr>
              <a:t>Moeljadi</a:t>
            </a:r>
            <a:r>
              <a:rPr lang="en-US" sz="1200" dirty="0">
                <a:latin typeface="Arial" panose="020B0604020202020204" pitchFamily="34" charset="0"/>
                <a:cs typeface="Arial" panose="020B0604020202020204" pitchFamily="34" charset="0"/>
              </a:rPr>
              <a:t>, M., &amp; </a:t>
            </a:r>
            <a:r>
              <a:rPr lang="en-US" sz="1200" dirty="0" err="1">
                <a:latin typeface="Arial" panose="020B0604020202020204" pitchFamily="34" charset="0"/>
                <a:cs typeface="Arial" panose="020B0604020202020204" pitchFamily="34" charset="0"/>
              </a:rPr>
              <a:t>Indrawati</a:t>
            </a:r>
            <a:r>
              <a:rPr lang="en-US" sz="1200" dirty="0">
                <a:latin typeface="Arial" panose="020B0604020202020204" pitchFamily="34" charset="0"/>
                <a:cs typeface="Arial" panose="020B0604020202020204" pitchFamily="34" charset="0"/>
              </a:rPr>
              <a:t>, N. K. (2021).</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The determinants of hedging and firm value: An empirical study of mining companies listed on the Indonesia Stock Exchange</a:t>
            </a:r>
            <a:r>
              <a:rPr lang="en-US" sz="1200" dirty="0">
                <a:latin typeface="Arial" panose="020B0604020202020204" pitchFamily="34" charset="0"/>
                <a:cs typeface="Arial" panose="020B0604020202020204" pitchFamily="34" charset="0"/>
              </a:rPr>
              <a:t>. Management and Economics Journal (MEC‑J), 7(1), 23–38. </a:t>
            </a:r>
            <a:r>
              <a:rPr lang="en-US" sz="1200" dirty="0">
                <a:latin typeface="Arial" panose="020B0604020202020204" pitchFamily="34" charset="0"/>
                <a:cs typeface="Arial" panose="020B0604020202020204" pitchFamily="34" charset="0"/>
                <a:hlinkClick r:id="rId11"/>
              </a:rPr>
              <a:t>https://ejournal.uin-malang.ac.id/index.php/mec/article/view/5017</a:t>
            </a:r>
            <a:endParaRPr lang="en-US" sz="1200" dirty="0">
              <a:latin typeface="Arial" panose="020B0604020202020204" pitchFamily="34" charset="0"/>
              <a:cs typeface="Arial" panose="020B0604020202020204" pitchFamily="34" charset="0"/>
            </a:endParaRPr>
          </a:p>
          <a:p>
            <a:pPr marL="342900" indent="-342900" defTabSz="914423">
              <a:spcAft>
                <a:spcPts val="600"/>
              </a:spcAft>
              <a:buFont typeface="+mj-lt"/>
              <a:buAutoNum type="arabicPeriod"/>
              <a:defRPr/>
            </a:pPr>
            <a:r>
              <a:rPr lang="en-US" sz="1200" dirty="0" err="1">
                <a:latin typeface="Arial" panose="020B0604020202020204" pitchFamily="34" charset="0"/>
                <a:cs typeface="Arial" panose="020B0604020202020204" pitchFamily="34" charset="0"/>
              </a:rPr>
              <a:t>Nasriani</a:t>
            </a:r>
            <a:r>
              <a:rPr lang="en-US" sz="1200" dirty="0">
                <a:latin typeface="Arial" panose="020B0604020202020204" pitchFamily="34" charset="0"/>
                <a:cs typeface="Arial" panose="020B0604020202020204" pitchFamily="34" charset="0"/>
              </a:rPr>
              <a:t>, I. (2024).</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Foreign exchange volatility and corporate risk mitigation approaches: Evidence from Indonesian SMEs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Sinergi</a:t>
            </a:r>
            <a:r>
              <a:rPr lang="en-US" sz="1200" dirty="0">
                <a:latin typeface="Arial" panose="020B0604020202020204" pitchFamily="34" charset="0"/>
                <a:cs typeface="Arial" panose="020B0604020202020204" pitchFamily="34" charset="0"/>
              </a:rPr>
              <a:t>: International Journal of Accounting &amp; Taxation, 2(3), 50–61. </a:t>
            </a:r>
            <a:r>
              <a:rPr lang="en-US" sz="1200" dirty="0">
                <a:latin typeface="Arial" panose="020B0604020202020204" pitchFamily="34" charset="0"/>
                <a:cs typeface="Arial" panose="020B0604020202020204" pitchFamily="34" charset="0"/>
                <a:hlinkClick r:id="rId12"/>
              </a:rPr>
              <a:t>https://doi.org/10.61194/ijat.v2i3.638</a:t>
            </a:r>
            <a:endParaRPr lang="en-US" sz="1200" dirty="0">
              <a:latin typeface="Arial" panose="020B0604020202020204" pitchFamily="34" charset="0"/>
              <a:cs typeface="Arial" panose="020B0604020202020204" pitchFamily="34" charset="0"/>
            </a:endParaRPr>
          </a:p>
        </p:txBody>
      </p:sp>
      <p:sp>
        <p:nvSpPr>
          <p:cNvPr id="5" name="슬라이드 번호 개체 틀 2">
            <a:extLst>
              <a:ext uri="{FF2B5EF4-FFF2-40B4-BE49-F238E27FC236}">
                <a16:creationId xmlns:a16="http://schemas.microsoft.com/office/drawing/2014/main" id="{4F0C80B1-CBED-DDD0-66AF-E67E636036D0}"/>
              </a:ext>
            </a:extLst>
          </p:cNvPr>
          <p:cNvSpPr>
            <a:spLocks noGrp="1"/>
          </p:cNvSpPr>
          <p:nvPr>
            <p:ph type="sldNum" sz="quarter" idx="13"/>
          </p:nvPr>
        </p:nvSpPr>
        <p:spPr>
          <a:xfrm>
            <a:off x="4655227" y="6381328"/>
            <a:ext cx="574196"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10</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spTree>
    <p:extLst>
      <p:ext uri="{BB962C8B-B14F-4D97-AF65-F5344CB8AC3E}">
        <p14:creationId xmlns:p14="http://schemas.microsoft.com/office/powerpoint/2010/main" val="1281164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9"/>
          <p:cNvSpPr txBox="1">
            <a:spLocks/>
          </p:cNvSpPr>
          <p:nvPr/>
        </p:nvSpPr>
        <p:spPr>
          <a:xfrm>
            <a:off x="250348" y="116632"/>
            <a:ext cx="6430844"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US" altLang="ko-KR" b="0" dirty="0">
                <a:solidFill>
                  <a:srgbClr val="FF0066"/>
                </a:solidFill>
                <a:latin typeface="Arial" panose="020B0604020202020204" pitchFamily="34" charset="0"/>
                <a:ea typeface="HY견고딕" panose="02030600000101010101" pitchFamily="18" charset="-127"/>
                <a:cs typeface="Arial" panose="020B0604020202020204" pitchFamily="34" charset="0"/>
              </a:rPr>
              <a:t>8. Plan of Work</a:t>
            </a:r>
          </a:p>
        </p:txBody>
      </p:sp>
      <p:sp>
        <p:nvSpPr>
          <p:cNvPr id="21" name="슬라이드 번호 개체 틀 2"/>
          <p:cNvSpPr>
            <a:spLocks noGrp="1"/>
          </p:cNvSpPr>
          <p:nvPr>
            <p:ph type="sldNum" sz="quarter" idx="13"/>
          </p:nvPr>
        </p:nvSpPr>
        <p:spPr>
          <a:xfrm>
            <a:off x="4655227" y="6381328"/>
            <a:ext cx="574196" cy="261610"/>
          </a:xfrm>
        </p:spPr>
        <p:txBody>
          <a:bodyPr/>
          <a:lstStyle/>
          <a:p>
            <a:pPr>
              <a:defRPr/>
            </a:pPr>
            <a:fld id="{3CDF3C30-FF8E-4746-8EF6-407704BC6B7A}" type="slidenum">
              <a:rPr lang="en-US" altLang="ko-KR" sz="1100" smtClean="0">
                <a:solidFill>
                  <a:schemeClr val="tx1"/>
                </a:solidFill>
                <a:latin typeface="맑은 고딕" panose="020B0503020000020004" pitchFamily="50" charset="-127"/>
                <a:ea typeface="맑은 고딕" panose="020B0503020000020004" pitchFamily="50" charset="-127"/>
              </a:rPr>
              <a:pPr>
                <a:defRPr/>
              </a:pPr>
              <a:t>11</a:t>
            </a:fld>
            <a:r>
              <a:rPr lang="en-US" altLang="ko-KR" sz="1100" dirty="0">
                <a:solidFill>
                  <a:schemeClr val="tx1"/>
                </a:solidFill>
                <a:latin typeface="맑은 고딕" panose="020B0503020000020004" pitchFamily="50" charset="-127"/>
                <a:ea typeface="맑은 고딕" panose="020B0503020000020004" pitchFamily="50" charset="-127"/>
              </a:rPr>
              <a:t>/11</a:t>
            </a:r>
          </a:p>
        </p:txBody>
      </p:sp>
      <p:graphicFrame>
        <p:nvGraphicFramePr>
          <p:cNvPr id="2" name="표 2">
            <a:extLst>
              <a:ext uri="{FF2B5EF4-FFF2-40B4-BE49-F238E27FC236}">
                <a16:creationId xmlns:a16="http://schemas.microsoft.com/office/drawing/2014/main" id="{C5EFB52B-986D-4006-0C61-36C14E125CAF}"/>
              </a:ext>
            </a:extLst>
          </p:cNvPr>
          <p:cNvGraphicFramePr>
            <a:graphicFrameLocks noGrp="1"/>
          </p:cNvGraphicFramePr>
          <p:nvPr>
            <p:extLst>
              <p:ext uri="{D42A27DB-BD31-4B8C-83A1-F6EECF244321}">
                <p14:modId xmlns:p14="http://schemas.microsoft.com/office/powerpoint/2010/main" val="411751667"/>
              </p:ext>
            </p:extLst>
          </p:nvPr>
        </p:nvGraphicFramePr>
        <p:xfrm>
          <a:off x="344488" y="836712"/>
          <a:ext cx="9217024" cy="5059992"/>
        </p:xfrm>
        <a:graphic>
          <a:graphicData uri="http://schemas.openxmlformats.org/drawingml/2006/table">
            <a:tbl>
              <a:tblPr firstRow="1" bandRow="1">
                <a:tableStyleId>{F5AB1C69-6EDB-4FF4-983F-18BD219EF322}</a:tableStyleId>
              </a:tblPr>
              <a:tblGrid>
                <a:gridCol w="2520280">
                  <a:extLst>
                    <a:ext uri="{9D8B030D-6E8A-4147-A177-3AD203B41FA5}">
                      <a16:colId xmlns:a16="http://schemas.microsoft.com/office/drawing/2014/main" val="3941282420"/>
                    </a:ext>
                  </a:extLst>
                </a:gridCol>
                <a:gridCol w="6696744">
                  <a:extLst>
                    <a:ext uri="{9D8B030D-6E8A-4147-A177-3AD203B41FA5}">
                      <a16:colId xmlns:a16="http://schemas.microsoft.com/office/drawing/2014/main" val="1485109229"/>
                    </a:ext>
                  </a:extLst>
                </a:gridCol>
              </a:tblGrid>
              <a:tr h="292501">
                <a:tc>
                  <a:txBody>
                    <a:bodyPr/>
                    <a:lstStyle/>
                    <a:p>
                      <a:pPr marL="0" algn="ctr" defTabSz="914400" rtl="0" eaLnBrk="1" latinLnBrk="1" hangingPunct="1"/>
                      <a:r>
                        <a:rPr lang="en-US" altLang="ko-KR" sz="1400" b="1" i="0" kern="1200" dirty="0">
                          <a:solidFill>
                            <a:schemeClr val="tx1"/>
                          </a:solidFill>
                          <a:latin typeface="Arial" panose="020B0604020202020204" pitchFamily="34" charset="0"/>
                          <a:ea typeface="+mn-ea"/>
                          <a:cs typeface="Arial" panose="020B0604020202020204" pitchFamily="34" charset="0"/>
                        </a:rPr>
                        <a:t>Time Frame</a:t>
                      </a:r>
                      <a:endParaRPr lang="ko-KR" altLang="en-US" sz="1400" b="1" i="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indent="0" algn="ctr" defTabSz="914400" rtl="0" eaLnBrk="1" latinLnBrk="1" hangingPunct="1">
                        <a:buFont typeface="Arial" panose="020B0604020202020204" pitchFamily="34" charset="0"/>
                        <a:buNone/>
                      </a:pPr>
                      <a:r>
                        <a:rPr lang="en-US" altLang="ko-KR" sz="1400" b="1" i="0" kern="1200" dirty="0">
                          <a:solidFill>
                            <a:schemeClr val="tx1"/>
                          </a:solidFill>
                          <a:latin typeface="Arial" panose="020B0604020202020204" pitchFamily="34" charset="0"/>
                          <a:ea typeface="+mn-ea"/>
                          <a:cs typeface="Arial" panose="020B0604020202020204" pitchFamily="34" charset="0"/>
                        </a:rPr>
                        <a:t>Contents</a:t>
                      </a:r>
                      <a:endParaRPr lang="ko-KR" altLang="en-US" sz="1400" b="1" i="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45682857"/>
                  </a:ext>
                </a:extLst>
              </a:tr>
              <a:tr h="487288">
                <a:tc>
                  <a:txBody>
                    <a:bodyPr/>
                    <a:lstStyle/>
                    <a:p>
                      <a:pPr marL="0" algn="l" defTabSz="914400" rtl="0" eaLnBrk="1" latinLnBrk="1" hangingPunct="1"/>
                      <a:r>
                        <a:rPr lang="en-US" altLang="ko-KR" sz="1400" b="1" kern="1200" dirty="0">
                          <a:solidFill>
                            <a:srgbClr val="FF0000"/>
                          </a:solidFill>
                          <a:latin typeface="Arial" panose="020B0604020202020204" pitchFamily="34" charset="0"/>
                          <a:ea typeface="+mn-ea"/>
                          <a:cs typeface="Arial" panose="020B0604020202020204" pitchFamily="34" charset="0"/>
                        </a:rPr>
                        <a:t>July 28, 2025 (Mon)</a:t>
                      </a:r>
                      <a:endParaRPr lang="ko-KR" altLang="en-US" sz="1400" b="1" kern="1200" dirty="0">
                        <a:solidFill>
                          <a:srgbClr val="FF0000"/>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E8F1"/>
                    </a:solidFill>
                  </a:tcPr>
                </a:tc>
                <a:tc>
                  <a:txBody>
                    <a:bodyPr/>
                    <a:lstStyle/>
                    <a:p>
                      <a:pPr marL="0" indent="0" algn="l" defTabSz="914400" rtl="0" eaLnBrk="1" latinLnBrk="1" hangingPunct="1">
                        <a:buFont typeface="Arial" panose="020B0604020202020204" pitchFamily="34" charset="0"/>
                        <a:buNone/>
                      </a:pPr>
                      <a:r>
                        <a:rPr lang="en-US" altLang="ko-KR" sz="1400" b="0" kern="1200" dirty="0">
                          <a:solidFill>
                            <a:srgbClr val="FF0000"/>
                          </a:solidFill>
                          <a:latin typeface="Arial" panose="020B0604020202020204" pitchFamily="34" charset="0"/>
                          <a:ea typeface="+mn-ea"/>
                          <a:cs typeface="Arial" panose="020B0604020202020204" pitchFamily="34" charset="0"/>
                        </a:rPr>
                        <a:t>* </a:t>
                      </a:r>
                      <a:r>
                        <a:rPr lang="en-US" altLang="ko-KR" sz="1400" b="1" kern="1200" dirty="0">
                          <a:solidFill>
                            <a:srgbClr val="FF0000"/>
                          </a:solidFill>
                          <a:latin typeface="Arial" panose="020B0604020202020204" pitchFamily="34" charset="0"/>
                          <a:ea typeface="+mn-ea"/>
                          <a:cs typeface="Arial" panose="020B0604020202020204" pitchFamily="34" charset="0"/>
                        </a:rPr>
                        <a:t>Research Proposal Submission Deadline</a:t>
                      </a:r>
                      <a:endParaRPr lang="ko-KR" altLang="en-US" sz="1400" b="1" kern="1200" dirty="0">
                        <a:solidFill>
                          <a:srgbClr val="FF0000"/>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1449681"/>
                  </a:ext>
                </a:extLst>
              </a:tr>
              <a:tr h="906752">
                <a:tc>
                  <a:txBody>
                    <a:bodyPr/>
                    <a:lstStyle/>
                    <a:p>
                      <a:pPr marL="0" algn="l" defTabSz="914400" rtl="0" eaLnBrk="1" latinLnBrk="1" hangingPunct="1"/>
                      <a:r>
                        <a:rPr lang="en-US" altLang="ko-KR" sz="1400" b="0" kern="1200" dirty="0">
                          <a:solidFill>
                            <a:schemeClr val="tx1"/>
                          </a:solidFill>
                          <a:latin typeface="Arial" panose="020B0604020202020204" pitchFamily="34" charset="0"/>
                          <a:ea typeface="+mn-ea"/>
                          <a:cs typeface="Arial" panose="020B0604020202020204" pitchFamily="34" charset="0"/>
                        </a:rPr>
                        <a:t>Ex) ~ 31</a:t>
                      </a:r>
                      <a:r>
                        <a:rPr lang="en-US" altLang="ko-KR" sz="1400" b="0" kern="1200" baseline="30000" dirty="0">
                          <a:solidFill>
                            <a:schemeClr val="tx1"/>
                          </a:solidFill>
                          <a:latin typeface="Arial" panose="020B0604020202020204" pitchFamily="34" charset="0"/>
                          <a:ea typeface="+mn-ea"/>
                          <a:cs typeface="Arial" panose="020B0604020202020204" pitchFamily="34" charset="0"/>
                        </a:rPr>
                        <a:t>st</a:t>
                      </a:r>
                      <a:r>
                        <a:rPr lang="en-US" altLang="ko-KR" sz="1400" b="0" kern="1200" dirty="0">
                          <a:solidFill>
                            <a:schemeClr val="tx1"/>
                          </a:solidFill>
                          <a:latin typeface="Arial" panose="020B0604020202020204" pitchFamily="34" charset="0"/>
                          <a:ea typeface="+mn-ea"/>
                          <a:cs typeface="Arial" panose="020B0604020202020204" pitchFamily="34" charset="0"/>
                        </a:rPr>
                        <a:t> August 2025</a:t>
                      </a:r>
                      <a:endParaRPr lang="ko-KR" altLang="en-US" sz="1400" b="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E8F1"/>
                    </a:solidFill>
                  </a:tcPr>
                </a:tc>
                <a:tc>
                  <a:txBody>
                    <a:bodyPr/>
                    <a:lstStyle/>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Ex) Data collection</a:t>
                      </a:r>
                    </a:p>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Ex) Complete a draft of Introductory part (Research question and literature Review)</a:t>
                      </a:r>
                    </a:p>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8893697"/>
                  </a:ext>
                </a:extLst>
              </a:tr>
              <a:tr h="609874">
                <a:tc>
                  <a:txBody>
                    <a:bodyPr/>
                    <a:lstStyle/>
                    <a:p>
                      <a:pPr marL="0" algn="l" defTabSz="914400" rtl="0" eaLnBrk="1" latinLnBrk="1" hangingPunct="1"/>
                      <a:r>
                        <a:rPr lang="en-US" altLang="ko-KR" sz="1400" b="0" kern="1200" dirty="0">
                          <a:solidFill>
                            <a:schemeClr val="tx1"/>
                          </a:solidFill>
                          <a:latin typeface="Arial" panose="020B0604020202020204" pitchFamily="34" charset="0"/>
                          <a:ea typeface="+mn-ea"/>
                          <a:cs typeface="Arial" panose="020B0604020202020204" pitchFamily="34" charset="0"/>
                        </a:rPr>
                        <a:t>Ex) ~ 30</a:t>
                      </a:r>
                      <a:r>
                        <a:rPr lang="en-US" altLang="ko-KR" sz="1400" b="0" kern="1200" baseline="30000" dirty="0">
                          <a:solidFill>
                            <a:schemeClr val="tx1"/>
                          </a:solidFill>
                          <a:latin typeface="Arial" panose="020B0604020202020204" pitchFamily="34" charset="0"/>
                          <a:ea typeface="+mn-ea"/>
                          <a:cs typeface="Arial" panose="020B0604020202020204" pitchFamily="34" charset="0"/>
                        </a:rPr>
                        <a:t>th</a:t>
                      </a:r>
                      <a:r>
                        <a:rPr lang="en-US" altLang="ko-KR" sz="1400" b="0" kern="1200" dirty="0">
                          <a:solidFill>
                            <a:schemeClr val="tx1"/>
                          </a:solidFill>
                          <a:latin typeface="Arial" panose="020B0604020202020204" pitchFamily="34" charset="0"/>
                          <a:ea typeface="+mn-ea"/>
                          <a:cs typeface="Arial" panose="020B0604020202020204" pitchFamily="34" charset="0"/>
                        </a:rPr>
                        <a:t> September 2025</a:t>
                      </a:r>
                      <a:endParaRPr lang="ko-KR" altLang="en-US" sz="1400" b="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E8F1"/>
                    </a:solidFill>
                  </a:tcPr>
                </a:tc>
                <a:tc>
                  <a:txBody>
                    <a:bodyPr/>
                    <a:lstStyle/>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Ex) Complete a draft of Methods (Data and Analysis) </a:t>
                      </a:r>
                    </a:p>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97055"/>
                  </a:ext>
                </a:extLst>
              </a:tr>
              <a:tr h="609874">
                <a:tc>
                  <a:txBody>
                    <a:bodyPr/>
                    <a:lstStyle/>
                    <a:p>
                      <a:pPr marL="0" algn="l" defTabSz="914400" rtl="0" eaLnBrk="1" latinLnBrk="1" hangingPunct="1"/>
                      <a:r>
                        <a:rPr lang="en-US" altLang="ko-KR" sz="1400" b="0" kern="1200" dirty="0">
                          <a:solidFill>
                            <a:schemeClr val="tx1"/>
                          </a:solidFill>
                          <a:latin typeface="Arial" panose="020B0604020202020204" pitchFamily="34" charset="0"/>
                          <a:ea typeface="+mn-ea"/>
                          <a:cs typeface="Arial" panose="020B0604020202020204" pitchFamily="34" charset="0"/>
                        </a:rPr>
                        <a:t>Ex) ~ 31</a:t>
                      </a:r>
                      <a:r>
                        <a:rPr lang="en-US" altLang="ko-KR" sz="1400" b="0" kern="1200" baseline="30000" dirty="0">
                          <a:solidFill>
                            <a:schemeClr val="tx1"/>
                          </a:solidFill>
                          <a:latin typeface="Arial" panose="020B0604020202020204" pitchFamily="34" charset="0"/>
                          <a:ea typeface="+mn-ea"/>
                          <a:cs typeface="Arial" panose="020B0604020202020204" pitchFamily="34" charset="0"/>
                        </a:rPr>
                        <a:t>st</a:t>
                      </a:r>
                      <a:r>
                        <a:rPr lang="en-US" altLang="ko-KR" sz="1400" b="0" kern="1200" dirty="0">
                          <a:solidFill>
                            <a:schemeClr val="tx1"/>
                          </a:solidFill>
                          <a:latin typeface="Arial" panose="020B0604020202020204" pitchFamily="34" charset="0"/>
                          <a:ea typeface="+mn-ea"/>
                          <a:cs typeface="Arial" panose="020B0604020202020204" pitchFamily="34" charset="0"/>
                        </a:rPr>
                        <a:t> October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E8F1"/>
                    </a:solidFill>
                  </a:tcPr>
                </a:tc>
                <a:tc>
                  <a:txBody>
                    <a:bodyPr/>
                    <a:lstStyle/>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Ex) Complete a draft of Results part</a:t>
                      </a:r>
                    </a:p>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044727"/>
                  </a:ext>
                </a:extLst>
              </a:tr>
              <a:tr h="609874">
                <a:tc>
                  <a:txBody>
                    <a:bodyPr/>
                    <a:lstStyle/>
                    <a:p>
                      <a:pPr marL="0" algn="l" defTabSz="914400" rtl="0" eaLnBrk="1" latinLnBrk="1" hangingPunct="1"/>
                      <a:r>
                        <a:rPr lang="en-US" altLang="ko-KR" sz="1400" b="0" kern="1200" dirty="0">
                          <a:solidFill>
                            <a:schemeClr val="tx1"/>
                          </a:solidFill>
                          <a:latin typeface="Arial" panose="020B0604020202020204" pitchFamily="34" charset="0"/>
                          <a:ea typeface="+mn-ea"/>
                          <a:cs typeface="Arial" panose="020B0604020202020204" pitchFamily="34" charset="0"/>
                        </a:rPr>
                        <a:t>Ex) ~ 30</a:t>
                      </a:r>
                      <a:r>
                        <a:rPr lang="en-US" altLang="ko-KR" sz="1400" b="0" kern="1200" baseline="30000" dirty="0">
                          <a:solidFill>
                            <a:schemeClr val="tx1"/>
                          </a:solidFill>
                          <a:latin typeface="Arial" panose="020B0604020202020204" pitchFamily="34" charset="0"/>
                          <a:ea typeface="+mn-ea"/>
                          <a:cs typeface="Arial" panose="020B0604020202020204" pitchFamily="34" charset="0"/>
                        </a:rPr>
                        <a:t>th</a:t>
                      </a:r>
                      <a:r>
                        <a:rPr lang="en-US" altLang="ko-KR" sz="1400" b="0" kern="1200" dirty="0">
                          <a:solidFill>
                            <a:schemeClr val="tx1"/>
                          </a:solidFill>
                          <a:latin typeface="Arial" panose="020B0604020202020204" pitchFamily="34" charset="0"/>
                          <a:ea typeface="+mn-ea"/>
                          <a:cs typeface="Arial" panose="020B0604020202020204" pitchFamily="34" charset="0"/>
                        </a:rPr>
                        <a:t> November 2025</a:t>
                      </a:r>
                      <a:endParaRPr lang="ko-KR" altLang="en-US" sz="1400" b="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E8F1"/>
                    </a:solidFill>
                  </a:tcPr>
                </a:tc>
                <a:tc>
                  <a:txBody>
                    <a:bodyPr/>
                    <a:lstStyle/>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Ex) Complete a draft of Conclusion and Implications part</a:t>
                      </a:r>
                    </a:p>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4670222"/>
                  </a:ext>
                </a:extLst>
              </a:tr>
              <a:tr h="609874">
                <a:tc>
                  <a:txBody>
                    <a:bodyPr/>
                    <a:lstStyle/>
                    <a:p>
                      <a:pPr marL="0" algn="l" defTabSz="914400" rtl="0" eaLnBrk="1" latinLnBrk="1" hangingPunct="1"/>
                      <a:r>
                        <a:rPr lang="en-US" altLang="ko-KR" sz="1400" b="0" kern="1200" dirty="0">
                          <a:solidFill>
                            <a:schemeClr val="tx1"/>
                          </a:solidFill>
                          <a:latin typeface="Arial" panose="020B0604020202020204" pitchFamily="34" charset="0"/>
                          <a:ea typeface="+mn-ea"/>
                          <a:cs typeface="Arial" panose="020B0604020202020204" pitchFamily="34" charset="0"/>
                        </a:rPr>
                        <a:t>Ex) ~ 10</a:t>
                      </a:r>
                      <a:r>
                        <a:rPr lang="en-US" altLang="ko-KR" sz="1400" b="0" kern="1200" baseline="30000" dirty="0">
                          <a:solidFill>
                            <a:schemeClr val="tx1"/>
                          </a:solidFill>
                          <a:latin typeface="Arial" panose="020B0604020202020204" pitchFamily="34" charset="0"/>
                          <a:ea typeface="+mn-ea"/>
                          <a:cs typeface="Arial" panose="020B0604020202020204" pitchFamily="34" charset="0"/>
                        </a:rPr>
                        <a:t>th </a:t>
                      </a:r>
                      <a:r>
                        <a:rPr lang="en-US" altLang="ko-KR" sz="1400" b="0" kern="1200" dirty="0">
                          <a:solidFill>
                            <a:schemeClr val="tx1"/>
                          </a:solidFill>
                          <a:latin typeface="Arial" panose="020B0604020202020204" pitchFamily="34" charset="0"/>
                          <a:ea typeface="+mn-ea"/>
                          <a:cs typeface="Arial" panose="020B0604020202020204" pitchFamily="34" charset="0"/>
                        </a:rPr>
                        <a:t>December 2025</a:t>
                      </a:r>
                      <a:endParaRPr lang="ko-KR" altLang="en-US" sz="1400" b="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E8F1"/>
                    </a:solidFill>
                  </a:tcPr>
                </a:tc>
                <a:tc>
                  <a:txBody>
                    <a:bodyPr/>
                    <a:lstStyle/>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Ex) Preparation of Final Thesis Presentation</a:t>
                      </a:r>
                    </a:p>
                    <a:p>
                      <a:pPr marL="285750" indent="-285750" algn="l" defTabSz="914400" rtl="0" eaLnBrk="1" latinLnBrk="1" hangingPunct="1">
                        <a:buFont typeface="Arial" panose="020B0604020202020204" pitchFamily="34" charset="0"/>
                        <a:buChar char="•"/>
                      </a:pPr>
                      <a:r>
                        <a:rPr lang="en-US" altLang="ko-KR" sz="1400" b="0" kern="1200" dirty="0">
                          <a:solidFill>
                            <a:schemeClr val="tx1"/>
                          </a:solidFill>
                          <a:latin typeface="Arial" panose="020B0604020202020204" pitchFamily="34" charset="0"/>
                          <a:ea typeface="+mn-ea"/>
                          <a:cs typeface="Arial" panose="020B060402020202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540354"/>
                  </a:ext>
                </a:extLst>
              </a:tr>
              <a:tr h="883528">
                <a:tc>
                  <a:txBody>
                    <a:bodyPr/>
                    <a:lstStyle/>
                    <a:p>
                      <a:pPr marL="0" algn="l" defTabSz="914400" rtl="0" eaLnBrk="1" latinLnBrk="1" hangingPunct="1"/>
                      <a:r>
                        <a:rPr lang="en-US" altLang="ko-KR" sz="1400" b="1" kern="1200" dirty="0">
                          <a:solidFill>
                            <a:srgbClr val="FF0000"/>
                          </a:solidFill>
                          <a:latin typeface="Arial" panose="020B0604020202020204" pitchFamily="34" charset="0"/>
                          <a:ea typeface="+mn-ea"/>
                          <a:cs typeface="Arial" panose="020B0604020202020204" pitchFamily="34" charset="0"/>
                        </a:rPr>
                        <a:t>Mid</a:t>
                      </a:r>
                      <a:r>
                        <a:rPr lang="en-US" altLang="ko-KR" sz="1400" b="1" kern="1200" baseline="0" dirty="0">
                          <a:solidFill>
                            <a:srgbClr val="FF0000"/>
                          </a:solidFill>
                          <a:latin typeface="Arial" panose="020B0604020202020204" pitchFamily="34" charset="0"/>
                          <a:ea typeface="+mn-ea"/>
                          <a:cs typeface="Arial" panose="020B0604020202020204" pitchFamily="34" charset="0"/>
                        </a:rPr>
                        <a:t> to Late </a:t>
                      </a:r>
                      <a:r>
                        <a:rPr lang="en-US" altLang="ko-KR" sz="1400" b="1" kern="1200" dirty="0">
                          <a:solidFill>
                            <a:srgbClr val="FF0000"/>
                          </a:solidFill>
                          <a:latin typeface="Arial" panose="020B0604020202020204" pitchFamily="34" charset="0"/>
                          <a:ea typeface="+mn-ea"/>
                          <a:cs typeface="Arial" panose="020B0604020202020204" pitchFamily="34" charset="0"/>
                        </a:rPr>
                        <a:t>December 2025</a:t>
                      </a:r>
                    </a:p>
                    <a:p>
                      <a:pPr marL="0" algn="l" defTabSz="914400" rtl="0" eaLnBrk="1" latinLnBrk="1" hangingPunct="1"/>
                      <a:r>
                        <a:rPr lang="en-US" altLang="ko-KR" sz="1400" b="1" kern="1200" dirty="0">
                          <a:solidFill>
                            <a:srgbClr val="FF0000"/>
                          </a:solidFill>
                          <a:latin typeface="Arial" panose="020B0604020202020204" pitchFamily="34" charset="0"/>
                          <a:ea typeface="+mn-ea"/>
                          <a:cs typeface="Arial" panose="020B0604020202020204" pitchFamily="34" charset="0"/>
                        </a:rPr>
                        <a:t>(Date to be Confirmed)</a:t>
                      </a:r>
                      <a:endParaRPr lang="ko-KR" altLang="en-US" sz="1400" b="1" kern="1200" dirty="0">
                        <a:solidFill>
                          <a:srgbClr val="FF0000"/>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E8F1"/>
                    </a:solidFill>
                  </a:tcPr>
                </a:tc>
                <a:tc>
                  <a:txBody>
                    <a:bodyPr/>
                    <a:lstStyle/>
                    <a:p>
                      <a:pPr marL="0" algn="l" defTabSz="914400" rtl="0" eaLnBrk="1" latinLnBrk="1" hangingPunct="1"/>
                      <a:r>
                        <a:rPr lang="en-US" altLang="ko-KR" sz="1400" b="0" kern="1200" dirty="0">
                          <a:solidFill>
                            <a:srgbClr val="FF0000"/>
                          </a:solidFill>
                          <a:latin typeface="Arial" panose="020B0604020202020204" pitchFamily="34" charset="0"/>
                          <a:ea typeface="+mn-ea"/>
                          <a:cs typeface="Arial" panose="020B0604020202020204" pitchFamily="34" charset="0"/>
                        </a:rPr>
                        <a:t>* </a:t>
                      </a:r>
                      <a:r>
                        <a:rPr lang="en-US" altLang="ko-KR" sz="1400" b="1" kern="1200" dirty="0">
                          <a:solidFill>
                            <a:srgbClr val="FF0000"/>
                          </a:solidFill>
                          <a:latin typeface="Arial" panose="020B0604020202020204" pitchFamily="34" charset="0"/>
                          <a:ea typeface="+mn-ea"/>
                          <a:cs typeface="Arial" panose="020B0604020202020204" pitchFamily="34" charset="0"/>
                        </a:rPr>
                        <a:t>Evaluation</a:t>
                      </a:r>
                      <a:r>
                        <a:rPr lang="en-US" altLang="ko-KR" sz="1400" b="1" kern="1200" baseline="0" dirty="0">
                          <a:solidFill>
                            <a:srgbClr val="FF0000"/>
                          </a:solidFill>
                          <a:latin typeface="Arial" panose="020B0604020202020204" pitchFamily="34" charset="0"/>
                          <a:ea typeface="+mn-ea"/>
                          <a:cs typeface="Arial" panose="020B0604020202020204" pitchFamily="34" charset="0"/>
                        </a:rPr>
                        <a:t> </a:t>
                      </a:r>
                      <a:r>
                        <a:rPr lang="en-US" altLang="ko-KR" sz="1400" b="1" kern="1200" dirty="0">
                          <a:solidFill>
                            <a:srgbClr val="FF0000"/>
                          </a:solidFill>
                          <a:latin typeface="Arial" panose="020B0604020202020204" pitchFamily="34" charset="0"/>
                          <a:ea typeface="+mn-ea"/>
                          <a:cs typeface="Arial" panose="020B0604020202020204" pitchFamily="34" charset="0"/>
                        </a:rPr>
                        <a:t>of Analysis</a:t>
                      </a:r>
                      <a:r>
                        <a:rPr lang="en-US" altLang="ko-KR" sz="1400" b="1" kern="1200" baseline="0" dirty="0">
                          <a:solidFill>
                            <a:srgbClr val="FF0000"/>
                          </a:solidFill>
                          <a:latin typeface="Arial" panose="020B0604020202020204" pitchFamily="34" charset="0"/>
                          <a:ea typeface="+mn-ea"/>
                          <a:cs typeface="Arial" panose="020B0604020202020204" pitchFamily="34" charset="0"/>
                        </a:rPr>
                        <a:t> Report</a:t>
                      </a:r>
                      <a:endParaRPr lang="ko-KR" altLang="en-US" sz="1400" b="1" kern="1200" dirty="0">
                        <a:solidFill>
                          <a:srgbClr val="FF0000"/>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930483277"/>
                  </a:ext>
                </a:extLst>
              </a:tr>
            </a:tbl>
          </a:graphicData>
        </a:graphic>
      </p:graphicFrame>
    </p:spTree>
    <p:extLst>
      <p:ext uri="{BB962C8B-B14F-4D97-AF65-F5344CB8AC3E}">
        <p14:creationId xmlns:p14="http://schemas.microsoft.com/office/powerpoint/2010/main" val="313036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4A1FA9A-2432-D3EC-3480-993D117C5865}"/>
              </a:ext>
            </a:extLst>
          </p:cNvPr>
          <p:cNvSpPr>
            <a:spLocks noGrp="1"/>
          </p:cNvSpPr>
          <p:nvPr>
            <p:ph type="sldNum" sz="quarter" idx="13"/>
          </p:nvPr>
        </p:nvSpPr>
        <p:spPr/>
        <p:txBody>
          <a:bodyPr/>
          <a:lstStyle/>
          <a:p>
            <a:pPr>
              <a:defRPr/>
            </a:pPr>
            <a:fld id="{3CDF3C30-FF8E-4746-8EF6-407704BC6B7A}" type="slidenum">
              <a:rPr lang="en-US" altLang="ko-KR" smtClean="0"/>
              <a:pPr>
                <a:defRPr/>
              </a:pPr>
              <a:t>12</a:t>
            </a:fld>
            <a:endParaRPr lang="en-US" altLang="ko-KR"/>
          </a:p>
        </p:txBody>
      </p:sp>
      <p:sp>
        <p:nvSpPr>
          <p:cNvPr id="4" name="제목 9"/>
          <p:cNvSpPr txBox="1">
            <a:spLocks/>
          </p:cNvSpPr>
          <p:nvPr/>
        </p:nvSpPr>
        <p:spPr>
          <a:xfrm>
            <a:off x="250348" y="116632"/>
            <a:ext cx="6934900" cy="400110"/>
          </a:xfrm>
          <a:prstGeom prst="rect">
            <a:avLst/>
          </a:prstGeom>
        </p:spPr>
        <p:txBody>
          <a:bodyPr vert="horz" lIns="91440" tIns="45720" rIns="91440" bIns="45720" rtlCol="0" anchor="ctr">
            <a:noAutofit/>
          </a:bodyPr>
          <a:lstStyle>
            <a:lvl1pPr algn="l" defTabSz="914400" rtl="0" eaLnBrk="1" latinLnBrk="1" hangingPunct="1">
              <a:spcBef>
                <a:spcPct val="0"/>
              </a:spcBef>
              <a:buNone/>
              <a:defRPr sz="2400" b="1" kern="1200">
                <a:solidFill>
                  <a:schemeClr val="tx1"/>
                </a:solidFill>
                <a:latin typeface="+mn-ea"/>
                <a:ea typeface="+mn-ea"/>
                <a:cs typeface="+mj-cs"/>
              </a:defRPr>
            </a:lvl1pPr>
          </a:lstStyle>
          <a:p>
            <a:r>
              <a:rPr lang="en-GB" altLang="ko-KR" b="0" dirty="0">
                <a:solidFill>
                  <a:schemeClr val="tx1">
                    <a:lumMod val="75000"/>
                    <a:lumOff val="25000"/>
                  </a:schemeClr>
                </a:solidFill>
                <a:latin typeface="Arial" panose="020B0604020202020204" pitchFamily="34" charset="0"/>
                <a:ea typeface="HY견고딕" panose="02030600000101010101" pitchFamily="18" charset="-127"/>
                <a:cs typeface="Arial" panose="020B0604020202020204" pitchFamily="34" charset="0"/>
              </a:rPr>
              <a:t>Feedback from Professor Kwangmin Jung</a:t>
            </a:r>
            <a:endParaRPr lang="en-US" altLang="ko-KR" b="0" dirty="0">
              <a:solidFill>
                <a:schemeClr val="tx1">
                  <a:lumMod val="75000"/>
                  <a:lumOff val="25000"/>
                </a:schemeClr>
              </a:solidFill>
              <a:latin typeface="Arial" panose="020B0604020202020204" pitchFamily="34" charset="0"/>
              <a:ea typeface="HY견고딕" panose="02030600000101010101" pitchFamily="18" charset="-127"/>
              <a:cs typeface="Arial" panose="020B0604020202020204" pitchFamily="34" charset="0"/>
            </a:endParaRPr>
          </a:p>
        </p:txBody>
      </p:sp>
      <p:sp>
        <p:nvSpPr>
          <p:cNvPr id="7" name="TextBox 6">
            <a:extLst>
              <a:ext uri="{FF2B5EF4-FFF2-40B4-BE49-F238E27FC236}">
                <a16:creationId xmlns:a16="http://schemas.microsoft.com/office/drawing/2014/main" id="{6E80B0E8-BDF4-3EB8-A461-4D42E5A2BA6E}"/>
              </a:ext>
            </a:extLst>
          </p:cNvPr>
          <p:cNvSpPr txBox="1"/>
          <p:nvPr/>
        </p:nvSpPr>
        <p:spPr>
          <a:xfrm>
            <a:off x="488504" y="476672"/>
            <a:ext cx="8712968" cy="5410712"/>
          </a:xfrm>
          <a:prstGeom prst="rect">
            <a:avLst/>
          </a:prstGeom>
          <a:noFill/>
        </p:spPr>
        <p:txBody>
          <a:bodyPr wrap="square" rtlCol="0">
            <a:spAutoFit/>
          </a:bodyPr>
          <a:lstStyle/>
          <a:p>
            <a:pPr latinLnBrk="0">
              <a:lnSpc>
                <a:spcPct val="120000"/>
              </a:lnSpc>
            </a:pPr>
            <a:endParaRPr lang="en-US" sz="1600" dirty="0" smtClean="0">
              <a:latin typeface="Arial" panose="020B0604020202020204" pitchFamily="34" charset="0"/>
              <a:cs typeface="Arial" panose="020B0604020202020204" pitchFamily="34" charset="0"/>
            </a:endParaRPr>
          </a:p>
          <a:p>
            <a:pPr marL="285750" indent="-285750" latinLnBrk="0">
              <a:lnSpc>
                <a:spcPct val="120000"/>
              </a:lnSpc>
              <a:buFont typeface="Arial" panose="020B0604020202020204" pitchFamily="34" charset="0"/>
              <a:buChar char="•"/>
            </a:pPr>
            <a:r>
              <a:rPr lang="en-US" sz="1600" dirty="0">
                <a:latin typeface="Arial" panose="020B0604020202020204" pitchFamily="34" charset="0"/>
                <a:cs typeface="Arial" panose="020B0604020202020204" pitchFamily="34" charset="0"/>
              </a:rPr>
              <a:t>The proposal is well-structured.</a:t>
            </a:r>
          </a:p>
          <a:p>
            <a:pPr marL="285750" indent="-285750" latinLnBrk="0">
              <a:lnSpc>
                <a:spcPct val="120000"/>
              </a:lnSpc>
              <a:buFont typeface="Arial" panose="020B0604020202020204" pitchFamily="34" charset="0"/>
              <a:buChar char="•"/>
            </a:pPr>
            <a:r>
              <a:rPr lang="en-US" sz="1600" dirty="0" smtClean="0">
                <a:latin typeface="Arial" panose="020B0604020202020204" pitchFamily="34" charset="0"/>
                <a:cs typeface="Arial" panose="020B0604020202020204" pitchFamily="34" charset="0"/>
              </a:rPr>
              <a:t>Research </a:t>
            </a:r>
            <a:r>
              <a:rPr lang="en-US" sz="1600" dirty="0">
                <a:latin typeface="Arial" panose="020B0604020202020204" pitchFamily="34" charset="0"/>
                <a:cs typeface="Arial" panose="020B0604020202020204" pitchFamily="34" charset="0"/>
              </a:rPr>
              <a:t>questions are understandable and clear. The student also seems to understand how (method) and where (expected results) to go.</a:t>
            </a:r>
          </a:p>
          <a:p>
            <a:pPr marL="285750" indent="-285750" latinLnBrk="0">
              <a:lnSpc>
                <a:spcPct val="120000"/>
              </a:lnSpc>
              <a:buFont typeface="Arial" panose="020B0604020202020204" pitchFamily="34" charset="0"/>
              <a:buChar char="•"/>
            </a:pPr>
            <a:r>
              <a:rPr lang="en-US" sz="1600" dirty="0">
                <a:latin typeface="Arial" panose="020B0604020202020204" pitchFamily="34" charset="0"/>
                <a:cs typeface="Arial" panose="020B0604020202020204" pitchFamily="34" charset="0"/>
              </a:rPr>
              <a:t>Some concerns:</a:t>
            </a:r>
          </a:p>
          <a:p>
            <a:pPr marL="742950" lvl="1" indent="-285750" latinLnBrk="0">
              <a:lnSpc>
                <a:spcPct val="120000"/>
              </a:lnSpc>
              <a:buFont typeface="Arial" panose="020B0604020202020204" pitchFamily="34" charset="0"/>
              <a:buChar char="•"/>
            </a:pPr>
            <a:r>
              <a:rPr lang="en-US" sz="1600" dirty="0">
                <a:latin typeface="Arial" panose="020B0604020202020204" pitchFamily="34" charset="0"/>
                <a:cs typeface="Arial" panose="020B0604020202020204" pitchFamily="34" charset="0"/>
              </a:rPr>
              <a:t>When using the time series multiple regression (i.e., panel regression), you should clarify the mathematical formula to describe this model</a:t>
            </a:r>
            <a:r>
              <a:rPr lang="en-US" altLang="ko-KR" sz="1600" dirty="0">
                <a:latin typeface="Arial" panose="020B0604020202020204" pitchFamily="34" charset="0"/>
                <a:cs typeface="Arial" panose="020B0604020202020204" pitchFamily="34" charset="0"/>
              </a:rPr>
              <a:t>. </a:t>
            </a:r>
          </a:p>
          <a:p>
            <a:pPr marL="742950" lvl="1" indent="-285750" latinLnBrk="0">
              <a:lnSpc>
                <a:spcPct val="120000"/>
              </a:lnSpc>
              <a:buFont typeface="Arial" panose="020B0604020202020204" pitchFamily="34" charset="0"/>
              <a:buChar char="•"/>
            </a:pPr>
            <a:r>
              <a:rPr lang="en-US" sz="1600" dirty="0">
                <a:latin typeface="Arial" panose="020B0604020202020204" pitchFamily="34" charset="0"/>
                <a:cs typeface="Arial" panose="020B0604020202020204" pitchFamily="34" charset="0"/>
              </a:rPr>
              <a:t>There should be much more control variables considered to represent the firm’s features (e.g., financial statement variables, governance variables). To do so, you should check out literature doing similar approaches to figure out what control variables have been used.</a:t>
            </a:r>
          </a:p>
          <a:p>
            <a:pPr marL="742950" lvl="1" indent="-285750" latinLnBrk="0">
              <a:lnSpc>
                <a:spcPct val="120000"/>
              </a:lnSpc>
              <a:buFont typeface="Arial" panose="020B0604020202020204" pitchFamily="34" charset="0"/>
              <a:buChar char="•"/>
            </a:pPr>
            <a:r>
              <a:rPr lang="en-US" sz="1600" dirty="0">
                <a:latin typeface="Arial" panose="020B0604020202020204" pitchFamily="34" charset="0"/>
                <a:cs typeface="Arial" panose="020B0604020202020204" pitchFamily="34" charset="0"/>
              </a:rPr>
              <a:t>Quarterly data for only 10 years may not be sufficient to have robust statistical results. Monthly data or longer data period shall be recommended to use.</a:t>
            </a:r>
          </a:p>
          <a:p>
            <a:pPr marL="742950" lvl="1" indent="-285750" latinLnBrk="0">
              <a:lnSpc>
                <a:spcPct val="120000"/>
              </a:lnSpc>
              <a:buFont typeface="Arial" panose="020B0604020202020204" pitchFamily="34" charset="0"/>
              <a:buChar char="•"/>
            </a:pPr>
            <a:r>
              <a:rPr lang="en-US" sz="1600" dirty="0">
                <a:latin typeface="Arial" panose="020B0604020202020204" pitchFamily="34" charset="0"/>
                <a:cs typeface="Arial" panose="020B0604020202020204" pitchFamily="34" charset="0"/>
              </a:rPr>
              <a:t>When testing an interaction factor, you make sure that both variables should be included in the model as well.</a:t>
            </a:r>
          </a:p>
          <a:p>
            <a:pPr marL="285750" indent="-285750" latinLnBrk="0">
              <a:lnSpc>
                <a:spcPct val="120000"/>
              </a:lnSpc>
              <a:buFont typeface="Arial" panose="020B0604020202020204" pitchFamily="34" charset="0"/>
              <a:buChar char="•"/>
            </a:pPr>
            <a:r>
              <a:rPr lang="en-US" sz="1600" dirty="0">
                <a:latin typeface="Arial" panose="020B0604020202020204" pitchFamily="34" charset="0"/>
                <a:cs typeface="Arial" panose="020B0604020202020204" pitchFamily="34" charset="0"/>
              </a:rPr>
              <a:t>In summary, the final report needs to be structured in the following way: </a:t>
            </a:r>
          </a:p>
          <a:p>
            <a:pPr marL="742950" lvl="1" indent="-285750" latinLnBrk="0">
              <a:lnSpc>
                <a:spcPct val="120000"/>
              </a:lnSpc>
              <a:buFont typeface="Arial" panose="020B0604020202020204" pitchFamily="34" charset="0"/>
              <a:buChar char="•"/>
            </a:pPr>
            <a:r>
              <a:rPr lang="en-US" sz="1600" dirty="0">
                <a:latin typeface="Arial" panose="020B0604020202020204" pitchFamily="34" charset="0"/>
                <a:cs typeface="Arial" panose="020B0604020202020204" pitchFamily="34" charset="0"/>
              </a:rPr>
              <a:t>Introduction(research motivation and questions) – Previous studies – Hypotheses and methodology – Data – Analytical results – Implications (or Discussion) - Conclusion</a:t>
            </a:r>
          </a:p>
        </p:txBody>
      </p:sp>
    </p:spTree>
    <p:extLst>
      <p:ext uri="{BB962C8B-B14F-4D97-AF65-F5344CB8AC3E}">
        <p14:creationId xmlns:p14="http://schemas.microsoft.com/office/powerpoint/2010/main" val="397939070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jh style(HY헤드라인M, HY견고딕)">
      <a:majorFont>
        <a:latin typeface="HY헤드라인M"/>
        <a:ea typeface="HY헤드라인M"/>
        <a:cs typeface=""/>
      </a:majorFont>
      <a:minorFont>
        <a:latin typeface="HY견고딕"/>
        <a:ea typeface="HY견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088a73a-7047-497c-ba9b-c291b34f2c2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문서" ma:contentTypeID="0x010100FB1CF16161562A4CA8AD87195A30273D" ma:contentTypeVersion="16" ma:contentTypeDescription="새 문서를 만듭니다." ma:contentTypeScope="" ma:versionID="97aeee04c8bcb7b4d2c8919718e3c478">
  <xsd:schema xmlns:xsd="http://www.w3.org/2001/XMLSchema" xmlns:xs="http://www.w3.org/2001/XMLSchema" xmlns:p="http://schemas.microsoft.com/office/2006/metadata/properties" xmlns:ns3="f088a73a-7047-497c-ba9b-c291b34f2c2a" xmlns:ns4="959f4c4b-c9a5-4735-9fc9-7bcfd55f4b50" targetNamespace="http://schemas.microsoft.com/office/2006/metadata/properties" ma:root="true" ma:fieldsID="11094dc5ee63d29f8dd1119d83b76d32" ns3:_="" ns4:_="">
    <xsd:import namespace="f088a73a-7047-497c-ba9b-c291b34f2c2a"/>
    <xsd:import namespace="959f4c4b-c9a5-4735-9fc9-7bcfd55f4b50"/>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88a73a-7047-497c-ba9b-c291b34f2c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59f4c4b-c9a5-4735-9fc9-7bcfd55f4b50" elementFormDefault="qualified">
    <xsd:import namespace="http://schemas.microsoft.com/office/2006/documentManagement/types"/>
    <xsd:import namespace="http://schemas.microsoft.com/office/infopath/2007/PartnerControls"/>
    <xsd:element name="SharedWithUsers" ma:index="18"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세부 정보 공유" ma:internalName="SharedWithDetails" ma:readOnly="true">
      <xsd:simpleType>
        <xsd:restriction base="dms:Note">
          <xsd:maxLength value="255"/>
        </xsd:restriction>
      </xsd:simpleType>
    </xsd:element>
    <xsd:element name="SharingHintHash" ma:index="20" nillable="true" ma:displayName="힌트 해시 공유"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FB7B8C-1F20-4539-B8CB-EC7BB376D049}">
  <ds:schemaRefs>
    <ds:schemaRef ds:uri="http://purl.org/dc/dcmitype/"/>
    <ds:schemaRef ds:uri="http://purl.org/dc/terms/"/>
    <ds:schemaRef ds:uri="http://schemas.microsoft.com/office/2006/documentManagement/types"/>
    <ds:schemaRef ds:uri="http://schemas.microsoft.com/office/2006/metadata/properties"/>
    <ds:schemaRef ds:uri="http://www.w3.org/XML/1998/namespace"/>
    <ds:schemaRef ds:uri="http://purl.org/dc/elements/1.1/"/>
    <ds:schemaRef ds:uri="f088a73a-7047-497c-ba9b-c291b34f2c2a"/>
    <ds:schemaRef ds:uri="http://schemas.microsoft.com/office/infopath/2007/PartnerControls"/>
    <ds:schemaRef ds:uri="http://schemas.openxmlformats.org/package/2006/metadata/core-properties"/>
    <ds:schemaRef ds:uri="959f4c4b-c9a5-4735-9fc9-7bcfd55f4b50"/>
  </ds:schemaRefs>
</ds:datastoreItem>
</file>

<file path=customXml/itemProps2.xml><?xml version="1.0" encoding="utf-8"?>
<ds:datastoreItem xmlns:ds="http://schemas.openxmlformats.org/officeDocument/2006/customXml" ds:itemID="{6A818AF6-F0F2-4E0D-8771-9A41E64AEF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88a73a-7047-497c-ba9b-c291b34f2c2a"/>
    <ds:schemaRef ds:uri="959f4c4b-c9a5-4735-9fc9-7bcfd55f4b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26882CD-0F4B-4DE8-9C65-80C7C45471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24630</TotalTime>
  <Words>1950</Words>
  <Application>Microsoft Office PowerPoint</Application>
  <PresentationFormat>A4 용지(210x297mm)</PresentationFormat>
  <Paragraphs>193</Paragraphs>
  <Slides>12</Slides>
  <Notes>10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12</vt:i4>
      </vt:variant>
    </vt:vector>
  </HeadingPairs>
  <TitlesOfParts>
    <vt:vector size="21" baseType="lpstr">
      <vt:lpstr>HY견고딕</vt:lpstr>
      <vt:lpstr>HY헤드라인M</vt:lpstr>
      <vt:lpstr>굴림</vt:lpstr>
      <vt:lpstr>맑은 고딕</vt:lpstr>
      <vt:lpstr>Arial</vt:lpstr>
      <vt:lpstr>Courier New</vt:lpstr>
      <vt:lpstr>Verdana</vt:lpstr>
      <vt:lpstr>Wingdings</vt:lpstr>
      <vt:lpstr>1_기본 디자인</vt:lpstr>
      <vt:lpstr>PowerPoint 프레젠테이션</vt:lpstr>
      <vt:lpstr>What is Research Proposal ? </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2020학년도 교원업적평가 및 연봉책정(안)</dc:title>
  <dc:creator>김근우(교무팀)</dc:creator>
  <cp:lastModifiedBy>user</cp:lastModifiedBy>
  <cp:revision>2168</cp:revision>
  <cp:lastPrinted>2023-05-16T05:27:24Z</cp:lastPrinted>
  <dcterms:created xsi:type="dcterms:W3CDTF">2017-03-29T08:39:05Z</dcterms:created>
  <dcterms:modified xsi:type="dcterms:W3CDTF">2025-08-17T11:08:58Z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0x010100FB1CF16161562A4CA8AD87195A30273D</vt:lpwstr>
  </property>
  <property fmtid="{D5CDD505-2E9C-101B-9397-08002B2CF9AE}" pid="3" name="Fasoo_Trace_ID">
    <vt:lpwstr>eyAibm9kZUNvdW50IjogMTEsICJub2RlMSIgOiB7ImRzZCI6IjAxMDAwMDAwMDAwMDI0NjkiLCJsb2dUaW1lIjoiMjAyNS0wNy0yNVQwNzoyODo1NloiLCJwSUQiOjEsInRyYWNlSWQiOiI4QkZFNDE0RUJCMUY0MDE3QkNDOUY1QTg3RTE5QTg0QiIsInVzZXJDb2RlIjoia2FsYXBpZS5hc3RyYWdpbmEifSwibm9kZTIiIDogeyJkc2QiOiI</vt:lpwstr>
  </property>
</Properties>
</file>